
<file path=[Content_Types].xml><?xml version="1.0" encoding="utf-8"?>
<Types xmlns="http://schemas.openxmlformats.org/package/2006/content-types">
  <Default Extension="xml" ContentType="application/vnd.openxmlformats-package.core-properties+xml"/>
  <Default Extension="dat" ContentType="application/x-fontdata"/>
  <Default Extension="jpeg" ContentType="image/jpeg"/>
  <Default Extension="png" ContentType="image/png"/>
  <Default Extension="svg" ContentType="image/svg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e9dbb1ae02643a0" /><Relationship Type="http://schemas.openxmlformats.org/officeDocument/2006/relationships/extended-properties" Target="/docProps/app.xml" Id="R0a7860405996481b" /><Relationship Type="http://schemas.openxmlformats.org/officeDocument/2006/relationships/officeDocument" Target="/ppt/presentation.xml" Id="R1907bd6fb7ee40b5" /></Relationships>
</file>

<file path=ppt/presentation.xml><?xml version="1.0" encoding="utf-8"?>
<p:presentation xmlns:p="http://schemas.openxmlformats.org/presentationml/2006/main" embedTrueTypeFonts="1" saveSubsetFonts="0">
  <p:sldMasterIdLst>
    <p:sldMasterId xmlns:r="http://schemas.openxmlformats.org/officeDocument/2006/relationships" id="2147483648" r:id="R34ee89a856de49a6"/>
  </p:sldMasterIdLst>
  <p:notesMasterIdLst>
    <p:notesMasterId xmlns:r="http://schemas.openxmlformats.org/officeDocument/2006/relationships" r:id="R38de540335954cce"/>
  </p:notesMasterIdLst>
  <p:sldIdLst>
    <p:sldId xmlns:r="http://schemas.openxmlformats.org/officeDocument/2006/relationships" id="256" r:id="R2e9b20498ada4193"/>
    <p:sldId xmlns:r="http://schemas.openxmlformats.org/officeDocument/2006/relationships" id="257" r:id="R1fec198066f5488c"/>
    <p:sldId xmlns:r="http://schemas.openxmlformats.org/officeDocument/2006/relationships" id="258" r:id="R5948a0d13e62488a"/>
    <p:sldId xmlns:r="http://schemas.openxmlformats.org/officeDocument/2006/relationships" id="259" r:id="R143e8ba8689c45f1"/>
    <p:sldId xmlns:r="http://schemas.openxmlformats.org/officeDocument/2006/relationships" id="260" r:id="R76c6f973e2134acb"/>
    <p:sldId xmlns:r="http://schemas.openxmlformats.org/officeDocument/2006/relationships" id="261" r:id="R0409687d05bf4f83"/>
    <p:sldId xmlns:r="http://schemas.openxmlformats.org/officeDocument/2006/relationships" id="262" r:id="R14cb687dd89e45b4"/>
    <p:sldId xmlns:r="http://schemas.openxmlformats.org/officeDocument/2006/relationships" id="263" r:id="R1e94761d7f1b4af6"/>
    <p:sldId xmlns:r="http://schemas.openxmlformats.org/officeDocument/2006/relationships" id="264" r:id="Re9037bf225f34080"/>
    <p:sldId xmlns:r="http://schemas.openxmlformats.org/officeDocument/2006/relationships" id="265" r:id="R38c612fd0216493b"/>
    <p:sldId xmlns:r="http://schemas.openxmlformats.org/officeDocument/2006/relationships" id="266" r:id="R04d8315964cc4e98"/>
    <p:sldId xmlns:r="http://schemas.openxmlformats.org/officeDocument/2006/relationships" id="267" r:id="R9ea5e3b1a4e14d33"/>
    <p:sldId xmlns:r="http://schemas.openxmlformats.org/officeDocument/2006/relationships" id="268" r:id="Rb24d4cd67a264acc"/>
    <p:sldId xmlns:r="http://schemas.openxmlformats.org/officeDocument/2006/relationships" id="269" r:id="Rb9a609f1089b4e7b"/>
    <p:sldId xmlns:r="http://schemas.openxmlformats.org/officeDocument/2006/relationships" id="270" r:id="R53a74694f60746a2"/>
    <p:sldId xmlns:r="http://schemas.openxmlformats.org/officeDocument/2006/relationships" id="271" r:id="Rca9595276f8c43e1"/>
    <p:sldId xmlns:r="http://schemas.openxmlformats.org/officeDocument/2006/relationships" id="272" r:id="R276544a91548492c"/>
    <p:sldId xmlns:r="http://schemas.openxmlformats.org/officeDocument/2006/relationships" id="273" r:id="R5a0e3064700c4e94"/>
    <p:sldId xmlns:r="http://schemas.openxmlformats.org/officeDocument/2006/relationships" id="274" r:id="R2b606d936cfb4588"/>
    <p:sldId xmlns:r="http://schemas.openxmlformats.org/officeDocument/2006/relationships" id="275" r:id="R3ba320829cb54081"/>
    <p:sldId xmlns:r="http://schemas.openxmlformats.org/officeDocument/2006/relationships" id="276" r:id="Re4155ef029474a54"/>
    <p:sldId xmlns:r="http://schemas.openxmlformats.org/officeDocument/2006/relationships" id="277" r:id="Rdc0608a9ad294ae1"/>
    <p:sldId xmlns:r="http://schemas.openxmlformats.org/officeDocument/2006/relationships" id="278" r:id="R0308333b44f444f4"/>
    <p:sldId xmlns:r="http://schemas.openxmlformats.org/officeDocument/2006/relationships" id="279" r:id="Raeeae0fee03246b2"/>
    <p:sldId xmlns:r="http://schemas.openxmlformats.org/officeDocument/2006/relationships" id="280" r:id="Rfb9f40e86465497f"/>
    <p:sldId xmlns:r="http://schemas.openxmlformats.org/officeDocument/2006/relationships" id="281" r:id="R490a5e4734ba4fe6"/>
    <p:sldId xmlns:r="http://schemas.openxmlformats.org/officeDocument/2006/relationships" id="282" r:id="R3f0e27e998cd4efc"/>
  </p:sldIdLst>
  <p:sldSz cx="18288000" cy="10287000"/>
  <p:notesSz cx="6858000" cy="9144000"/>
  <p:embeddedFontLst>
    <p:embeddedFont>
      <p:font typeface="Georgia Pro Light"/>
      <p:regular xmlns:r="http://schemas.openxmlformats.org/officeDocument/2006/relationships" r:id="R5e92de96e96d4c14"/>
    </p:embeddedFont>
    <p:embeddedFont>
      <p:font typeface="DM Sans"/>
      <p:regular xmlns:r="http://schemas.openxmlformats.org/officeDocument/2006/relationships" r:id="R78fb170023f245e8"/>
    </p:embeddedFont>
    <p:embeddedFont>
      <p:font typeface="DM Sans Bold"/>
      <p:regular xmlns:r="http://schemas.openxmlformats.org/officeDocument/2006/relationships" r:id="Rb7b9c9801eff4b62"/>
    </p:embeddedFont>
  </p:embeddedFontLst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cb8c548c06a4c73" /><Relationship Type="http://schemas.openxmlformats.org/officeDocument/2006/relationships/slideMaster" Target="/ppt/slideMasters/slideMaster1.xml" Id="R34ee89a856de49a6" /><Relationship Type="http://schemas.openxmlformats.org/officeDocument/2006/relationships/notesMaster" Target="/ppt/notesMasters/notesMaster1.xml" Id="R38de540335954cce" /><Relationship Type="http://schemas.openxmlformats.org/officeDocument/2006/relationships/presProps" Target="/ppt/presProps.xml" Id="R29071c90a9ca4c33" /><Relationship Type="http://schemas.openxmlformats.org/officeDocument/2006/relationships/viewProps" Target="/ppt/viewProps.xml" Id="R48df8516e7184753" /><Relationship Type="http://schemas.openxmlformats.org/officeDocument/2006/relationships/tableStyles" Target="/ppt/tableStyles.xml" Id="R2618ff3ec5c943c2" /><Relationship Type="http://schemas.openxmlformats.org/officeDocument/2006/relationships/font" Target="/ppt/fonts/font.dat" Id="R5e92de96e96d4c14" /><Relationship Type="http://schemas.openxmlformats.org/officeDocument/2006/relationships/font" Target="/ppt/fonts/font2.dat" Id="R78fb170023f245e8" /><Relationship Type="http://schemas.openxmlformats.org/officeDocument/2006/relationships/font" Target="/ppt/fonts/font3.dat" Id="Rb7b9c9801eff4b62" /><Relationship Type="http://schemas.openxmlformats.org/officeDocument/2006/relationships/slide" Target="/ppt/slides/slide1.xml" Id="R2e9b20498ada4193" /><Relationship Type="http://schemas.openxmlformats.org/officeDocument/2006/relationships/slide" Target="/ppt/slides/slide2.xml" Id="R1fec198066f5488c" /><Relationship Type="http://schemas.openxmlformats.org/officeDocument/2006/relationships/slide" Target="/ppt/slides/slide3.xml" Id="R5948a0d13e62488a" /><Relationship Type="http://schemas.openxmlformats.org/officeDocument/2006/relationships/slide" Target="/ppt/slides/slide4.xml" Id="R143e8ba8689c45f1" /><Relationship Type="http://schemas.openxmlformats.org/officeDocument/2006/relationships/slide" Target="/ppt/slides/slide5.xml" Id="R76c6f973e2134acb" /><Relationship Type="http://schemas.openxmlformats.org/officeDocument/2006/relationships/slide" Target="/ppt/slides/slide6.xml" Id="R0409687d05bf4f83" /><Relationship Type="http://schemas.openxmlformats.org/officeDocument/2006/relationships/slide" Target="/ppt/slides/slide7.xml" Id="R14cb687dd89e45b4" /><Relationship Type="http://schemas.openxmlformats.org/officeDocument/2006/relationships/slide" Target="/ppt/slides/slide8.xml" Id="R1e94761d7f1b4af6" /><Relationship Type="http://schemas.openxmlformats.org/officeDocument/2006/relationships/slide" Target="/ppt/slides/slide9.xml" Id="Re9037bf225f34080" /><Relationship Type="http://schemas.openxmlformats.org/officeDocument/2006/relationships/slide" Target="/ppt/slides/slide10.xml" Id="R38c612fd0216493b" /><Relationship Type="http://schemas.openxmlformats.org/officeDocument/2006/relationships/slide" Target="/ppt/slides/slide11.xml" Id="R04d8315964cc4e98" /><Relationship Type="http://schemas.openxmlformats.org/officeDocument/2006/relationships/slide" Target="/ppt/slides/slide12.xml" Id="R9ea5e3b1a4e14d33" /><Relationship Type="http://schemas.openxmlformats.org/officeDocument/2006/relationships/slide" Target="/ppt/slides/slide13.xml" Id="Rb24d4cd67a264acc" /><Relationship Type="http://schemas.openxmlformats.org/officeDocument/2006/relationships/slide" Target="/ppt/slides/slide14.xml" Id="Rb9a609f1089b4e7b" /><Relationship Type="http://schemas.openxmlformats.org/officeDocument/2006/relationships/slide" Target="/ppt/slides/slide15.xml" Id="R53a74694f60746a2" /><Relationship Type="http://schemas.openxmlformats.org/officeDocument/2006/relationships/slide" Target="/ppt/slides/slide16.xml" Id="Rca9595276f8c43e1" /><Relationship Type="http://schemas.openxmlformats.org/officeDocument/2006/relationships/slide" Target="/ppt/slides/slide17.xml" Id="R276544a91548492c" /><Relationship Type="http://schemas.openxmlformats.org/officeDocument/2006/relationships/slide" Target="/ppt/slides/slide18.xml" Id="R5a0e3064700c4e94" /><Relationship Type="http://schemas.openxmlformats.org/officeDocument/2006/relationships/slide" Target="/ppt/slides/slide19.xml" Id="R2b606d936cfb4588" /><Relationship Type="http://schemas.openxmlformats.org/officeDocument/2006/relationships/slide" Target="/ppt/slides/slide20.xml" Id="R3ba320829cb54081" /><Relationship Type="http://schemas.openxmlformats.org/officeDocument/2006/relationships/slide" Target="/ppt/slides/slide21.xml" Id="Re4155ef029474a54" /><Relationship Type="http://schemas.openxmlformats.org/officeDocument/2006/relationships/slide" Target="/ppt/slides/slide22.xml" Id="Rdc0608a9ad294ae1" /><Relationship Type="http://schemas.openxmlformats.org/officeDocument/2006/relationships/slide" Target="/ppt/slides/slide23.xml" Id="R0308333b44f444f4" /><Relationship Type="http://schemas.openxmlformats.org/officeDocument/2006/relationships/slide" Target="/ppt/slides/slide24.xml" Id="Raeeae0fee03246b2" /><Relationship Type="http://schemas.openxmlformats.org/officeDocument/2006/relationships/slide" Target="/ppt/slides/slide25.xml" Id="Rfb9f40e86465497f" /><Relationship Type="http://schemas.openxmlformats.org/officeDocument/2006/relationships/slide" Target="/ppt/slides/slide26.xml" Id="R490a5e4734ba4fe6" /><Relationship Type="http://schemas.openxmlformats.org/officeDocument/2006/relationships/slide" Target="/ppt/slides/slide27.xml" Id="R3f0e27e998cd4ef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571e9f122fb48f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a6cedce035c4cd2" /><Relationship Type="http://schemas.openxmlformats.org/officeDocument/2006/relationships/notesMaster" Target="/ppt/notesMasters/notesMaster1.xml" Id="R1ebeae09c4ee4e3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edc2c3d12e44b10" /><Relationship Type="http://schemas.openxmlformats.org/officeDocument/2006/relationships/notesMaster" Target="/ppt/notesMasters/notesMaster1.xml" Id="R88ab1f7d2ca541f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3e0f1b92e8b43a9" /><Relationship Type="http://schemas.openxmlformats.org/officeDocument/2006/relationships/notesMaster" Target="/ppt/notesMasters/notesMaster1.xml" Id="R5f044c4cefd9495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5e384608b834bfd" /><Relationship Type="http://schemas.openxmlformats.org/officeDocument/2006/relationships/notesMaster" Target="/ppt/notesMasters/notesMaster1.xml" Id="R3271f9088580421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7d0444350c1421f" /><Relationship Type="http://schemas.openxmlformats.org/officeDocument/2006/relationships/notesMaster" Target="/ppt/notesMasters/notesMaster1.xml" Id="R2bede6e844d9403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03bc867788e4470" /><Relationship Type="http://schemas.openxmlformats.org/officeDocument/2006/relationships/notesMaster" Target="/ppt/notesMasters/notesMaster1.xml" Id="R2b191dbb8ee54a63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ee002dd9d944857" /><Relationship Type="http://schemas.openxmlformats.org/officeDocument/2006/relationships/notesMaster" Target="/ppt/notesMasters/notesMaster1.xml" Id="R10ffc9f79d5d408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f56842d9a114340" /><Relationship Type="http://schemas.openxmlformats.org/officeDocument/2006/relationships/notesMaster" Target="/ppt/notesMasters/notesMaster1.xml" Id="Rca790f203aa84c4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d4edaf301aa412c" /><Relationship Type="http://schemas.openxmlformats.org/officeDocument/2006/relationships/notesMaster" Target="/ppt/notesMasters/notesMaster1.xml" Id="Ra64c6242e09e4b4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752fe2a2f314558" /><Relationship Type="http://schemas.openxmlformats.org/officeDocument/2006/relationships/notesMaster" Target="/ppt/notesMasters/notesMaster1.xml" Id="Rb2ccecfb181d47d1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ec9159580914fde" /><Relationship Type="http://schemas.openxmlformats.org/officeDocument/2006/relationships/notesMaster" Target="/ppt/notesMasters/notesMaster1.xml" Id="R16ba31e3ac784b3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515cc2513c04823" /><Relationship Type="http://schemas.openxmlformats.org/officeDocument/2006/relationships/notesMaster" Target="/ppt/notesMasters/notesMaster1.xml" Id="R30ff0310803249c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51664788ce044f3" /><Relationship Type="http://schemas.openxmlformats.org/officeDocument/2006/relationships/notesMaster" Target="/ppt/notesMasters/notesMaster1.xml" Id="Rb17300cf7b07447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e95b6794c384549" /><Relationship Type="http://schemas.openxmlformats.org/officeDocument/2006/relationships/notesMaster" Target="/ppt/notesMasters/notesMaster1.xml" Id="Rb8d2412a2d364bf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ec379116d624856" /><Relationship Type="http://schemas.openxmlformats.org/officeDocument/2006/relationships/notesMaster" Target="/ppt/notesMasters/notesMaster1.xml" Id="R999357c734364c2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27f7b04fe4741ea" /><Relationship Type="http://schemas.openxmlformats.org/officeDocument/2006/relationships/notesMaster" Target="/ppt/notesMasters/notesMaster1.xml" Id="R7c521a06a77846e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b7ff0751bfa4c49" /><Relationship Type="http://schemas.openxmlformats.org/officeDocument/2006/relationships/notesMaster" Target="/ppt/notesMasters/notesMaster1.xml" Id="R6e2d1351ced4471f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66d25c47aea94635" /><Relationship Type="http://schemas.openxmlformats.org/officeDocument/2006/relationships/notesMaster" Target="/ppt/notesMasters/notesMaster1.xml" Id="R24abb91eccc54f8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637d01e144fd4d1d" /><Relationship Type="http://schemas.openxmlformats.org/officeDocument/2006/relationships/notesMaster" Target="/ppt/notesMasters/notesMaster1.xml" Id="R5dbb17ca55ee4626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2a65e287f5924482" /><Relationship Type="http://schemas.openxmlformats.org/officeDocument/2006/relationships/notesMaster" Target="/ppt/notesMasters/notesMaster1.xml" Id="R84ed2287fda74538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78696da54474460a" /><Relationship Type="http://schemas.openxmlformats.org/officeDocument/2006/relationships/notesMaster" Target="/ppt/notesMasters/notesMaster1.xml" Id="Rc44b02dc0cba4f25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bef19ae5c99641be" /><Relationship Type="http://schemas.openxmlformats.org/officeDocument/2006/relationships/notesMaster" Target="/ppt/notesMasters/notesMaster1.xml" Id="Re0f51015175c4e1b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70117fe7d484499d" /><Relationship Type="http://schemas.openxmlformats.org/officeDocument/2006/relationships/notesMaster" Target="/ppt/notesMasters/notesMaster1.xml" Id="Rfcf334f24a9f4bed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d4a96e4872cc4284" /><Relationship Type="http://schemas.openxmlformats.org/officeDocument/2006/relationships/notesMaster" Target="/ppt/notesMasters/notesMaster1.xml" Id="R00f050b856f846e4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b2b7839d57924fe4" /><Relationship Type="http://schemas.openxmlformats.org/officeDocument/2006/relationships/notesMaster" Target="/ppt/notesMasters/notesMaster1.xml" Id="R25dca2aa482a4abe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c1b2719ec72246cf" /><Relationship Type="http://schemas.openxmlformats.org/officeDocument/2006/relationships/notesMaster" Target="/ppt/notesMasters/notesMaster1.xml" Id="Rb3070cbdc4fc455d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1c7c405deb2e4daf" /><Relationship Type="http://schemas.openxmlformats.org/officeDocument/2006/relationships/notesMaster" Target="/ppt/notesMasters/notesMaster1.xml" Id="R9dd01c6c9705421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Enunciado.pdf, pp. 42–44. La estructura detallada de AV2 termina en 8.3.2; se aplica ese límite ante la discrepancia con los objetivos generales.</a:t>
            </a:r>
          </a:p>
          <a:p xmlns:a="http://schemas.openxmlformats.org/drawingml/2006/main">
            <a:r>
              <a:t>Alcance AV2: el contenido experimental termina en 8.3.2. No se muestran resultados de experimentos ni validaciones no realizadas.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README.md, capítulos VI–VIII; Enunciado.pdf, tercer hito, pp. 42–43. Registro técnico: assets/evidence/implemented/av2-review-2026-10-21.json. Los resultados históricos conservan su fecha; no se atribuye una nueva ejecución completa.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Fuente: README.md, capítulos VI–VIII; Enunciado.pdf, tercer hito, pp. 42–43. Registro técnico: assets/evidence/implemented/av2-review-2026-10-21.json. Los resultados históricos conservan su fecha; no se atribuye una nueva ejecución completa.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assets/evidence/implemented/av2-review-2026-10-21.json; README.md, 6.2 y 6.4.</a:t>
            </a:r>
          </a:p>
          <a:p xmlns:a="http://schemas.openxmlformats.org/drawingml/2006/main">
            <a:r>
              <a:t>Alcance AV2: el contenido experimental termina en 8.3.2. No se muestran resultados de experimentos ni validaciones no realizadas.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assets/evidence/implemented/av2-monitoring-2026-10-21.json; scripts/monitor-public-surfaces.py; .github/workflows/monitoring.yml. Ejecución remota: https://github.com/teralume/energycore-report/actions/runs/39565142305</a:t>
            </a:r>
          </a:p>
          <a:p xmlns:a="http://schemas.openxmlformats.org/drawingml/2006/main">
            <a:r>
              <a:t>Alcance AV2: el contenido experimental termina en 8.3.2. No se muestran resultados de experimentos ni validaciones no realizadas.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README.md, 8.1 y 8.2. Las hipótesis y la comparación son propuestas, no resultados.</a:t>
            </a:r>
          </a:p>
          <a:p xmlns:a="http://schemas.openxmlformats.org/drawingml/2006/main">
            <a:r>
              <a:t>Alcance AV2: el contenido experimental termina en 8.3.2. No se muestran resultados de experimentos ni validaciones no realizadas.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README.md, 8.2. No se afirma reclutamiento, ejecución del piloto o resultado estadístico.</a:t>
            </a:r>
          </a:p>
          <a:p xmlns:a="http://schemas.openxmlformats.org/drawingml/2006/main">
            <a:r>
              <a:t>Alcance AV2: el contenido experimental termina en 8.3.2. No se muestran resultados de experimentos ni validaciones no realizadas.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README.md, 8.3.1 y 8.3.2; https://trello.com/b/kFru7uh2/energycore-product-backlog-y-sprint-planning</a:t>
            </a:r>
          </a:p>
          <a:p xmlns:a="http://schemas.openxmlformats.org/drawingml/2006/main">
            <a:r>
              <a:t>Alcance AV2: el contenido experimental termina en 8.3.2. No se muestran resultados de experimentos ni validaciones no realizadas.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de66038fd249e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38685b958fa486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4936a5a3404f66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02f76bb208d4e6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9950eb3ffe14416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059f4b121214122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9b6dc4f654411e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45ba7440c1642ff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648f91f6a014ece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316c16d15c453a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7416d2b131e4bfb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84B67E0-3816-48E5-AD98-B338F642A621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25E58B6B-97C3-44CF-962A-EA1F06E862F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47FB713-3F48-4620-9127-7FA46D3DBBE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7DDB796-8003-4611-ABD2-CB90CD6C3AF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B90055D-8D9B-403D-8A26-BC4162F3DA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8F03AE8-C1F5-49CB-8D38-127120D7446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2C66EC7-A8E1-4A77-A4C2-E4244185694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52FC3A7-7F7E-442D-AAE7-7E973964F5C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E65A222-6D34-422B-A274-F2F6F55CF64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1F5C07A-EEA1-413A-9DFA-2EF034BCA9B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71412BF-46EA-4422-B62D-6F7EFD3F214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0AC07FA-7CE5-4CCD-97EF-F7A76A8AC189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EDD6CA2-2DCA-439C-84C7-07C5D114CD4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4AB4124-1FFA-4B9D-85FE-87B21F986C3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9788C70-587F-4054-B711-E86ECD907C3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3C955D99-8ADA-493F-BEF7-4B347B77898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F297838-4BC6-41C9-80AA-1A7D200CC6A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93C63636-018D-4169-ABE1-F06ECEC5E37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D6D16C6E-D52A-422A-ABE8-3ABA9B3EA7C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6AF09F7-43C6-49BE-B94A-72C4350B982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87238449-A4B9-4537-9E72-107BFEE41C27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6522396-6F5D-4854-8FB3-0CC9B4BF407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2A656515-F971-49A9-8A1E-8CB15D8D3DF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8240DA82-5356-4DC3-928A-C1EB1AA254D8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062F58E4-A574-40A8-96B6-53273163A553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B4B3D903-ED3D-496A-950D-7ADFED43ABD7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59C6C531-DDD3-4C2B-96B7-2545896092A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BCC3084-B7C7-4051-BD2E-BD5FBB4AB91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007B738A-1896-4A55-9B11-1F4D3492EC5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5FA4D6F-8B51-48F5-B40E-02D832B5CFF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AEB986EE-4B42-43CC-9120-26E95F319CC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39D49497-B7D5-41D3-A4B9-4AC5EB5C9CD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ACAD7CC2-8658-4DF1-A778-0470A9A0CBE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FB93B7C2-9635-493B-9F0F-689C3C8757E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A000E08D-FDBB-4A97-87B3-CF6BFB5AB97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B935D35D-9A16-4297-B39E-5C2CAFE721B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5BB3A58-7D08-4270-ADA4-A67D44C461B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51D0DCD4-ADC9-4A91-AA79-D8D7BD87A46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BB7D6E5-B42B-4B4A-B791-5FB63587BE2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78A83B8-F3DE-4DAF-B270-6C5C9E22ED9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C2F2B6A-7B63-455A-98D2-82960EA9B90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AD41748-F503-48EA-B0BF-9A787F51ECA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54A05A2-DC8A-4A9B-B55C-C3E7701C896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7E510655-9E29-4D5E-BEE1-0ECCB58949C1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95E4D50-1AB4-4117-97AA-609A43787B7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67856777-6DC9-4AF9-B44F-29535F1DFF5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50F74B8A-11B1-4B76-956B-703060A1868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58BC74C-CD6C-4953-A018-D8938EC15C3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1CCDFF2-7AC6-4B6D-B14B-DDD9846DC2A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78B85D8-8081-4386-8D5A-429139AE984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EE79B1F-991C-4C51-B703-0C9CDB37BFB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F423CA7-FF6B-4B17-9633-3EDB6BEB699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A3E9928-B6CC-47E3-BDCE-E83B83C320D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3C89FA16-B88D-49E8-BD61-333288D1074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40D71ACF-1CB3-4264-9DC2-EBFD472B97B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59FB3315-8E0D-44B2-B17C-390D16ABB59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D7C6C9D-D124-48AF-A2CD-B20BCEF40DE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7DDE8BB-CAD5-42A7-AB3B-2C7F1C6E3A4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8591ec840104890" /><Relationship Type="http://schemas.openxmlformats.org/officeDocument/2006/relationships/slideLayout" Target="/ppt/slideLayouts/slideLayout1.xml" Id="R9e2bc93529fd42ea" /><Relationship Type="http://schemas.openxmlformats.org/officeDocument/2006/relationships/slideLayout" Target="/ppt/slideLayouts/slideLayout2.xml" Id="R38fdff09ed6a49ea" /><Relationship Type="http://schemas.openxmlformats.org/officeDocument/2006/relationships/slideLayout" Target="/ppt/slideLayouts/slideLayout3.xml" Id="R0014dc7362d84d6f" /><Relationship Type="http://schemas.openxmlformats.org/officeDocument/2006/relationships/slideLayout" Target="/ppt/slideLayouts/slideLayout4.xml" Id="R791151db424d4c6e" /><Relationship Type="http://schemas.openxmlformats.org/officeDocument/2006/relationships/slideLayout" Target="/ppt/slideLayouts/slideLayout5.xml" Id="R975c2e9fa9154418" /><Relationship Type="http://schemas.openxmlformats.org/officeDocument/2006/relationships/slideLayout" Target="/ppt/slideLayouts/slideLayout6.xml" Id="Re2d83f6162f54fde" /><Relationship Type="http://schemas.openxmlformats.org/officeDocument/2006/relationships/slideLayout" Target="/ppt/slideLayouts/slideLayout7.xml" Id="R5a9d66ccce224321" /><Relationship Type="http://schemas.openxmlformats.org/officeDocument/2006/relationships/slideLayout" Target="/ppt/slideLayouts/slideLayout8.xml" Id="R1a755fa3634c4430" /><Relationship Type="http://schemas.openxmlformats.org/officeDocument/2006/relationships/slideLayout" Target="/ppt/slideLayouts/slideLayout9.xml" Id="R7e3f821480d547ca" /><Relationship Type="http://schemas.openxmlformats.org/officeDocument/2006/relationships/slideLayout" Target="/ppt/slideLayouts/slideLayout10.xml" Id="R1e28024b10134fe2" /><Relationship Type="http://schemas.openxmlformats.org/officeDocument/2006/relationships/slideLayout" Target="/ppt/slideLayouts/slideLayout11.xml" Id="R934858cd42824013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F6DFE57B-63B4-4D7C-994B-995A3248FE0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  <a:endParaRPr/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731B26A-9EF1-42B3-BB99-512A8CC0D44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  <a:endParaRPr/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DF2E01E-4188-43D0-A1CC-0AA6720BFCCD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1D8BD707-D9CF-40AE-B4C6-C98DA3205C09}" type="datetimeFigureOut">
              <a:t>8/1/2011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62EE00B-14CC-4BBC-8558-5D14BC156799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3BC6687-3DE2-4D34-80BA-74C5BDA90565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e2bc93529fd42ea"/>
    <p:sldLayoutId xmlns:r="http://schemas.openxmlformats.org/officeDocument/2006/relationships" id="2147483650" r:id="R38fdff09ed6a49ea"/>
    <p:sldLayoutId xmlns:r="http://schemas.openxmlformats.org/officeDocument/2006/relationships" id="2147483651" r:id="R0014dc7362d84d6f"/>
    <p:sldLayoutId xmlns:r="http://schemas.openxmlformats.org/officeDocument/2006/relationships" id="2147483652" r:id="R791151db424d4c6e"/>
    <p:sldLayoutId xmlns:r="http://schemas.openxmlformats.org/officeDocument/2006/relationships" id="2147483653" r:id="R975c2e9fa9154418"/>
    <p:sldLayoutId xmlns:r="http://schemas.openxmlformats.org/officeDocument/2006/relationships" id="2147483654" r:id="Re2d83f6162f54fde"/>
    <p:sldLayoutId xmlns:r="http://schemas.openxmlformats.org/officeDocument/2006/relationships" id="2147483655" r:id="R5a9d66ccce224321"/>
    <p:sldLayoutId xmlns:r="http://schemas.openxmlformats.org/officeDocument/2006/relationships" id="2147483656" r:id="R1a755fa3634c4430"/>
    <p:sldLayoutId xmlns:r="http://schemas.openxmlformats.org/officeDocument/2006/relationships" id="2147483657" r:id="R7e3f821480d547ca"/>
    <p:sldLayoutId xmlns:r="http://schemas.openxmlformats.org/officeDocument/2006/relationships" id="2147483658" r:id="R1e28024b10134fe2"/>
    <p:sldLayoutId xmlns:r="http://schemas.openxmlformats.org/officeDocument/2006/relationships" id="2147483659" r:id="R934858cd42824013"/>
  </p:sldLayoutIdLst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0b70bd390014317" /><Relationship Type="http://schemas.openxmlformats.org/officeDocument/2006/relationships/image" Target="/ppt/media/image.jpeg" Id="R7aae78a487fd4870" /><Relationship Type="http://schemas.openxmlformats.org/officeDocument/2006/relationships/notesSlide" Target="/ppt/notesSlides/notesSlide1.xml" Id="R1521d20967a6480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8f4bf37aec472d" /><Relationship Type="http://schemas.openxmlformats.org/officeDocument/2006/relationships/image" Target="/ppt/media/image2.jpeg" Id="R568a1ecf9ad045a1" /><Relationship Type="http://schemas.openxmlformats.org/officeDocument/2006/relationships/image" Target="/ppt/media/image.png" Id="R14a9891dc4ea4079" /><Relationship Type="http://schemas.openxmlformats.org/officeDocument/2006/relationships/image" Target="/ppt/media/image2.png" Id="R8cf3f1a1b5e04871" /><Relationship Type="http://schemas.openxmlformats.org/officeDocument/2006/relationships/notesSlide" Target="/ppt/notesSlides/notesSlide2.xml" Id="R9c69668b31cd41b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8c291613add4462" /><Relationship Type="http://schemas.openxmlformats.org/officeDocument/2006/relationships/notesSlide" Target="/ppt/notesSlides/notesSlide3.xml" Id="R3d476928b34448c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48c35c3a26a432b" /><Relationship Type="http://schemas.openxmlformats.org/officeDocument/2006/relationships/image" Target="/ppt/media/image3.jpeg" Id="R5fe7158d32334a4d" /><Relationship Type="http://schemas.openxmlformats.org/officeDocument/2006/relationships/notesSlide" Target="/ppt/notesSlides/notesSlide4.xml" Id="R24523520bf4a4f1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c481d2e92154f2c" /><Relationship Type="http://schemas.openxmlformats.org/officeDocument/2006/relationships/image" Target="/ppt/media/image4.jpeg" Id="Raadc22e182384ca9" /><Relationship Type="http://schemas.openxmlformats.org/officeDocument/2006/relationships/notesSlide" Target="/ppt/notesSlides/notesSlide5.xml" Id="Rd3f8b50257cd4bd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f212a34a3914f26" /><Relationship Type="http://schemas.openxmlformats.org/officeDocument/2006/relationships/image" Target="/ppt/media/image5.jpeg" Id="R268bf6761e174b63" /><Relationship Type="http://schemas.openxmlformats.org/officeDocument/2006/relationships/notesSlide" Target="/ppt/notesSlides/notesSlide6.xml" Id="Rbbda1d1474be447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19501fddd794ebc" /><Relationship Type="http://schemas.openxmlformats.org/officeDocument/2006/relationships/image" Target="/ppt/media/image6.jpeg" Id="R8d0f600288e94870" /><Relationship Type="http://schemas.openxmlformats.org/officeDocument/2006/relationships/image" Target="/ppt/media/image7.jpeg" Id="Rcfb4eb0b46894317" /><Relationship Type="http://schemas.openxmlformats.org/officeDocument/2006/relationships/image" Target="/ppt/media/image8.jpeg" Id="Raf0c1d0b826a41dc" /><Relationship Type="http://schemas.openxmlformats.org/officeDocument/2006/relationships/notesSlide" Target="/ppt/notesSlides/notesSlide7.xml" Id="Rff0220a48d304869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d23f11a40b649be" /><Relationship Type="http://schemas.openxmlformats.org/officeDocument/2006/relationships/notesSlide" Target="/ppt/notesSlides/notesSlide8.xml" Id="R7878e5e9bc504e0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be1facfe6c04918" /><Relationship Type="http://schemas.openxmlformats.org/officeDocument/2006/relationships/notesSlide" Target="/ppt/notesSlides/notesSlide9.xml" Id="R72b2e73363ce46f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dd3cc444dc4807" /><Relationship Type="http://schemas.openxmlformats.org/officeDocument/2006/relationships/notesSlide" Target="/ppt/notesSlides/notesSlide10.xml" Id="R69a168c83b6e4ec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cf47a7c4ba04240" /><Relationship Type="http://schemas.openxmlformats.org/officeDocument/2006/relationships/image" Target="/ppt/media/image9.jpeg" Id="R9c7ad2584e034d71" /><Relationship Type="http://schemas.openxmlformats.org/officeDocument/2006/relationships/image" Target="/ppt/media/image10.jpeg" Id="R8a1c8c008cc3401e" /><Relationship Type="http://schemas.openxmlformats.org/officeDocument/2006/relationships/notesSlide" Target="/ppt/notesSlides/notesSlide11.xml" Id="R1f99c9596ab14fb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6bd766b7ce463a" /><Relationship Type="http://schemas.openxmlformats.org/officeDocument/2006/relationships/notesSlide" Target="/ppt/notesSlides/notesSlide12.xml" Id="Rfdff853ad45d4383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c8bee9b84a04960" /><Relationship Type="http://schemas.openxmlformats.org/officeDocument/2006/relationships/image" Target="/ppt/media/image11.jpeg" Id="R4ed17a9ca01e463f" /><Relationship Type="http://schemas.openxmlformats.org/officeDocument/2006/relationships/notesSlide" Target="/ppt/notesSlides/notesSlide13.xml" Id="R71d7798504c747e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161d42908784db8" /><Relationship Type="http://schemas.openxmlformats.org/officeDocument/2006/relationships/image" Target="/ppt/media/image3.png" Id="R6c0f7d46c4644f83" /><Relationship Type="http://schemas.openxmlformats.org/officeDocument/2006/relationships/image" Target="/ppt/media/image4.png" Id="Re2de725ccfad4675" /><Relationship Type="http://schemas.openxmlformats.org/officeDocument/2006/relationships/notesSlide" Target="/ppt/notesSlides/notesSlide14.xml" Id="R75ff0b8f44724b36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3348288f56b4524" /><Relationship Type="http://schemas.openxmlformats.org/officeDocument/2006/relationships/image" Target="/ppt/media/image5.png" Id="Rb986c142a86140db" /><Relationship Type="http://schemas.openxmlformats.org/officeDocument/2006/relationships/image" Target="/ppt/media/image6.png" Id="R53f16b6da44142ba" /><Relationship Type="http://schemas.openxmlformats.org/officeDocument/2006/relationships/notesSlide" Target="/ppt/notesSlides/notesSlide15.xml" Id="Ra122a4c0796440e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e4dc8aec2a54fbb" /><Relationship Type="http://schemas.openxmlformats.org/officeDocument/2006/relationships/image" Target="/ppt/media/image7.png" Id="R3184a12020524d74" /><Relationship Type="http://schemas.openxmlformats.org/officeDocument/2006/relationships/image" Target="/ppt/media/image8.png" Id="R120261525f4a4add" /><Relationship Type="http://schemas.openxmlformats.org/officeDocument/2006/relationships/image" Target="/ppt/media/image9.png" Id="R2d09cf1c0eaa40c6" /><Relationship Type="http://schemas.openxmlformats.org/officeDocument/2006/relationships/notesSlide" Target="/ppt/notesSlides/notesSlide16.xml" Id="R1bb65aee069e4bef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08ac55e259a45db" /><Relationship Type="http://schemas.openxmlformats.org/officeDocument/2006/relationships/image" Target="/ppt/media/image10.png" Id="Rf50a0c7448934d95" /><Relationship Type="http://schemas.openxmlformats.org/officeDocument/2006/relationships/image" Target="/ppt/media/image11.png" Id="R5002a68ebf9c4a21" /><Relationship Type="http://schemas.openxmlformats.org/officeDocument/2006/relationships/notesSlide" Target="/ppt/notesSlides/notesSlide17.xml" Id="R145354b3cb8e48f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cd76add3e74d17" /><Relationship Type="http://schemas.openxmlformats.org/officeDocument/2006/relationships/notesSlide" Target="/ppt/notesSlides/notesSlide18.xml" Id="R25478f3a3b46448b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e766aeaea2b45da" /><Relationship Type="http://schemas.openxmlformats.org/officeDocument/2006/relationships/notesSlide" Target="/ppt/notesSlides/notesSlide19.xml" Id="Rd1b98e64b80846b8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2edfdb3c47a4b94" /><Relationship Type="http://schemas.openxmlformats.org/officeDocument/2006/relationships/image" Target="/ppt/media/image12.png" Id="R626d91efcba647be" /><Relationship Type="http://schemas.openxmlformats.org/officeDocument/2006/relationships/image" Target="/ppt/media/image.svg" Id="R90c310776ae74de3" /><Relationship Type="http://schemas.openxmlformats.org/officeDocument/2006/relationships/notesSlide" Target="/ppt/notesSlides/notesSlide20.xml" Id="R69900cb505de4dc5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25cc3e09a04990" /><Relationship Type="http://schemas.openxmlformats.org/officeDocument/2006/relationships/notesSlide" Target="/ppt/notesSlides/notesSlide21.xml" Id="R0b1d87fd10df4936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bdd4cecf764499b" /><Relationship Type="http://schemas.openxmlformats.org/officeDocument/2006/relationships/notesSlide" Target="/ppt/notesSlides/notesSlide22.xml" Id="R8f9d1b88a3c640b4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2a018eb345d4173" /><Relationship Type="http://schemas.openxmlformats.org/officeDocument/2006/relationships/notesSlide" Target="/ppt/notesSlides/notesSlide23.xml" Id="R2e75863a3bd04261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8902b312dcc4ca0" /><Relationship Type="http://schemas.openxmlformats.org/officeDocument/2006/relationships/notesSlide" Target="/ppt/notesSlides/notesSlide24.xml" Id="R601bcd3d4c3e461c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db1d99a91f04e9e" /><Relationship Type="http://schemas.openxmlformats.org/officeDocument/2006/relationships/notesSlide" Target="/ppt/notesSlides/notesSlide25.xml" Id="R1342ac1ab1124a9e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225cdda712d4938" /><Relationship Type="http://schemas.openxmlformats.org/officeDocument/2006/relationships/notesSlide" Target="/ppt/notesSlides/notesSlide26.xml" Id="R71178d3594544069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d8de01437b24fa9" /><Relationship Type="http://schemas.openxmlformats.org/officeDocument/2006/relationships/image" Target="/ppt/media/image12.jpeg" Id="R932c1d9ae30048b2" /><Relationship Type="http://schemas.openxmlformats.org/officeDocument/2006/relationships/notesSlide" Target="/ppt/notesSlides/notesSlide27.xml" Id="Rfcdd178f617a4b3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33365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762C4EDE-B97E-4448-8D4F-14764759F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0" y="0"/>
            <a:ext cx="8991600" cy="10287000"/>
          </a:xfrm>
          <a:custGeom xmlns:a="http://schemas.openxmlformats.org/drawingml/2006/main">
            <a:rect l="l" t="t" r="r" b="b"/>
            <a:pathLst>
              <a:path w="1035548" h="1184737">
                <a:moveTo>
                  <a:pt x="0" y="0"/>
                </a:moveTo>
                <a:lnTo>
                  <a:pt x="1035548" y="0"/>
                </a:lnTo>
                <a:lnTo>
                  <a:pt x="1035548" y="1184737"/>
                </a:lnTo>
                <a:lnTo>
                  <a:pt x="0" y="1184737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7aae78a487fd4870"/>
            <a:stretch>
              <a:fillRect l="-88629" t="31" r="-4191" b="-12320"/>
            </a:stretch>
          </a:blipFill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1306ABC0-AD75-40BD-826D-AB11A67BB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5400000" flipH="1" flipV="0">
            <a:off x="10771614" y="722895"/>
            <a:ext cx="416357" cy="471186"/>
          </a:xfrm>
          <a:custGeom xmlns:a="http://schemas.openxmlformats.org/drawingml/2006/main">
            <a:rect l="l" t="t" r="r" b="b"/>
            <a:pathLst>
              <a:path w="555143" h="628248">
                <a:moveTo>
                  <a:pt x="555143" y="0"/>
                </a:moveTo>
                <a:lnTo>
                  <a:pt x="0" y="0"/>
                </a:lnTo>
                <a:lnTo>
                  <a:pt x="0" y="628248"/>
                </a:lnTo>
                <a:lnTo>
                  <a:pt x="555143" y="628248"/>
                </a:lnTo>
                <a:lnTo>
                  <a:pt x="555143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6" name="TextBox 6">
            <a:extLst xmlns:a="http://schemas.openxmlformats.org/drawingml/2006/main">
              <a:ext uri="{FF2B5EF4-FFF2-40B4-BE49-F238E27FC236}">
                <a16:creationId xmlns:a16="http://schemas.microsoft.com/office/drawing/2014/main" id="{8C827E98-E448-4229-A638-F637852D2E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340678" y="738187"/>
            <a:ext cx="6280572" cy="45148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Georgia Pro Light"/>
                <a:ea typeface="Georgia Pro Light"/>
                <a:cs typeface="Georgia Pro Light"/>
              </a:defRPr>
            </a:defPPr>
            <a:lvl1pPr>
              <a:defRPr>
                <a:latin typeface="Georgia Pro Light"/>
                <a:ea typeface="Georgia Pro Light"/>
                <a:cs typeface="Georgia Pro Light"/>
              </a:defRPr>
            </a:lvl1pPr>
            <a:lvl2pPr>
              <a:defRPr>
                <a:latin typeface="Georgia Pro Light"/>
                <a:ea typeface="Georgia Pro Light"/>
                <a:cs typeface="Georgia Pro Light"/>
              </a:defRPr>
            </a:lvl2pPr>
            <a:lvl3pPr>
              <a:defRPr>
                <a:latin typeface="Georgia Pro Light"/>
                <a:ea typeface="Georgia Pro Light"/>
                <a:cs typeface="Georgia Pro Light"/>
              </a:defRPr>
            </a:lvl3pPr>
            <a:lvl4pPr>
              <a:defRPr>
                <a:latin typeface="Georgia Pro Light"/>
                <a:ea typeface="Georgia Pro Light"/>
                <a:cs typeface="Georgia Pro Light"/>
              </a:defRPr>
            </a:lvl4pPr>
            <a:lvl5pPr>
              <a:defRPr>
                <a:latin typeface="Georgia Pro Light"/>
                <a:ea typeface="Georgia Pro Light"/>
                <a:cs typeface="Georgia Pro Light"/>
              </a:defRPr>
            </a:lvl5pPr>
            <a:lvl6pPr>
              <a:defRPr>
                <a:latin typeface="Georgia Pro Light"/>
                <a:ea typeface="Georgia Pro Light"/>
                <a:cs typeface="Georgia Pro Light"/>
              </a:defRPr>
            </a:lvl6pPr>
            <a:lvl7pPr>
              <a:defRPr>
                <a:latin typeface="Georgia Pro Light"/>
                <a:ea typeface="Georgia Pro Light"/>
                <a:cs typeface="Georgia Pro Light"/>
              </a:defRPr>
            </a:lvl7pPr>
            <a:lvl8pPr>
              <a:defRPr>
                <a:latin typeface="Georgia Pro Light"/>
                <a:ea typeface="Georgia Pro Light"/>
                <a:cs typeface="Georgia Pro Light"/>
              </a:defRPr>
            </a:lvl8pPr>
            <a:lvl9pPr>
              <a:defRPr>
                <a:latin typeface="Georgia Pro Light"/>
                <a:ea typeface="Georgia Pro Light"/>
                <a:cs typeface="Georgia Pro Light"/>
              </a:defRPr>
            </a:lvl9pPr>
          </a:lstStyle>
          <a:p xmlns:a="http://schemas.openxmlformats.org/drawingml/2006/main">
            <a:pPr marL="0" lvl="0" indent="0" algn="l">
              <a:lnSpc>
                <a:spcPts val="3555"/>
              </a:lnSpc>
              <a:buNone/>
              <a:defRPr>
                <a:latin typeface="Georgia Pro Light"/>
                <a:ea typeface="Georgia Pro Light"/>
                <a:cs typeface="Georgia Pro Light"/>
              </a:defRPr>
            </a:pPr>
            <a:r>
              <a:rPr sz="3864" spc="-77">
                <a:solidFill>
                  <a:srgbClr val="F5F6F7"/>
                </a:solidFill>
                <a:latin typeface="Georgia Pro Light"/>
                <a:ea typeface="Georgia Pro Light"/>
                <a:cs typeface="Georgia Pro Light"/>
              </a:rPr>
              <a:t>EnergyCore</a:t>
            </a:r>
          </a:p>
        </p:txBody>
      </p:sp>
      <p:sp>
        <p:nvSpPr>
          <p:cNvPr id="8" name="TextBox 8">
            <a:extLst xmlns:a="http://schemas.openxmlformats.org/drawingml/2006/main">
              <a:ext uri="{FF2B5EF4-FFF2-40B4-BE49-F238E27FC236}">
                <a16:creationId xmlns:a16="http://schemas.microsoft.com/office/drawing/2014/main" id="{68FE0824-F56C-44BD-AA98-C0EB82B9D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734675" y="1712118"/>
            <a:ext cx="6886575" cy="266674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Georgia Pro Light"/>
                <a:ea typeface="Georgia Pro Light"/>
                <a:cs typeface="Georgia Pro Light"/>
              </a:defRPr>
            </a:defPPr>
            <a:lvl1pPr>
              <a:defRPr>
                <a:latin typeface="Georgia Pro Light"/>
                <a:ea typeface="Georgia Pro Light"/>
                <a:cs typeface="Georgia Pro Light"/>
              </a:defRPr>
            </a:lvl1pPr>
            <a:lvl2pPr>
              <a:defRPr>
                <a:latin typeface="Georgia Pro Light"/>
                <a:ea typeface="Georgia Pro Light"/>
                <a:cs typeface="Georgia Pro Light"/>
              </a:defRPr>
            </a:lvl2pPr>
            <a:lvl3pPr>
              <a:defRPr>
                <a:latin typeface="Georgia Pro Light"/>
                <a:ea typeface="Georgia Pro Light"/>
                <a:cs typeface="Georgia Pro Light"/>
              </a:defRPr>
            </a:lvl3pPr>
            <a:lvl4pPr>
              <a:defRPr>
                <a:latin typeface="Georgia Pro Light"/>
                <a:ea typeface="Georgia Pro Light"/>
                <a:cs typeface="Georgia Pro Light"/>
              </a:defRPr>
            </a:lvl4pPr>
            <a:lvl5pPr>
              <a:defRPr>
                <a:latin typeface="Georgia Pro Light"/>
                <a:ea typeface="Georgia Pro Light"/>
                <a:cs typeface="Georgia Pro Light"/>
              </a:defRPr>
            </a:lvl5pPr>
            <a:lvl6pPr>
              <a:defRPr>
                <a:latin typeface="Georgia Pro Light"/>
                <a:ea typeface="Georgia Pro Light"/>
                <a:cs typeface="Georgia Pro Light"/>
              </a:defRPr>
            </a:lvl6pPr>
            <a:lvl7pPr>
              <a:defRPr>
                <a:latin typeface="Georgia Pro Light"/>
                <a:ea typeface="Georgia Pro Light"/>
                <a:cs typeface="Georgia Pro Light"/>
              </a:defRPr>
            </a:lvl7pPr>
            <a:lvl8pPr>
              <a:defRPr>
                <a:latin typeface="Georgia Pro Light"/>
                <a:ea typeface="Georgia Pro Light"/>
                <a:cs typeface="Georgia Pro Light"/>
              </a:defRPr>
            </a:lvl8pPr>
            <a:lvl9pPr>
              <a:defRPr>
                <a:latin typeface="Georgia Pro Light"/>
                <a:ea typeface="Georgia Pro Light"/>
                <a:cs typeface="Georgia Pro Light"/>
              </a:defRPr>
            </a:lvl9pPr>
          </a:lstStyle>
          <a:p xmlns:a="http://schemas.openxmlformats.org/drawingml/2006/main">
            <a:pPr marL="0" lvl="0" indent="0" algn="l">
              <a:lnSpc>
                <a:spcPts val="10499"/>
              </a:lnSpc>
              <a:buNone/>
              <a:defRPr>
                <a:latin typeface="Georgia Pro Light"/>
                <a:ea typeface="Georgia Pro Light"/>
                <a:cs typeface="Georgia Pro Light"/>
              </a:defRPr>
            </a:pPr>
            <a:r>
              <a:rPr sz="10499">
                <a:solidFill>
                  <a:srgbClr val="F5F6F7"/>
                </a:solidFill>
                <a:latin typeface="Georgia Pro Light"/>
                <a:ea typeface="Georgia Pro Light"/>
                <a:cs typeface="Georgia Pro Light"/>
              </a:rPr>
              <a:t>Monitoreo Inteligente</a:t>
            </a:r>
          </a:p>
        </p:txBody>
      </p:sp>
      <p:sp>
        <p:nvSpPr>
          <p:cNvPr id="9" name="TextBox 9">
            <a:extLst xmlns:a="http://schemas.openxmlformats.org/drawingml/2006/main">
              <a:ext uri="{FF2B5EF4-FFF2-40B4-BE49-F238E27FC236}">
                <a16:creationId xmlns:a16="http://schemas.microsoft.com/office/drawing/2014/main" id="{D7D18C97-8BC1-49AA-A114-493DA3C9C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734675" y="4664936"/>
            <a:ext cx="6879502" cy="12799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marL="0" lvl="0" indent="0" algn="l">
              <a:lnSpc>
                <a:spcPts val="5039"/>
              </a:lnSpc>
              <a:buNone/>
              <a:defRPr>
                <a:latin typeface="DM Sans"/>
                <a:ea typeface="DM Sans"/>
                <a:cs typeface="DM Sans"/>
              </a:defRPr>
            </a:pPr>
            <a:r>
              <a:rPr sz="3599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Automatización del Consumo Energético</a:t>
            </a:r>
          </a:p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5A42FE7D-D540-48FD-90D0-48C84D9CA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744200" y="9259411"/>
            <a:ext cx="5743575" cy="3911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marL="0" lvl="0" indent="0" algn="l">
              <a:lnSpc>
                <a:spcPts val="3080"/>
              </a:lnSpc>
              <a:spcBef>
                <a:spcPct val="0"/>
              </a:spcBef>
              <a:buNone/>
              <a:defRPr>
                <a:latin typeface="DM Sans"/>
                <a:ea typeface="DM Sans"/>
                <a:cs typeface="DM Sans"/>
              </a:defRPr>
            </a:pPr>
            <a:r>
              <a:rPr sz="2200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Equipo Teralume · NRC 9100 · AV2</a:t>
            </a:r>
          </a:p>
        </p:txBody>
      </p:sp>
      <p:sp>
        <p:nvSpPr>
          <p:cNvPr id="12" name="TextBox 12">
            <a:extLst xmlns:a="http://schemas.openxmlformats.org/drawingml/2006/main">
              <a:ext uri="{FF2B5EF4-FFF2-40B4-BE49-F238E27FC236}">
                <a16:creationId xmlns:a16="http://schemas.microsoft.com/office/drawing/2014/main" id="{AAB39D45-CA4F-4CED-8AFE-11D1052B5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744200" y="8705185"/>
            <a:ext cx="5743575" cy="4622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 Bold"/>
                <a:ea typeface="DM Sans Bold"/>
                <a:cs typeface="DM Sans Bold"/>
              </a:defRPr>
            </a:defPPr>
            <a:lvl1pPr>
              <a:defRPr>
                <a:latin typeface="DM Sans Bold"/>
                <a:ea typeface="DM Sans Bold"/>
                <a:cs typeface="DM Sans Bold"/>
              </a:defRPr>
            </a:lvl1pPr>
            <a:lvl2pPr>
              <a:defRPr>
                <a:latin typeface="DM Sans Bold"/>
                <a:ea typeface="DM Sans Bold"/>
                <a:cs typeface="DM Sans Bold"/>
              </a:defRPr>
            </a:lvl2pPr>
            <a:lvl3pPr>
              <a:defRPr>
                <a:latin typeface="DM Sans Bold"/>
                <a:ea typeface="DM Sans Bold"/>
                <a:cs typeface="DM Sans Bold"/>
              </a:defRPr>
            </a:lvl3pPr>
            <a:lvl4pPr>
              <a:defRPr>
                <a:latin typeface="DM Sans Bold"/>
                <a:ea typeface="DM Sans Bold"/>
                <a:cs typeface="DM Sans Bold"/>
              </a:defRPr>
            </a:lvl4pPr>
            <a:lvl5pPr>
              <a:defRPr>
                <a:latin typeface="DM Sans Bold"/>
                <a:ea typeface="DM Sans Bold"/>
                <a:cs typeface="DM Sans Bold"/>
              </a:defRPr>
            </a:lvl5pPr>
            <a:lvl6pPr>
              <a:defRPr>
                <a:latin typeface="DM Sans Bold"/>
                <a:ea typeface="DM Sans Bold"/>
                <a:cs typeface="DM Sans Bold"/>
              </a:defRPr>
            </a:lvl6pPr>
            <a:lvl7pPr>
              <a:defRPr>
                <a:latin typeface="DM Sans Bold"/>
                <a:ea typeface="DM Sans Bold"/>
                <a:cs typeface="DM Sans Bold"/>
              </a:defRPr>
            </a:lvl7pPr>
            <a:lvl8pPr>
              <a:defRPr>
                <a:latin typeface="DM Sans Bold"/>
                <a:ea typeface="DM Sans Bold"/>
                <a:cs typeface="DM Sans Bold"/>
              </a:defRPr>
            </a:lvl8pPr>
            <a:lvl9pPr>
              <a:defRPr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 marL="0" lvl="0" indent="0" algn="l">
              <a:lnSpc>
                <a:spcPts val="3640"/>
              </a:lnSpc>
              <a:spcBef>
                <a:spcPct val="0"/>
              </a:spcBef>
              <a:buNone/>
              <a:defRPr>
                <a:latin typeface="DM Sans Bold"/>
                <a:ea typeface="DM Sans Bold"/>
                <a:cs typeface="DM Sans Bold"/>
              </a:defRPr>
            </a:pPr>
            <a:r>
              <a:rPr sz="2600" b="1">
                <a:solidFill>
                  <a:srgbClr val="F5F6F7"/>
                </a:solidFill>
                <a:latin typeface="DM Sans Bold"/>
                <a:ea typeface="DM Sans Bold"/>
                <a:cs typeface="DM Sans Bold"/>
              </a:rPr>
              <a:t>PRESENTADO POR</a:t>
            </a:r>
          </a:p>
        </p:txBody>
      </p:sp>
    </p:spTree>
    <p:extLst>
      <p:ext uri="{BB962C8B-B14F-4D97-AF65-F5344CB8AC3E}">
        <p14:creationId xmlns:p14="http://schemas.microsoft.com/office/powerpoint/2010/main" val="62356965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711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7B8385C-1A1E-419B-BE4D-B0AC156DE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E23F"/>
          </a:solidFill>
          <a:ln xmlns:a="http://schemas.openxmlformats.org/drawingml/2006/main" w="19050">
            <a:solidFill>
              <a:srgbClr val="8BE2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195D7AA-0F3E-4BE6-8945-0F2317A51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500" b="1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1500" b="1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AVANCE 2 · EQUIPO TERALUME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E6FFBA-30A9-4F4F-B380-1229EB76E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6916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3450" b="1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3450" b="1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Integrantes del equipo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6A8139-62A3-4283-9CB9-EEC11D981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16916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23E"/>
          </a:solidFill>
          <a:ln xmlns:a="http://schemas.openxmlformats.org/drawingml/2006/main" w="19050">
            <a:solidFill>
              <a:srgbClr val="31523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6D46C9-C25C-495B-8E8C-F005F6820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3625"/>
            <a:ext cx="3067050" cy="6667500"/>
          </a:xfrm>
          <a:prstGeom xmlns:a="http://schemas.openxmlformats.org/drawingml/2006/main" prst="roundRect">
            <a:avLst>
              <a:gd name="adj" fmla="val 2484"/>
            </a:avLst>
          </a:prstGeom>
          <a:solidFill xmlns:a="http://schemas.openxmlformats.org/drawingml/2006/main">
            <a:srgbClr val="102019"/>
          </a:solidFill>
          <a:ln xmlns:a="http://schemas.openxmlformats.org/drawingml/2006/main" w="19050">
            <a:solidFill>
              <a:srgbClr val="31523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pic>
        <p:nvPic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DC6286AC-4F10-4346-B51D-6606B1C68793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68a1ecf9ad045a1"/>
          <a:srcRect xmlns:a="http://schemas.openxmlformats.org/drawingml/2006/main" l="0" t="0" r="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266825" y="2714625"/>
            <a:ext cx="1905000" cy="1905000"/>
          </a:xfrm>
          <a:prstGeom xmlns:a="http://schemas.openxmlformats.org/drawingml/2006/main" prst="ellipse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BBABB60-D53B-49AD-B5C0-6BABB6B37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48250"/>
            <a:ext cx="26098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950" b="1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Jean Franck</a:t>
            </a:r>
          </a:p>
          <a:p xmlns:a="http://schemas.openxmlformats.org/drawingml/2006/main">
            <a:pPr>
              <a:buNone/>
              <a:defRPr sz="1950" b="1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950" b="1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Loa Rojas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390015-6543-479B-9320-C11C871C0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305550"/>
            <a:ext cx="2609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1650" b="1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U20241E406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4DD9EE-CA89-49CF-87D6-678F32EFE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6858000"/>
            <a:ext cx="2609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B7C8BD"/>
                </a:solidFill>
                <a:latin typeface="DM Sans"/>
                <a:ea typeface="DM Sans"/>
                <a:cs typeface="DM Sans"/>
              </a:defRPr>
            </a:pPr>
            <a:r>
              <a:rPr sz="1500" b="0">
                <a:solidFill>
                  <a:srgbClr val="B7C8BD"/>
                </a:solidFill>
                <a:latin typeface="DM Sans"/>
                <a:ea typeface="DM Sans"/>
                <a:cs typeface="DM Sans"/>
              </a:rPr>
              <a:t>Ingeniería de Software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DF9E9D-C6BE-45A4-A338-0C5C05220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8020050"/>
            <a:ext cx="24574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8BE23F"/>
          </a:solidFill>
          <a:ln xmlns:a="http://schemas.openxmlformats.org/drawingml/2006/main" w="19050">
            <a:solidFill>
              <a:srgbClr val="8BE2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9C02843-A415-4498-A5EB-10713A465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" y="8105775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185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07110D"/>
                </a:solidFill>
                <a:latin typeface="DM Sans"/>
                <a:ea typeface="DM Sans"/>
                <a:cs typeface="DM Sans"/>
              </a:defRPr>
            </a:pPr>
            <a:r>
              <a:rPr sz="1350" b="1">
                <a:solidFill>
                  <a:srgbClr val="07110D"/>
                </a:solidFill>
                <a:latin typeface="DM Sans"/>
                <a:ea typeface="DM Sans"/>
                <a:cs typeface="DM Sans"/>
              </a:rPr>
              <a:t>INTEGRANTE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A3BF1AE-4B6D-4086-ACFF-DB67D20A1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0975" y="2333625"/>
            <a:ext cx="3067050" cy="6667500"/>
          </a:xfrm>
          <a:prstGeom xmlns:a="http://schemas.openxmlformats.org/drawingml/2006/main" prst="roundRect">
            <a:avLst>
              <a:gd name="adj" fmla="val 2484"/>
            </a:avLst>
          </a:prstGeom>
          <a:solidFill xmlns:a="http://schemas.openxmlformats.org/drawingml/2006/main">
            <a:srgbClr val="102019"/>
          </a:solidFill>
          <a:ln xmlns:a="http://schemas.openxmlformats.org/drawingml/2006/main" w="19050">
            <a:solidFill>
              <a:srgbClr val="31523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pic>
        <p:nvPic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9E535E31-7807-40FF-84BA-148BE0ACFDA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a9891dc4ea4079"/>
          <a:srcRect xmlns:a="http://schemas.openxmlformats.org/drawingml/2006/main" l="0" t="12914" r="0" b="1291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572000" y="2714625"/>
            <a:ext cx="1905000" cy="1905000"/>
          </a:xfrm>
          <a:prstGeom xmlns:a="http://schemas.openxmlformats.org/drawingml/2006/main" prst="ellipse">
            <a:avLst/>
          </a:prstGeom>
        </p:spPr>
      </p:pic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FB82A5-E110-4989-9DA9-793482F1A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5048250"/>
            <a:ext cx="26098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950" b="1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Jairo Mathias</a:t>
            </a:r>
          </a:p>
          <a:p xmlns:a="http://schemas.openxmlformats.org/drawingml/2006/main">
            <a:pPr>
              <a:buNone/>
              <a:defRPr sz="1950" b="1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950" b="1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Santiago Atanacio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5B1E612-28EE-4DFF-993D-76A58362D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6305550"/>
            <a:ext cx="2609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1650" b="1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U202418755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C2412D3-1BC0-45E8-9666-13DE0E0E8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9575" y="6858000"/>
            <a:ext cx="2609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B7C8BD"/>
                </a:solidFill>
                <a:latin typeface="DM Sans"/>
                <a:ea typeface="DM Sans"/>
                <a:cs typeface="DM Sans"/>
              </a:defRPr>
            </a:pPr>
            <a:r>
              <a:rPr sz="1500" b="0">
                <a:solidFill>
                  <a:srgbClr val="B7C8BD"/>
                </a:solidFill>
                <a:latin typeface="DM Sans"/>
                <a:ea typeface="DM Sans"/>
                <a:cs typeface="DM Sans"/>
              </a:rPr>
              <a:t>Ingeniería de Software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3EF628-55AC-444D-A331-5ED96A194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8020050"/>
            <a:ext cx="24574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8BE23F"/>
          </a:solidFill>
          <a:ln xmlns:a="http://schemas.openxmlformats.org/drawingml/2006/main" w="19050">
            <a:solidFill>
              <a:srgbClr val="8BE2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8FDFA18-E821-4314-89AC-F95524561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8105775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185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07110D"/>
                </a:solidFill>
                <a:latin typeface="DM Sans"/>
                <a:ea typeface="DM Sans"/>
                <a:cs typeface="DM Sans"/>
              </a:defRPr>
            </a:pPr>
            <a:r>
              <a:rPr sz="1350" b="1">
                <a:solidFill>
                  <a:srgbClr val="07110D"/>
                </a:solidFill>
                <a:latin typeface="DM Sans"/>
                <a:ea typeface="DM Sans"/>
                <a:cs typeface="DM Sans"/>
              </a:rPr>
              <a:t>INTEGRANTE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A5DF732-78EB-41AA-8EF2-886874DB3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333625"/>
            <a:ext cx="3067050" cy="6667500"/>
          </a:xfrm>
          <a:prstGeom xmlns:a="http://schemas.openxmlformats.org/drawingml/2006/main" prst="roundRect">
            <a:avLst>
              <a:gd name="adj" fmla="val 2484"/>
            </a:avLst>
          </a:prstGeom>
          <a:solidFill xmlns:a="http://schemas.openxmlformats.org/drawingml/2006/main">
            <a:srgbClr val="102019"/>
          </a:solidFill>
          <a:ln xmlns:a="http://schemas.openxmlformats.org/drawingml/2006/main" w="19050">
            <a:solidFill>
              <a:srgbClr val="31523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2D05DA-36EF-4802-90D7-DF0832539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77175" y="2714625"/>
            <a:ext cx="1905000" cy="190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2B21"/>
          </a:solidFill>
          <a:ln xmlns:a="http://schemas.openxmlformats.org/drawingml/2006/main" w="19050">
            <a:solidFill>
              <a:srgbClr val="F5B94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1CAB422-D9EB-41A2-AB82-1B59FE289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6275" y="3333750"/>
            <a:ext cx="1066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2550" b="1">
                <a:solidFill>
                  <a:srgbClr val="F5B942"/>
                </a:solidFill>
                <a:latin typeface="DM Sans"/>
                <a:ea typeface="DM Sans"/>
                <a:cs typeface="DM Sans"/>
              </a:defRPr>
            </a:pPr>
            <a:r>
              <a:rPr sz="2550" b="1">
                <a:solidFill>
                  <a:srgbClr val="F5B942"/>
                </a:solidFill>
                <a:latin typeface="DM Sans"/>
                <a:ea typeface="DM Sans"/>
                <a:cs typeface="DM Sans"/>
              </a:rPr>
              <a:t>FR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15D669-930E-478F-848D-8029896B3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5048250"/>
            <a:ext cx="26098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950" b="1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Fabricio Jose</a:t>
            </a:r>
          </a:p>
          <a:p xmlns:a="http://schemas.openxmlformats.org/drawingml/2006/main">
            <a:pPr>
              <a:buNone/>
              <a:defRPr sz="1950" b="1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950" b="1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Rivera Rupay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C85F4B-F95B-4E78-A721-140D54084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6305550"/>
            <a:ext cx="2609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1650" b="1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U202423883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5A87D70-0DC5-4D9F-9F74-DE16B6380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6858000"/>
            <a:ext cx="2609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B7C8BD"/>
                </a:solidFill>
                <a:latin typeface="DM Sans"/>
                <a:ea typeface="DM Sans"/>
                <a:cs typeface="DM Sans"/>
              </a:defRPr>
            </a:pPr>
            <a:r>
              <a:rPr sz="1500" b="0">
                <a:solidFill>
                  <a:srgbClr val="B7C8BD"/>
                </a:solidFill>
                <a:latin typeface="DM Sans"/>
                <a:ea typeface="DM Sans"/>
                <a:cs typeface="DM Sans"/>
              </a:rPr>
              <a:t>Ingeniería de Software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C7E28D8-F80D-43E4-BF2E-DA3992E84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8020050"/>
            <a:ext cx="24574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8BE23F"/>
          </a:solidFill>
          <a:ln xmlns:a="http://schemas.openxmlformats.org/drawingml/2006/main" w="19050">
            <a:solidFill>
              <a:srgbClr val="8BE2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DE386DE-B16A-4E3B-882C-E62F4254E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43825" y="8105775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185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07110D"/>
                </a:solidFill>
                <a:latin typeface="DM Sans"/>
                <a:ea typeface="DM Sans"/>
                <a:cs typeface="DM Sans"/>
              </a:defRPr>
            </a:pPr>
            <a:r>
              <a:rPr sz="1350" b="1">
                <a:solidFill>
                  <a:srgbClr val="07110D"/>
                </a:solidFill>
                <a:latin typeface="DM Sans"/>
                <a:ea typeface="DM Sans"/>
                <a:cs typeface="DM Sans"/>
              </a:rPr>
              <a:t>INTEGRANTE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DF553B2-1B15-4F74-B884-AF8D3E4E4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01325" y="2333625"/>
            <a:ext cx="3067050" cy="6667500"/>
          </a:xfrm>
          <a:prstGeom xmlns:a="http://schemas.openxmlformats.org/drawingml/2006/main" prst="roundRect">
            <a:avLst>
              <a:gd name="adj" fmla="val 2484"/>
            </a:avLst>
          </a:prstGeom>
          <a:solidFill xmlns:a="http://schemas.openxmlformats.org/drawingml/2006/main">
            <a:srgbClr val="102019"/>
          </a:solidFill>
          <a:ln xmlns:a="http://schemas.openxmlformats.org/drawingml/2006/main" w="19050">
            <a:solidFill>
              <a:srgbClr val="31523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D263B07-373E-4119-8869-8827D87A8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2714625"/>
            <a:ext cx="1905000" cy="1905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2B21"/>
          </a:solidFill>
          <a:ln xmlns:a="http://schemas.openxmlformats.org/drawingml/2006/main" w="19050">
            <a:solidFill>
              <a:srgbClr val="F5B94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906DCB0-F5CD-4AB3-AF00-81840E299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01450" y="3333750"/>
            <a:ext cx="1066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2550" b="1">
                <a:solidFill>
                  <a:srgbClr val="F5B942"/>
                </a:solidFill>
                <a:latin typeface="DM Sans"/>
                <a:ea typeface="DM Sans"/>
                <a:cs typeface="DM Sans"/>
              </a:defRPr>
            </a:pPr>
            <a:r>
              <a:rPr sz="2550" b="1">
                <a:solidFill>
                  <a:srgbClr val="F5B942"/>
                </a:solidFill>
                <a:latin typeface="DM Sans"/>
                <a:ea typeface="DM Sans"/>
                <a:cs typeface="DM Sans"/>
              </a:rPr>
              <a:t>RZ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365E14D-952C-4804-B80B-95121C94C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5048250"/>
            <a:ext cx="26098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950" b="1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Renzo Zamir</a:t>
            </a:r>
          </a:p>
          <a:p xmlns:a="http://schemas.openxmlformats.org/drawingml/2006/main">
            <a:pPr>
              <a:buNone/>
              <a:defRPr sz="1950" b="1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950" b="1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Revilla Quispe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E2316E4-C92E-473F-B660-AD0E099B9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305550"/>
            <a:ext cx="2609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1650" b="1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U201717085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29C2221-17FD-456A-8950-717708165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29925" y="6858000"/>
            <a:ext cx="2609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B7C8BD"/>
                </a:solidFill>
                <a:latin typeface="DM Sans"/>
                <a:ea typeface="DM Sans"/>
                <a:cs typeface="DM Sans"/>
              </a:defRPr>
            </a:pPr>
            <a:r>
              <a:rPr sz="1500" b="0">
                <a:solidFill>
                  <a:srgbClr val="B7C8BD"/>
                </a:solidFill>
                <a:latin typeface="DM Sans"/>
                <a:ea typeface="DM Sans"/>
                <a:cs typeface="DM Sans"/>
              </a:rPr>
              <a:t>Ingeniería de Software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FFA7DEE-5187-4949-ACE0-7CACF2352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6125" y="8020050"/>
            <a:ext cx="24574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8BE23F"/>
          </a:solidFill>
          <a:ln xmlns:a="http://schemas.openxmlformats.org/drawingml/2006/main" w="19050">
            <a:solidFill>
              <a:srgbClr val="8BE2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64B1A02-E7C3-483A-8369-9C0D34C83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8105775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185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07110D"/>
                </a:solidFill>
                <a:latin typeface="DM Sans"/>
                <a:ea typeface="DM Sans"/>
                <a:cs typeface="DM Sans"/>
              </a:defRPr>
            </a:pPr>
            <a:r>
              <a:rPr sz="1350" b="1">
                <a:solidFill>
                  <a:srgbClr val="07110D"/>
                </a:solidFill>
                <a:latin typeface="DM Sans"/>
                <a:ea typeface="DM Sans"/>
                <a:cs typeface="DM Sans"/>
              </a:rPr>
              <a:t>INTEGRANTE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440ADB9-B97D-46C5-9071-830E8A99D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2333625"/>
            <a:ext cx="3067050" cy="6667500"/>
          </a:xfrm>
          <a:prstGeom xmlns:a="http://schemas.openxmlformats.org/drawingml/2006/main" prst="roundRect">
            <a:avLst>
              <a:gd name="adj" fmla="val 2484"/>
            </a:avLst>
          </a:prstGeom>
          <a:solidFill xmlns:a="http://schemas.openxmlformats.org/drawingml/2006/main">
            <a:srgbClr val="102019"/>
          </a:solidFill>
          <a:ln xmlns:a="http://schemas.openxmlformats.org/drawingml/2006/main" w="19050">
            <a:solidFill>
              <a:srgbClr val="31523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pic>
        <p:nvPic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A0E61C02-374F-4E09-BD70-433B0300EE9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f3f1a1b5e04871"/>
          <a:srcRect xmlns:a="http://schemas.openxmlformats.org/drawingml/2006/main" l="0" t="405" r="0" b="40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14487525" y="2714625"/>
            <a:ext cx="1905000" cy="1905000"/>
          </a:xfrm>
          <a:prstGeom xmlns:a="http://schemas.openxmlformats.org/drawingml/2006/main" prst="ellipse">
            <a:avLst/>
          </a:prstGeom>
        </p:spPr>
      </p:pic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B06CC50-7FF5-40D9-AE5E-CDFD1FF9F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5048250"/>
            <a:ext cx="26098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950" b="1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Brayan Benjamin</a:t>
            </a:r>
          </a:p>
          <a:p xmlns:a="http://schemas.openxmlformats.org/drawingml/2006/main">
            <a:pPr>
              <a:buNone/>
              <a:defRPr sz="1950" b="1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950" b="1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Huerta Cardenas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145470D-4DFA-4FEE-9FAB-22A994189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6305550"/>
            <a:ext cx="2609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1650" b="1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U20241E550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726F0B8-8ADB-4717-AF90-029700613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6858000"/>
            <a:ext cx="26098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500" b="0">
                <a:solidFill>
                  <a:srgbClr val="B7C8BD"/>
                </a:solidFill>
                <a:latin typeface="DM Sans"/>
                <a:ea typeface="DM Sans"/>
                <a:cs typeface="DM Sans"/>
              </a:defRPr>
            </a:pPr>
            <a:r>
              <a:rPr sz="1500" b="0">
                <a:solidFill>
                  <a:srgbClr val="B7C8BD"/>
                </a:solidFill>
                <a:latin typeface="DM Sans"/>
                <a:ea typeface="DM Sans"/>
                <a:cs typeface="DM Sans"/>
              </a:rPr>
              <a:t>Ingeniería de Software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2340C5D-8D9C-4EAD-ACBE-5FC0A25B6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11300" y="8020050"/>
            <a:ext cx="24574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8BE23F"/>
          </a:solidFill>
          <a:ln xmlns:a="http://schemas.openxmlformats.org/drawingml/2006/main" w="19050">
            <a:solidFill>
              <a:srgbClr val="8BE2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8035862-5800-4BA2-B19E-30C39559A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54175" y="8105775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185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07110D"/>
                </a:solidFill>
                <a:latin typeface="DM Sans"/>
                <a:ea typeface="DM Sans"/>
                <a:cs typeface="DM Sans"/>
              </a:defRPr>
            </a:pPr>
            <a:r>
              <a:rPr sz="1350" b="1">
                <a:solidFill>
                  <a:srgbClr val="07110D"/>
                </a:solidFill>
                <a:latin typeface="DM Sans"/>
                <a:ea typeface="DM Sans"/>
                <a:cs typeface="DM Sans"/>
              </a:rPr>
              <a:t>INTEGRANTE</a:t>
            </a:r>
          </a:p>
        </p:txBody>
      </p:sp>
    </p:spTree>
    <p:extLst>
      <p:ext uri="{BB962C8B-B14F-4D97-AF65-F5344CB8AC3E}">
        <p14:creationId xmlns:p14="http://schemas.microsoft.com/office/powerpoint/2010/main" val="197891062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34354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DA570A-3744-4CAB-9082-418F249C3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714375"/>
            <a:ext cx="16097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defPPr>
            <a:lvl1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1pPr>
            <a:lvl2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2pPr>
            <a:lvl3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3pPr>
            <a:lvl4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4pPr>
            <a:lvl5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5pPr>
            <a:lvl6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6pPr>
            <a:lvl7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7pPr>
            <a:lvl8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8pPr>
            <a:lvl9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9pPr>
          </a:lstStyle>
          <a:p xmlns:a="http://schemas.openxmlformats.org/drawingml/2006/main">
            <a: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pPr>
            <a:r>
              <a: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rPr>
              <a:t>Alcance de Avance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949C0C-0E99-4ACA-86BB-D1CAD6CD1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333625"/>
            <a:ext cx="15335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defPPr>
            <a:lvl1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1pPr>
            <a:lvl2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2pPr>
            <a:lvl3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3pPr>
            <a:lvl4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4pPr>
            <a:lvl5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5pPr>
            <a:lvl6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6pPr>
            <a:lvl7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7pPr>
            <a:lvl8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8pPr>
            <a:lvl9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pPr>
            <a:r>
              <a: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rPr>
              <a:t>VERIFICACIÓN Y DEVOPS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ACBE457-165F-43B6-A364-2C0FB6189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05125"/>
            <a:ext cx="153352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defPPr>
            <a:lvl1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1pPr>
            <a:lvl2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2pPr>
            <a:lvl3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3pPr>
            <a:lvl4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4pPr>
            <a:lvl5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5pPr>
            <a:lvl6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6pPr>
            <a:lvl7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7pPr>
            <a:lvl8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8pPr>
            <a:lvl9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pPr>
            <a:r>
              <a:rPr sz="2625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Pruebas, revisión estática, auditorías UX y monitoreo; la evidencia técnica conserva su procedencia.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A9AC7A-02BD-458D-8BAC-0B3C0F0D6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286250"/>
            <a:ext cx="15335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defPPr>
            <a:lvl1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1pPr>
            <a:lvl2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2pPr>
            <a:lvl3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3pPr>
            <a:lvl4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4pPr>
            <a:lvl5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5pPr>
            <a:lvl6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6pPr>
            <a:lvl7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7pPr>
            <a:lvl8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8pPr>
            <a:lvl9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pPr>
            <a:r>
              <a: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rPr>
              <a:t>PLANIFICACIÓN EXPERIMENTAL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7BA16D-EF10-41C3-9D59-471B6B352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57750"/>
            <a:ext cx="153352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defPPr>
            <a:lvl1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1pPr>
            <a:lvl2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2pPr>
            <a:lvl3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3pPr>
            <a:lvl4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4pPr>
            <a:lvl5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5pPr>
            <a:lvl6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6pPr>
            <a:lvl7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7pPr>
            <a:lvl8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8pPr>
            <a:lvl9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pPr>
            <a:r>
              <a:rPr sz="2625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Preguntas, hipótesis, diseño de medición y backlog To-Be hasta 8.3.2.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F99616-C28F-42CB-8F7B-19B89A615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6238875"/>
            <a:ext cx="15335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defPPr>
            <a:lvl1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1pPr>
            <a:lvl2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2pPr>
            <a:lvl3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3pPr>
            <a:lvl4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4pPr>
            <a:lvl5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5pPr>
            <a:lvl6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6pPr>
            <a:lvl7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7pPr>
            <a:lvl8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8pPr>
            <a:lvl9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pPr>
            <a:r>
              <a: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rPr>
              <a:t>LÍMITE DE ESTA PRESENTACIÓN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D3509C-15A5-4E89-A8AE-7B6402D37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6810375"/>
            <a:ext cx="153352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defPPr>
            <a:lvl1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1pPr>
            <a:lvl2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2pPr>
            <a:lvl3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3pPr>
            <a:lvl4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4pPr>
            <a:lvl5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5pPr>
            <a:lvl6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6pPr>
            <a:lvl7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7pPr>
            <a:lvl8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8pPr>
            <a:lvl9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pPr>
            <a:r>
              <a:rPr sz="2625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No incluye ejecución To-Be, análisis de resultados, shareback ni pre-launch de TB2.</a:t>
            </a:r>
          </a:p>
        </p:txBody>
      </p:sp>
    </p:spTree>
    <p:extLst>
      <p:ext uri="{BB962C8B-B14F-4D97-AF65-F5344CB8AC3E}">
        <p14:creationId xmlns:p14="http://schemas.microsoft.com/office/powerpoint/2010/main" val="58044553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33365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8FB1933F-CA80-4D9F-BAE2-C0C75A9C4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513912" y="0"/>
            <a:ext cx="7774088" cy="10287000"/>
          </a:xfrm>
          <a:custGeom xmlns:a="http://schemas.openxmlformats.org/drawingml/2006/main">
            <a:rect l="l" t="t" r="r" b="b"/>
            <a:pathLst>
              <a:path w="1238611" h="1643252">
                <a:moveTo>
                  <a:pt x="69518" y="0"/>
                </a:moveTo>
                <a:lnTo>
                  <a:pt x="1238612" y="51043"/>
                </a:lnTo>
                <a:lnTo>
                  <a:pt x="1169094" y="1643252"/>
                </a:lnTo>
                <a:lnTo>
                  <a:pt x="0" y="1592208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5fe7158d32334a4d"/>
            <a:stretch>
              <a:fillRect l="-43782" t="-1386" r="-68457" b="-5198"/>
            </a:stretch>
          </a:blipFill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5" name="TextBox 5">
            <a:extLst xmlns:a="http://schemas.openxmlformats.org/drawingml/2006/main">
              <a:ext uri="{FF2B5EF4-FFF2-40B4-BE49-F238E27FC236}">
                <a16:creationId xmlns:a16="http://schemas.microsoft.com/office/drawing/2014/main" id="{390F1AC6-FF3E-4EA4-BEDA-353126607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19150" y="3877178"/>
            <a:ext cx="8324850" cy="1117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Georgia Pro Light"/>
                <a:ea typeface="Georgia Pro Light"/>
                <a:cs typeface="Georgia Pro Light"/>
              </a:defRPr>
            </a:defPPr>
            <a:lvl1pPr>
              <a:defRPr>
                <a:latin typeface="Georgia Pro Light"/>
                <a:ea typeface="Georgia Pro Light"/>
                <a:cs typeface="Georgia Pro Light"/>
              </a:defRPr>
            </a:lvl1pPr>
            <a:lvl2pPr>
              <a:defRPr>
                <a:latin typeface="Georgia Pro Light"/>
                <a:ea typeface="Georgia Pro Light"/>
                <a:cs typeface="Georgia Pro Light"/>
              </a:defRPr>
            </a:lvl2pPr>
            <a:lvl3pPr>
              <a:defRPr>
                <a:latin typeface="Georgia Pro Light"/>
                <a:ea typeface="Georgia Pro Light"/>
                <a:cs typeface="Georgia Pro Light"/>
              </a:defRPr>
            </a:lvl3pPr>
            <a:lvl4pPr>
              <a:defRPr>
                <a:latin typeface="Georgia Pro Light"/>
                <a:ea typeface="Georgia Pro Light"/>
                <a:cs typeface="Georgia Pro Light"/>
              </a:defRPr>
            </a:lvl4pPr>
            <a:lvl5pPr>
              <a:defRPr>
                <a:latin typeface="Georgia Pro Light"/>
                <a:ea typeface="Georgia Pro Light"/>
                <a:cs typeface="Georgia Pro Light"/>
              </a:defRPr>
            </a:lvl5pPr>
            <a:lvl6pPr>
              <a:defRPr>
                <a:latin typeface="Georgia Pro Light"/>
                <a:ea typeface="Georgia Pro Light"/>
                <a:cs typeface="Georgia Pro Light"/>
              </a:defRPr>
            </a:lvl6pPr>
            <a:lvl7pPr>
              <a:defRPr>
                <a:latin typeface="Georgia Pro Light"/>
                <a:ea typeface="Georgia Pro Light"/>
                <a:cs typeface="Georgia Pro Light"/>
              </a:defRPr>
            </a:lvl7pPr>
            <a:lvl8pPr>
              <a:defRPr>
                <a:latin typeface="Georgia Pro Light"/>
                <a:ea typeface="Georgia Pro Light"/>
                <a:cs typeface="Georgia Pro Light"/>
              </a:defRPr>
            </a:lvl8pPr>
            <a:lvl9pPr>
              <a:defRPr>
                <a:latin typeface="Georgia Pro Light"/>
                <a:ea typeface="Georgia Pro Light"/>
                <a:cs typeface="Georgia Pro Light"/>
              </a:defRPr>
            </a:lvl9pPr>
          </a:lstStyle>
          <a:p xmlns:a="http://schemas.openxmlformats.org/drawingml/2006/main">
            <a:pPr marL="0" lvl="0" indent="0" algn="l">
              <a:lnSpc>
                <a:spcPts val="8800"/>
              </a:lnSpc>
              <a:buNone/>
              <a:defRPr>
                <a:latin typeface="Georgia Pro Light"/>
                <a:ea typeface="Georgia Pro Light"/>
                <a:cs typeface="Georgia Pro Light"/>
              </a:defRPr>
            </a:pPr>
            <a:r>
              <a:rPr sz="8000">
                <a:solidFill>
                  <a:srgbClr val="F5F6F7"/>
                </a:solidFill>
                <a:latin typeface="Georgia Pro Light"/>
                <a:ea typeface="Georgia Pro Light"/>
                <a:cs typeface="Georgia Pro Light"/>
              </a:rPr>
              <a:t>Problema</a:t>
            </a:r>
          </a:p>
        </p:txBody>
      </p:sp>
      <p:sp>
        <p:nvSpPr>
          <p:cNvPr id="6" name="TextBox 6">
            <a:extLst xmlns:a="http://schemas.openxmlformats.org/drawingml/2006/main">
              <a:ext uri="{FF2B5EF4-FFF2-40B4-BE49-F238E27FC236}">
                <a16:creationId xmlns:a16="http://schemas.microsoft.com/office/drawing/2014/main" id="{488123D0-0173-4D0B-96D8-E39B90777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19150" y="5363024"/>
            <a:ext cx="8324850" cy="11201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marL="0" lvl="0" indent="0" algn="l">
              <a:lnSpc>
                <a:spcPts val="2940"/>
              </a:lnSpc>
              <a:buNone/>
              <a:defRPr>
                <a:latin typeface="DM Sans"/>
                <a:ea typeface="DM Sans"/>
                <a:cs typeface="DM Sans"/>
              </a:defRPr>
            </a:pPr>
            <a:r>
              <a:rPr sz="2100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El </a:t>
            </a:r>
            <a:r>
              <a:rPr sz="2100" b="1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consumo energético poco visible</a:t>
            </a:r>
            <a:r>
              <a:rPr sz="2100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 lleva a decisiones reactivas y una gestión ineficiente. Los dispositivos dispersos complican la supervisión y dificultan la optimización del uso de la energía.</a:t>
            </a:r>
          </a:p>
        </p:txBody>
      </p:sp>
    </p:spTree>
    <p:extLst>
      <p:ext uri="{BB962C8B-B14F-4D97-AF65-F5344CB8AC3E}">
        <p14:creationId xmlns:p14="http://schemas.microsoft.com/office/powerpoint/2010/main" val="165536684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33365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605A9699-04D0-4A8B-8643-27973B721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734675" y="0"/>
            <a:ext cx="7553325" cy="10287000"/>
          </a:xfrm>
          <a:custGeom xmlns:a="http://schemas.openxmlformats.org/drawingml/2006/main">
            <a:rect l="l" t="t" r="r" b="b"/>
            <a:pathLst>
              <a:path w="1170208" h="1593725">
                <a:moveTo>
                  <a:pt x="0" y="0"/>
                </a:moveTo>
                <a:lnTo>
                  <a:pt x="1170208" y="0"/>
                </a:lnTo>
                <a:lnTo>
                  <a:pt x="1170208" y="1593725"/>
                </a:lnTo>
                <a:lnTo>
                  <a:pt x="0" y="1593725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aadc22e182384ca9"/>
            <a:stretch>
              <a:fillRect l="-58398" t="31" r="-56641" b="-5228"/>
            </a:stretch>
          </a:blipFill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5" name="TextBox 5">
            <a:extLst xmlns:a="http://schemas.openxmlformats.org/drawingml/2006/main">
              <a:ext uri="{FF2B5EF4-FFF2-40B4-BE49-F238E27FC236}">
                <a16:creationId xmlns:a16="http://schemas.microsoft.com/office/drawing/2014/main" id="{1D14EE4B-929D-458A-9ECF-1F564C269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19150" y="3877178"/>
            <a:ext cx="8324850" cy="1117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Georgia Pro Light"/>
                <a:ea typeface="Georgia Pro Light"/>
                <a:cs typeface="Georgia Pro Light"/>
              </a:defRPr>
            </a:defPPr>
            <a:lvl1pPr>
              <a:defRPr>
                <a:latin typeface="Georgia Pro Light"/>
                <a:ea typeface="Georgia Pro Light"/>
                <a:cs typeface="Georgia Pro Light"/>
              </a:defRPr>
            </a:lvl1pPr>
            <a:lvl2pPr>
              <a:defRPr>
                <a:latin typeface="Georgia Pro Light"/>
                <a:ea typeface="Georgia Pro Light"/>
                <a:cs typeface="Georgia Pro Light"/>
              </a:defRPr>
            </a:lvl2pPr>
            <a:lvl3pPr>
              <a:defRPr>
                <a:latin typeface="Georgia Pro Light"/>
                <a:ea typeface="Georgia Pro Light"/>
                <a:cs typeface="Georgia Pro Light"/>
              </a:defRPr>
            </a:lvl3pPr>
            <a:lvl4pPr>
              <a:defRPr>
                <a:latin typeface="Georgia Pro Light"/>
                <a:ea typeface="Georgia Pro Light"/>
                <a:cs typeface="Georgia Pro Light"/>
              </a:defRPr>
            </a:lvl4pPr>
            <a:lvl5pPr>
              <a:defRPr>
                <a:latin typeface="Georgia Pro Light"/>
                <a:ea typeface="Georgia Pro Light"/>
                <a:cs typeface="Georgia Pro Light"/>
              </a:defRPr>
            </a:lvl5pPr>
            <a:lvl6pPr>
              <a:defRPr>
                <a:latin typeface="Georgia Pro Light"/>
                <a:ea typeface="Georgia Pro Light"/>
                <a:cs typeface="Georgia Pro Light"/>
              </a:defRPr>
            </a:lvl6pPr>
            <a:lvl7pPr>
              <a:defRPr>
                <a:latin typeface="Georgia Pro Light"/>
                <a:ea typeface="Georgia Pro Light"/>
                <a:cs typeface="Georgia Pro Light"/>
              </a:defRPr>
            </a:lvl7pPr>
            <a:lvl8pPr>
              <a:defRPr>
                <a:latin typeface="Georgia Pro Light"/>
                <a:ea typeface="Georgia Pro Light"/>
                <a:cs typeface="Georgia Pro Light"/>
              </a:defRPr>
            </a:lvl8pPr>
            <a:lvl9pPr>
              <a:defRPr>
                <a:latin typeface="Georgia Pro Light"/>
                <a:ea typeface="Georgia Pro Light"/>
                <a:cs typeface="Georgia Pro Light"/>
              </a:defRPr>
            </a:lvl9pPr>
          </a:lstStyle>
          <a:p xmlns:a="http://schemas.openxmlformats.org/drawingml/2006/main">
            <a:pPr marL="0" lvl="0" indent="0" algn="l">
              <a:lnSpc>
                <a:spcPts val="8800"/>
              </a:lnSpc>
              <a:buNone/>
              <a:defRPr>
                <a:latin typeface="Georgia Pro Light"/>
                <a:ea typeface="Georgia Pro Light"/>
                <a:cs typeface="Georgia Pro Light"/>
              </a:defRPr>
            </a:pPr>
            <a:r>
              <a:rPr sz="8000">
                <a:solidFill>
                  <a:srgbClr val="F5F6F7"/>
                </a:solidFill>
                <a:latin typeface="Georgia Pro Light"/>
                <a:ea typeface="Georgia Pro Light"/>
                <a:cs typeface="Georgia Pro Light"/>
              </a:rPr>
              <a:t>Oportunidad</a:t>
            </a:r>
          </a:p>
        </p:txBody>
      </p:sp>
      <p:sp>
        <p:nvSpPr>
          <p:cNvPr id="6" name="TextBox 6">
            <a:extLst xmlns:a="http://schemas.openxmlformats.org/drawingml/2006/main">
              <a:ext uri="{FF2B5EF4-FFF2-40B4-BE49-F238E27FC236}">
                <a16:creationId xmlns:a16="http://schemas.microsoft.com/office/drawing/2014/main" id="{22ECE5B3-7CB8-4BEF-A401-4086F545B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19150" y="5363024"/>
            <a:ext cx="8324850" cy="11201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marL="0" lvl="0" indent="0" algn="l">
              <a:lnSpc>
                <a:spcPts val="2940"/>
              </a:lnSpc>
              <a:buNone/>
              <a:defRPr>
                <a:latin typeface="DM Sans"/>
                <a:ea typeface="DM Sans"/>
                <a:cs typeface="DM Sans"/>
              </a:defRPr>
            </a:pPr>
            <a:r>
              <a:rPr sz="2100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La </a:t>
            </a:r>
            <a:r>
              <a:rPr sz="2100" b="1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oportunidad radica en</a:t>
            </a:r>
            <a:r>
              <a:rPr sz="2100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 transformar las lecturas energéticas en información valiosa que permita a los usuarios tomar decisiones informadas y proactivas sobre su consumo.</a:t>
            </a:r>
          </a:p>
        </p:txBody>
      </p:sp>
    </p:spTree>
    <p:extLst>
      <p:ext uri="{BB962C8B-B14F-4D97-AF65-F5344CB8AC3E}">
        <p14:creationId xmlns:p14="http://schemas.microsoft.com/office/powerpoint/2010/main" val="124615554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33365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A8B99DD3-ED20-44D1-A3CA-2E6A279C0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309137" y="0"/>
            <a:ext cx="7978863" cy="10287000"/>
          </a:xfrm>
          <a:custGeom xmlns:a="http://schemas.openxmlformats.org/drawingml/2006/main">
            <a:rect l="l" t="t" r="r" b="b"/>
            <a:pathLst>
              <a:path w="1302062" h="1687856">
                <a:moveTo>
                  <a:pt x="0" y="99955"/>
                </a:moveTo>
                <a:lnTo>
                  <a:pt x="1165931" y="0"/>
                </a:lnTo>
                <a:lnTo>
                  <a:pt x="1302062" y="1587900"/>
                </a:lnTo>
                <a:lnTo>
                  <a:pt x="136131" y="1687856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268bf6761e174b63"/>
            <a:stretch>
              <a:fillRect l="-81835" t="-2701" r="-42292" b="-12492"/>
            </a:stretch>
          </a:blipFill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5" name="TextBox 5">
            <a:extLst xmlns:a="http://schemas.openxmlformats.org/drawingml/2006/main">
              <a:ext uri="{FF2B5EF4-FFF2-40B4-BE49-F238E27FC236}">
                <a16:creationId xmlns:a16="http://schemas.microsoft.com/office/drawing/2014/main" id="{A2D60516-556D-4E61-8343-AF51D207A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19150" y="3691441"/>
            <a:ext cx="8324850" cy="1117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Georgia Pro Light"/>
                <a:ea typeface="Georgia Pro Light"/>
                <a:cs typeface="Georgia Pro Light"/>
              </a:defRPr>
            </a:defPPr>
            <a:lvl1pPr>
              <a:defRPr>
                <a:latin typeface="Georgia Pro Light"/>
                <a:ea typeface="Georgia Pro Light"/>
                <a:cs typeface="Georgia Pro Light"/>
              </a:defRPr>
            </a:lvl1pPr>
            <a:lvl2pPr>
              <a:defRPr>
                <a:latin typeface="Georgia Pro Light"/>
                <a:ea typeface="Georgia Pro Light"/>
                <a:cs typeface="Georgia Pro Light"/>
              </a:defRPr>
            </a:lvl2pPr>
            <a:lvl3pPr>
              <a:defRPr>
                <a:latin typeface="Georgia Pro Light"/>
                <a:ea typeface="Georgia Pro Light"/>
                <a:cs typeface="Georgia Pro Light"/>
              </a:defRPr>
            </a:lvl3pPr>
            <a:lvl4pPr>
              <a:defRPr>
                <a:latin typeface="Georgia Pro Light"/>
                <a:ea typeface="Georgia Pro Light"/>
                <a:cs typeface="Georgia Pro Light"/>
              </a:defRPr>
            </a:lvl4pPr>
            <a:lvl5pPr>
              <a:defRPr>
                <a:latin typeface="Georgia Pro Light"/>
                <a:ea typeface="Georgia Pro Light"/>
                <a:cs typeface="Georgia Pro Light"/>
              </a:defRPr>
            </a:lvl5pPr>
            <a:lvl6pPr>
              <a:defRPr>
                <a:latin typeface="Georgia Pro Light"/>
                <a:ea typeface="Georgia Pro Light"/>
                <a:cs typeface="Georgia Pro Light"/>
              </a:defRPr>
            </a:lvl6pPr>
            <a:lvl7pPr>
              <a:defRPr>
                <a:latin typeface="Georgia Pro Light"/>
                <a:ea typeface="Georgia Pro Light"/>
                <a:cs typeface="Georgia Pro Light"/>
              </a:defRPr>
            </a:lvl7pPr>
            <a:lvl8pPr>
              <a:defRPr>
                <a:latin typeface="Georgia Pro Light"/>
                <a:ea typeface="Georgia Pro Light"/>
                <a:cs typeface="Georgia Pro Light"/>
              </a:defRPr>
            </a:lvl8pPr>
            <a:lvl9pPr>
              <a:defRPr>
                <a:latin typeface="Georgia Pro Light"/>
                <a:ea typeface="Georgia Pro Light"/>
                <a:cs typeface="Georgia Pro Light"/>
              </a:defRPr>
            </a:lvl9pPr>
          </a:lstStyle>
          <a:p xmlns:a="http://schemas.openxmlformats.org/drawingml/2006/main">
            <a:pPr marL="0" lvl="0" indent="0" algn="l">
              <a:lnSpc>
                <a:spcPts val="8800"/>
              </a:lnSpc>
              <a:buNone/>
              <a:defRPr>
                <a:latin typeface="Georgia Pro Light"/>
                <a:ea typeface="Georgia Pro Light"/>
                <a:cs typeface="Georgia Pro Light"/>
              </a:defRPr>
            </a:pPr>
            <a:r>
              <a:rPr sz="8000">
                <a:solidFill>
                  <a:srgbClr val="F5F6F7"/>
                </a:solidFill>
                <a:latin typeface="Georgia Pro Light"/>
                <a:ea typeface="Georgia Pro Light"/>
                <a:cs typeface="Georgia Pro Light"/>
              </a:rPr>
              <a:t>Propuesta de Valor</a:t>
            </a:r>
          </a:p>
        </p:txBody>
      </p:sp>
      <p:sp>
        <p:nvSpPr>
          <p:cNvPr id="6" name="TextBox 6">
            <a:extLst xmlns:a="http://schemas.openxmlformats.org/drawingml/2006/main">
              <a:ext uri="{FF2B5EF4-FFF2-40B4-BE49-F238E27FC236}">
                <a16:creationId xmlns:a16="http://schemas.microsoft.com/office/drawing/2014/main" id="{BF466496-540B-4194-83AC-55A03FA39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19150" y="5177287"/>
            <a:ext cx="8324850" cy="14935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marL="0" lvl="0" indent="0" algn="l">
              <a:lnSpc>
                <a:spcPts val="2940"/>
              </a:lnSpc>
              <a:buNone/>
              <a:defRPr>
                <a:latin typeface="DM Sans"/>
                <a:ea typeface="DM Sans"/>
                <a:cs typeface="DM Sans"/>
              </a:defRPr>
            </a:pPr>
            <a:r>
              <a:rPr sz="2100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La propuesta de valor de EnergyCore se centra en </a:t>
            </a:r>
            <a:r>
              <a:rPr sz="2100" b="1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centralizar</a:t>
            </a:r>
            <a:r>
              <a:rPr sz="2100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 espacios y dispositivos para </a:t>
            </a:r>
            <a:r>
              <a:rPr sz="2100" b="1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visualizar</a:t>
            </a:r>
            <a:r>
              <a:rPr sz="2100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 el consumo energético y </a:t>
            </a:r>
            <a:r>
              <a:rPr sz="2100" b="1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automatizar</a:t>
            </a:r>
            <a:r>
              <a:rPr sz="2100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 decisiones, mejorando así la eficiencia en el uso de energía.</a:t>
            </a:r>
          </a:p>
        </p:txBody>
      </p:sp>
    </p:spTree>
    <p:extLst>
      <p:ext uri="{BB962C8B-B14F-4D97-AF65-F5344CB8AC3E}">
        <p14:creationId xmlns:p14="http://schemas.microsoft.com/office/powerpoint/2010/main" val="210794871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33365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AutoShape 2">
            <a:extLst xmlns:a="http://schemas.openxmlformats.org/drawingml/2006/main">
              <a:ext uri="{FF2B5EF4-FFF2-40B4-BE49-F238E27FC236}">
                <a16:creationId xmlns:a16="http://schemas.microsoft.com/office/drawing/2014/main" id="{BAAC75BC-DE60-4375-B0AA-2855266A9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0" y="0"/>
            <a:ext cx="10734675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213B"/>
          </a:solidFill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3" name="TextBox 3">
            <a:extLst xmlns:a="http://schemas.openxmlformats.org/drawingml/2006/main">
              <a:ext uri="{FF2B5EF4-FFF2-40B4-BE49-F238E27FC236}">
                <a16:creationId xmlns:a16="http://schemas.microsoft.com/office/drawing/2014/main" id="{BC91768D-D80D-4A8B-BCCF-ECE6E9392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733425"/>
            <a:ext cx="9763125" cy="1117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Georgia Pro Light"/>
                <a:ea typeface="Georgia Pro Light"/>
                <a:cs typeface="Georgia Pro Light"/>
              </a:defRPr>
            </a:defPPr>
            <a:lvl1pPr>
              <a:defRPr>
                <a:latin typeface="Georgia Pro Light"/>
                <a:ea typeface="Georgia Pro Light"/>
                <a:cs typeface="Georgia Pro Light"/>
              </a:defRPr>
            </a:lvl1pPr>
            <a:lvl2pPr>
              <a:defRPr>
                <a:latin typeface="Georgia Pro Light"/>
                <a:ea typeface="Georgia Pro Light"/>
                <a:cs typeface="Georgia Pro Light"/>
              </a:defRPr>
            </a:lvl2pPr>
            <a:lvl3pPr>
              <a:defRPr>
                <a:latin typeface="Georgia Pro Light"/>
                <a:ea typeface="Georgia Pro Light"/>
                <a:cs typeface="Georgia Pro Light"/>
              </a:defRPr>
            </a:lvl3pPr>
            <a:lvl4pPr>
              <a:defRPr>
                <a:latin typeface="Georgia Pro Light"/>
                <a:ea typeface="Georgia Pro Light"/>
                <a:cs typeface="Georgia Pro Light"/>
              </a:defRPr>
            </a:lvl4pPr>
            <a:lvl5pPr>
              <a:defRPr>
                <a:latin typeface="Georgia Pro Light"/>
                <a:ea typeface="Georgia Pro Light"/>
                <a:cs typeface="Georgia Pro Light"/>
              </a:defRPr>
            </a:lvl5pPr>
            <a:lvl6pPr>
              <a:defRPr>
                <a:latin typeface="Georgia Pro Light"/>
                <a:ea typeface="Georgia Pro Light"/>
                <a:cs typeface="Georgia Pro Light"/>
              </a:defRPr>
            </a:lvl6pPr>
            <a:lvl7pPr>
              <a:defRPr>
                <a:latin typeface="Georgia Pro Light"/>
                <a:ea typeface="Georgia Pro Light"/>
                <a:cs typeface="Georgia Pro Light"/>
              </a:defRPr>
            </a:lvl7pPr>
            <a:lvl8pPr>
              <a:defRPr>
                <a:latin typeface="Georgia Pro Light"/>
                <a:ea typeface="Georgia Pro Light"/>
                <a:cs typeface="Georgia Pro Light"/>
              </a:defRPr>
            </a:lvl8pPr>
            <a:lvl9pPr>
              <a:defRPr>
                <a:latin typeface="Georgia Pro Light"/>
                <a:ea typeface="Georgia Pro Light"/>
                <a:cs typeface="Georgia Pro Light"/>
              </a:defRPr>
            </a:lvl9pPr>
          </a:lstStyle>
          <a:p xmlns:a="http://schemas.openxmlformats.org/drawingml/2006/main">
            <a:pPr marL="0" lvl="0" indent="0" algn="l">
              <a:lnSpc>
                <a:spcPts val="8800"/>
              </a:lnSpc>
              <a:spcBef>
                <a:spcPct val="0"/>
              </a:spcBef>
              <a:buNone/>
              <a:defRPr>
                <a:latin typeface="Georgia Pro Light"/>
                <a:ea typeface="Georgia Pro Light"/>
                <a:cs typeface="Georgia Pro Light"/>
              </a:defRPr>
            </a:pPr>
            <a:r>
              <a:rPr sz="8000">
                <a:solidFill>
                  <a:srgbClr val="F5F6F7"/>
                </a:solidFill>
                <a:latin typeface="Georgia Pro Light"/>
                <a:ea typeface="Georgia Pro Light"/>
                <a:cs typeface="Georgia Pro Light"/>
              </a:rPr>
              <a:t>Público Objetivo</a:t>
            </a:r>
          </a:p>
        </p:txBody>
      </p:sp>
      <p:sp>
        <p:nvSpPr>
          <p:cNvPr id="5" name="TextBox 5">
            <a:extLst xmlns:a="http://schemas.openxmlformats.org/drawingml/2006/main">
              <a:ext uri="{FF2B5EF4-FFF2-40B4-BE49-F238E27FC236}">
                <a16:creationId xmlns:a16="http://schemas.microsoft.com/office/drawing/2014/main" id="{518EACD3-C212-4708-9B06-4CCF587C0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6750" y="4750490"/>
            <a:ext cx="4010025" cy="3733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marL="0" lvl="0" indent="0" algn="l">
              <a:lnSpc>
                <a:spcPts val="2940"/>
              </a:lnSpc>
              <a:buNone/>
              <a:defRPr>
                <a:latin typeface="DM Sans"/>
                <a:ea typeface="DM Sans"/>
                <a:cs typeface="DM Sans"/>
              </a:defRPr>
            </a:pPr>
            <a:r>
              <a:rPr sz="2100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Energía eficiente</a:t>
            </a:r>
          </a:p>
        </p:txBody>
      </p:sp>
      <p:sp>
        <p:nvSpPr>
          <p:cNvPr id="6" name="TextBox 6">
            <a:extLst xmlns:a="http://schemas.openxmlformats.org/drawingml/2006/main">
              <a:ext uri="{FF2B5EF4-FFF2-40B4-BE49-F238E27FC236}">
                <a16:creationId xmlns:a16="http://schemas.microsoft.com/office/drawing/2014/main" id="{231D5E11-1760-4A15-A972-631E7A7FE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6750" y="4212432"/>
            <a:ext cx="4010025" cy="4622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 Bold"/>
                <a:ea typeface="DM Sans Bold"/>
                <a:cs typeface="DM Sans Bold"/>
              </a:defRPr>
            </a:defPPr>
            <a:lvl1pPr>
              <a:defRPr>
                <a:latin typeface="DM Sans Bold"/>
                <a:ea typeface="DM Sans Bold"/>
                <a:cs typeface="DM Sans Bold"/>
              </a:defRPr>
            </a:lvl1pPr>
            <a:lvl2pPr>
              <a:defRPr>
                <a:latin typeface="DM Sans Bold"/>
                <a:ea typeface="DM Sans Bold"/>
                <a:cs typeface="DM Sans Bold"/>
              </a:defRPr>
            </a:lvl2pPr>
            <a:lvl3pPr>
              <a:defRPr>
                <a:latin typeface="DM Sans Bold"/>
                <a:ea typeface="DM Sans Bold"/>
                <a:cs typeface="DM Sans Bold"/>
              </a:defRPr>
            </a:lvl3pPr>
            <a:lvl4pPr>
              <a:defRPr>
                <a:latin typeface="DM Sans Bold"/>
                <a:ea typeface="DM Sans Bold"/>
                <a:cs typeface="DM Sans Bold"/>
              </a:defRPr>
            </a:lvl4pPr>
            <a:lvl5pPr>
              <a:defRPr>
                <a:latin typeface="DM Sans Bold"/>
                <a:ea typeface="DM Sans Bold"/>
                <a:cs typeface="DM Sans Bold"/>
              </a:defRPr>
            </a:lvl5pPr>
            <a:lvl6pPr>
              <a:defRPr>
                <a:latin typeface="DM Sans Bold"/>
                <a:ea typeface="DM Sans Bold"/>
                <a:cs typeface="DM Sans Bold"/>
              </a:defRPr>
            </a:lvl6pPr>
            <a:lvl7pPr>
              <a:defRPr>
                <a:latin typeface="DM Sans Bold"/>
                <a:ea typeface="DM Sans Bold"/>
                <a:cs typeface="DM Sans Bold"/>
              </a:defRPr>
            </a:lvl7pPr>
            <a:lvl8pPr>
              <a:defRPr>
                <a:latin typeface="DM Sans Bold"/>
                <a:ea typeface="DM Sans Bold"/>
                <a:cs typeface="DM Sans Bold"/>
              </a:defRPr>
            </a:lvl8pPr>
            <a:lvl9pPr>
              <a:defRPr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 marL="0" lvl="0" indent="0" algn="l">
              <a:lnSpc>
                <a:spcPts val="3640"/>
              </a:lnSpc>
              <a:buNone/>
              <a:defRPr>
                <a:latin typeface="DM Sans Bold"/>
                <a:ea typeface="DM Sans Bold"/>
                <a:cs typeface="DM Sans Bold"/>
              </a:defRPr>
            </a:pPr>
            <a:r>
              <a:rPr sz="2600" b="1">
                <a:solidFill>
                  <a:srgbClr val="F5F6F7"/>
                </a:solidFill>
                <a:latin typeface="DM Sans Bold"/>
                <a:ea typeface="DM Sans Bold"/>
                <a:cs typeface="DM Sans Bold"/>
              </a:rPr>
              <a:t>HOGARES MODERNOS</a:t>
            </a:r>
          </a:p>
        </p:txBody>
      </p:sp>
      <p:sp>
        <p:nvSpPr>
          <p:cNvPr id="8" name="TextBox 8">
            <a:extLst xmlns:a="http://schemas.openxmlformats.org/drawingml/2006/main">
              <a:ext uri="{FF2B5EF4-FFF2-40B4-BE49-F238E27FC236}">
                <a16:creationId xmlns:a16="http://schemas.microsoft.com/office/drawing/2014/main" id="{19F8D6FC-12D4-4FC8-A722-04D8ED8D0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6750" y="6551788"/>
            <a:ext cx="4010025" cy="3733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marL="0" lvl="0" indent="0" algn="l">
              <a:lnSpc>
                <a:spcPts val="2940"/>
              </a:lnSpc>
              <a:buNone/>
              <a:defRPr>
                <a:latin typeface="DM Sans"/>
                <a:ea typeface="DM Sans"/>
                <a:cs typeface="DM Sans"/>
              </a:defRPr>
            </a:pPr>
            <a:r>
              <a:rPr sz="2100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Ahorro energético</a:t>
            </a:r>
          </a:p>
        </p:txBody>
      </p:sp>
      <p:sp>
        <p:nvSpPr>
          <p:cNvPr id="9" name="TextBox 9">
            <a:extLst xmlns:a="http://schemas.openxmlformats.org/drawingml/2006/main">
              <a:ext uri="{FF2B5EF4-FFF2-40B4-BE49-F238E27FC236}">
                <a16:creationId xmlns:a16="http://schemas.microsoft.com/office/drawing/2014/main" id="{90A00916-124F-4686-8AEF-9302BB147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6750" y="6013730"/>
            <a:ext cx="4010025" cy="4622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 Bold"/>
                <a:ea typeface="DM Sans Bold"/>
                <a:cs typeface="DM Sans Bold"/>
              </a:defRPr>
            </a:defPPr>
            <a:lvl1pPr>
              <a:defRPr>
                <a:latin typeface="DM Sans Bold"/>
                <a:ea typeface="DM Sans Bold"/>
                <a:cs typeface="DM Sans Bold"/>
              </a:defRPr>
            </a:lvl1pPr>
            <a:lvl2pPr>
              <a:defRPr>
                <a:latin typeface="DM Sans Bold"/>
                <a:ea typeface="DM Sans Bold"/>
                <a:cs typeface="DM Sans Bold"/>
              </a:defRPr>
            </a:lvl2pPr>
            <a:lvl3pPr>
              <a:defRPr>
                <a:latin typeface="DM Sans Bold"/>
                <a:ea typeface="DM Sans Bold"/>
                <a:cs typeface="DM Sans Bold"/>
              </a:defRPr>
            </a:lvl3pPr>
            <a:lvl4pPr>
              <a:defRPr>
                <a:latin typeface="DM Sans Bold"/>
                <a:ea typeface="DM Sans Bold"/>
                <a:cs typeface="DM Sans Bold"/>
              </a:defRPr>
            </a:lvl4pPr>
            <a:lvl5pPr>
              <a:defRPr>
                <a:latin typeface="DM Sans Bold"/>
                <a:ea typeface="DM Sans Bold"/>
                <a:cs typeface="DM Sans Bold"/>
              </a:defRPr>
            </a:lvl5pPr>
            <a:lvl6pPr>
              <a:defRPr>
                <a:latin typeface="DM Sans Bold"/>
                <a:ea typeface="DM Sans Bold"/>
                <a:cs typeface="DM Sans Bold"/>
              </a:defRPr>
            </a:lvl6pPr>
            <a:lvl7pPr>
              <a:defRPr>
                <a:latin typeface="DM Sans Bold"/>
                <a:ea typeface="DM Sans Bold"/>
                <a:cs typeface="DM Sans Bold"/>
              </a:defRPr>
            </a:lvl7pPr>
            <a:lvl8pPr>
              <a:defRPr>
                <a:latin typeface="DM Sans Bold"/>
                <a:ea typeface="DM Sans Bold"/>
                <a:cs typeface="DM Sans Bold"/>
              </a:defRPr>
            </a:lvl8pPr>
            <a:lvl9pPr>
              <a:defRPr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 marL="0" lvl="0" indent="0" algn="l">
              <a:lnSpc>
                <a:spcPts val="3640"/>
              </a:lnSpc>
              <a:buNone/>
              <a:defRPr>
                <a:latin typeface="DM Sans Bold"/>
                <a:ea typeface="DM Sans Bold"/>
                <a:cs typeface="DM Sans Bold"/>
              </a:defRPr>
            </a:pPr>
            <a:r>
              <a:rPr sz="2600" b="1">
                <a:solidFill>
                  <a:srgbClr val="F5F6F7"/>
                </a:solidFill>
                <a:latin typeface="DM Sans Bold"/>
                <a:ea typeface="DM Sans Bold"/>
                <a:cs typeface="DM Sans Bold"/>
              </a:rPr>
              <a:t>PEQUEÑOS NEGOCIOS</a:t>
            </a:r>
          </a:p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A2C2D726-13B2-4947-810F-EF27CD592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6750" y="8789090"/>
            <a:ext cx="4010025" cy="3733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marL="0" lvl="0" indent="0" algn="l">
              <a:lnSpc>
                <a:spcPts val="2940"/>
              </a:lnSpc>
              <a:buNone/>
              <a:defRPr>
                <a:latin typeface="DM Sans"/>
                <a:ea typeface="DM Sans"/>
                <a:cs typeface="DM Sans"/>
              </a:defRPr>
            </a:pPr>
            <a:r>
              <a:rPr sz="2100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Gestión centralizada</a:t>
            </a:r>
          </a:p>
        </p:txBody>
      </p:sp>
      <p:sp>
        <p:nvSpPr>
          <p:cNvPr id="12" name="TextBox 12">
            <a:extLst xmlns:a="http://schemas.openxmlformats.org/drawingml/2006/main">
              <a:ext uri="{FF2B5EF4-FFF2-40B4-BE49-F238E27FC236}">
                <a16:creationId xmlns:a16="http://schemas.microsoft.com/office/drawing/2014/main" id="{CF0E780B-9A8D-41DE-BF20-40E802CC7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6750" y="7793832"/>
            <a:ext cx="4010025" cy="9245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 Bold"/>
                <a:ea typeface="DM Sans Bold"/>
                <a:cs typeface="DM Sans Bold"/>
              </a:defRPr>
            </a:defPPr>
            <a:lvl1pPr>
              <a:defRPr>
                <a:latin typeface="DM Sans Bold"/>
                <a:ea typeface="DM Sans Bold"/>
                <a:cs typeface="DM Sans Bold"/>
              </a:defRPr>
            </a:lvl1pPr>
            <a:lvl2pPr>
              <a:defRPr>
                <a:latin typeface="DM Sans Bold"/>
                <a:ea typeface="DM Sans Bold"/>
                <a:cs typeface="DM Sans Bold"/>
              </a:defRPr>
            </a:lvl2pPr>
            <a:lvl3pPr>
              <a:defRPr>
                <a:latin typeface="DM Sans Bold"/>
                <a:ea typeface="DM Sans Bold"/>
                <a:cs typeface="DM Sans Bold"/>
              </a:defRPr>
            </a:lvl3pPr>
            <a:lvl4pPr>
              <a:defRPr>
                <a:latin typeface="DM Sans Bold"/>
                <a:ea typeface="DM Sans Bold"/>
                <a:cs typeface="DM Sans Bold"/>
              </a:defRPr>
            </a:lvl4pPr>
            <a:lvl5pPr>
              <a:defRPr>
                <a:latin typeface="DM Sans Bold"/>
                <a:ea typeface="DM Sans Bold"/>
                <a:cs typeface="DM Sans Bold"/>
              </a:defRPr>
            </a:lvl5pPr>
            <a:lvl6pPr>
              <a:defRPr>
                <a:latin typeface="DM Sans Bold"/>
                <a:ea typeface="DM Sans Bold"/>
                <a:cs typeface="DM Sans Bold"/>
              </a:defRPr>
            </a:lvl6pPr>
            <a:lvl7pPr>
              <a:defRPr>
                <a:latin typeface="DM Sans Bold"/>
                <a:ea typeface="DM Sans Bold"/>
                <a:cs typeface="DM Sans Bold"/>
              </a:defRPr>
            </a:lvl7pPr>
            <a:lvl8pPr>
              <a:defRPr>
                <a:latin typeface="DM Sans Bold"/>
                <a:ea typeface="DM Sans Bold"/>
                <a:cs typeface="DM Sans Bold"/>
              </a:defRPr>
            </a:lvl8pPr>
            <a:lvl9pPr>
              <a:defRPr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 marL="0" lvl="0" indent="0" algn="l">
              <a:lnSpc>
                <a:spcPts val="3640"/>
              </a:lnSpc>
              <a:buNone/>
              <a:defRPr>
                <a:latin typeface="DM Sans Bold"/>
                <a:ea typeface="DM Sans Bold"/>
                <a:cs typeface="DM Sans Bold"/>
              </a:defRPr>
            </a:pPr>
            <a:r>
              <a:rPr sz="2600" b="1">
                <a:solidFill>
                  <a:srgbClr val="F5F6F7"/>
                </a:solidFill>
                <a:latin typeface="DM Sans Bold"/>
                <a:ea typeface="DM Sans Bold"/>
                <a:cs typeface="DM Sans Bold"/>
              </a:rPr>
              <a:t>ADMINISTRADORES DE ESPACIOS</a:t>
            </a:r>
          </a:p>
        </p:txBody>
      </p:sp>
      <p:sp>
        <p:nvSpPr>
          <p:cNvPr id="14" name="Freeform 14">
            <a:extLst xmlns:a="http://schemas.openxmlformats.org/drawingml/2006/main">
              <a:ext uri="{FF2B5EF4-FFF2-40B4-BE49-F238E27FC236}">
                <a16:creationId xmlns:a16="http://schemas.microsoft.com/office/drawing/2014/main" id="{B19E2C9D-DD44-4B78-81AC-FA8925B5A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30000" flipH="0" flipV="0">
            <a:off x="13583954" y="3335424"/>
            <a:ext cx="4064567" cy="6302202"/>
          </a:xfrm>
          <a:custGeom xmlns:a="http://schemas.openxmlformats.org/drawingml/2006/main">
            <a:rect l="l" t="t" r="r" b="b"/>
            <a:pathLst>
              <a:path w="629708" h="976376">
                <a:moveTo>
                  <a:pt x="8474" y="0"/>
                </a:moveTo>
                <a:lnTo>
                  <a:pt x="629708" y="5421"/>
                </a:lnTo>
                <a:lnTo>
                  <a:pt x="621234" y="976376"/>
                </a:lnTo>
                <a:lnTo>
                  <a:pt x="0" y="970955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8d0f600288e94870"/>
            <a:stretch>
              <a:fillRect l="-100963" t="-3313" r="-68259" b="-12369"/>
            </a:stretch>
          </a:blipFill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16" name="Freeform 16">
            <a:extLst xmlns:a="http://schemas.openxmlformats.org/drawingml/2006/main">
              <a:ext uri="{FF2B5EF4-FFF2-40B4-BE49-F238E27FC236}">
                <a16:creationId xmlns:a16="http://schemas.microsoft.com/office/drawing/2014/main" id="{73CA31F7-0918-454E-8A6B-D5AF2E257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296400" y="3352800"/>
            <a:ext cx="4010025" cy="6267450"/>
          </a:xfrm>
          <a:custGeom xmlns:a="http://schemas.openxmlformats.org/drawingml/2006/main">
            <a:rect l="l" t="t" r="r" b="b"/>
            <a:pathLst>
              <a:path w="621258" h="970992">
                <a:moveTo>
                  <a:pt x="0" y="0"/>
                </a:moveTo>
                <a:lnTo>
                  <a:pt x="621258" y="0"/>
                </a:lnTo>
                <a:lnTo>
                  <a:pt x="621258" y="970992"/>
                </a:lnTo>
                <a:lnTo>
                  <a:pt x="0" y="970992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cfb4eb0b46894317"/>
            <a:stretch>
              <a:fillRect l="-32748" t="-31" r="-108943" b="-3190"/>
            </a:stretch>
          </a:blipFill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18" name="Freeform 18">
            <a:extLst xmlns:a="http://schemas.openxmlformats.org/drawingml/2006/main">
              <a:ext uri="{FF2B5EF4-FFF2-40B4-BE49-F238E27FC236}">
                <a16:creationId xmlns:a16="http://schemas.microsoft.com/office/drawing/2014/main" id="{87B1CC02-9C6C-4BC6-8227-3F68972B1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72000" flipH="0" flipV="0">
            <a:off x="4916390" y="3311497"/>
            <a:ext cx="4140396" cy="6350057"/>
          </a:xfrm>
          <a:custGeom xmlns:a="http://schemas.openxmlformats.org/drawingml/2006/main">
            <a:rect l="l" t="t" r="r" b="b"/>
            <a:pathLst>
              <a:path w="641456" h="983790">
                <a:moveTo>
                  <a:pt x="0" y="13011"/>
                </a:moveTo>
                <a:lnTo>
                  <a:pt x="621121" y="0"/>
                </a:lnTo>
                <a:lnTo>
                  <a:pt x="641456" y="970779"/>
                </a:lnTo>
                <a:lnTo>
                  <a:pt x="20335" y="98379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af0c1d0b826a41dc"/>
            <a:stretch>
              <a:fillRect l="-110555" t="-10646" r="-110734" b="-7190"/>
            </a:stretch>
          </a:blipFill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178499321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33365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DCEF3118-99D2-4AD9-9079-0F8D0FF3D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82650" y="2205322"/>
            <a:ext cx="1428750" cy="1428750"/>
          </a:xfrm>
          <a:custGeom xmlns:a="http://schemas.openxmlformats.org/drawingml/2006/main">
            <a:rect l="l" t="t" r="r" b="b"/>
            <a:pathLst>
              <a:path w="1428750" h="1428750">
                <a:moveTo>
                  <a:pt x="0" y="0"/>
                </a:moveTo>
                <a:lnTo>
                  <a:pt x="1428750" y="0"/>
                </a:lnTo>
                <a:lnTo>
                  <a:pt x="1428750" y="1428750"/>
                </a:lnTo>
                <a:lnTo>
                  <a:pt x="0" y="1428750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CFB45D41-8299-4410-A549-49EF24D83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69679" flipH="0" flipV="0">
            <a:off x="9296400" y="1848135"/>
            <a:ext cx="1428750" cy="1785937"/>
          </a:xfrm>
          <a:custGeom xmlns:a="http://schemas.openxmlformats.org/drawingml/2006/main">
            <a:rect l="l" t="t" r="r" b="b"/>
            <a:pathLst>
              <a:path w="1428750" h="1785937">
                <a:moveTo>
                  <a:pt x="0" y="0"/>
                </a:moveTo>
                <a:lnTo>
                  <a:pt x="1428750" y="0"/>
                </a:lnTo>
                <a:lnTo>
                  <a:pt x="1428750" y="1785937"/>
                </a:lnTo>
                <a:lnTo>
                  <a:pt x="0" y="1785937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0C19F40A-3D78-4431-92F5-929D2313E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762000" y="6191250"/>
            <a:ext cx="1428750" cy="842962"/>
          </a:xfrm>
          <a:custGeom xmlns:a="http://schemas.openxmlformats.org/drawingml/2006/main">
            <a:rect l="l" t="t" r="r" b="b"/>
            <a:pathLst>
              <a:path w="1428750" h="842962">
                <a:moveTo>
                  <a:pt x="0" y="0"/>
                </a:moveTo>
                <a:lnTo>
                  <a:pt x="1428750" y="0"/>
                </a:lnTo>
                <a:lnTo>
                  <a:pt x="1428750" y="842962"/>
                </a:lnTo>
                <a:lnTo>
                  <a:pt x="0" y="842962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8A50A6CE-46F5-473C-AAEA-62F3BAE78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296400" y="6001941"/>
            <a:ext cx="1428750" cy="1221581"/>
          </a:xfrm>
          <a:custGeom xmlns:a="http://schemas.openxmlformats.org/drawingml/2006/main">
            <a:rect l="l" t="t" r="r" b="b"/>
            <a:pathLst>
              <a:path w="1428750" h="1221581">
                <a:moveTo>
                  <a:pt x="0" y="0"/>
                </a:moveTo>
                <a:lnTo>
                  <a:pt x="1428750" y="0"/>
                </a:lnTo>
                <a:lnTo>
                  <a:pt x="1428750" y="1221581"/>
                </a:lnTo>
                <a:lnTo>
                  <a:pt x="0" y="1221581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7" name="TextBox 7">
            <a:extLst xmlns:a="http://schemas.openxmlformats.org/drawingml/2006/main">
              <a:ext uri="{FF2B5EF4-FFF2-40B4-BE49-F238E27FC236}">
                <a16:creationId xmlns:a16="http://schemas.microsoft.com/office/drawing/2014/main" id="{627EEC08-52C9-4AE8-8858-4B84FE790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6750" y="8151971"/>
            <a:ext cx="7191375" cy="14935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marL="0" lvl="0" indent="0" algn="l">
              <a:lnSpc>
                <a:spcPts val="2940"/>
              </a:lnSpc>
              <a:buNone/>
              <a:defRPr>
                <a:latin typeface="DM Sans"/>
                <a:ea typeface="DM Sans"/>
                <a:cs typeface="DM Sans"/>
              </a:defRPr>
            </a:pPr>
            <a:r>
              <a:rPr sz="2100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El </a:t>
            </a:r>
            <a:r>
              <a:rPr sz="2100" b="1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dashboard</a:t>
            </a:r>
            <a:r>
              <a:rPr sz="2100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 proporcionará un resumen claro del consumo energético, mostrando indicadores claves y tendencias, lo que permitirá a los usuarios tomar decisiones informadas.</a:t>
            </a:r>
          </a:p>
        </p:txBody>
      </p:sp>
      <p:sp>
        <p:nvSpPr>
          <p:cNvPr id="8" name="TextBox 8">
            <a:extLst xmlns:a="http://schemas.openxmlformats.org/drawingml/2006/main">
              <a:ext uri="{FF2B5EF4-FFF2-40B4-BE49-F238E27FC236}">
                <a16:creationId xmlns:a16="http://schemas.microsoft.com/office/drawing/2014/main" id="{24848AE4-8AF9-445F-AC20-232B5269E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6750" y="7260432"/>
            <a:ext cx="7191375" cy="4622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 Bold"/>
                <a:ea typeface="DM Sans Bold"/>
                <a:cs typeface="DM Sans Bold"/>
              </a:defRPr>
            </a:defPPr>
            <a:lvl1pPr>
              <a:defRPr>
                <a:latin typeface="DM Sans Bold"/>
                <a:ea typeface="DM Sans Bold"/>
                <a:cs typeface="DM Sans Bold"/>
              </a:defRPr>
            </a:lvl1pPr>
            <a:lvl2pPr>
              <a:defRPr>
                <a:latin typeface="DM Sans Bold"/>
                <a:ea typeface="DM Sans Bold"/>
                <a:cs typeface="DM Sans Bold"/>
              </a:defRPr>
            </a:lvl2pPr>
            <a:lvl3pPr>
              <a:defRPr>
                <a:latin typeface="DM Sans Bold"/>
                <a:ea typeface="DM Sans Bold"/>
                <a:cs typeface="DM Sans Bold"/>
              </a:defRPr>
            </a:lvl3pPr>
            <a:lvl4pPr>
              <a:defRPr>
                <a:latin typeface="DM Sans Bold"/>
                <a:ea typeface="DM Sans Bold"/>
                <a:cs typeface="DM Sans Bold"/>
              </a:defRPr>
            </a:lvl4pPr>
            <a:lvl5pPr>
              <a:defRPr>
                <a:latin typeface="DM Sans Bold"/>
                <a:ea typeface="DM Sans Bold"/>
                <a:cs typeface="DM Sans Bold"/>
              </a:defRPr>
            </a:lvl5pPr>
            <a:lvl6pPr>
              <a:defRPr>
                <a:latin typeface="DM Sans Bold"/>
                <a:ea typeface="DM Sans Bold"/>
                <a:cs typeface="DM Sans Bold"/>
              </a:defRPr>
            </a:lvl6pPr>
            <a:lvl7pPr>
              <a:defRPr>
                <a:latin typeface="DM Sans Bold"/>
                <a:ea typeface="DM Sans Bold"/>
                <a:cs typeface="DM Sans Bold"/>
              </a:defRPr>
            </a:lvl7pPr>
            <a:lvl8pPr>
              <a:defRPr>
                <a:latin typeface="DM Sans Bold"/>
                <a:ea typeface="DM Sans Bold"/>
                <a:cs typeface="DM Sans Bold"/>
              </a:defRPr>
            </a:lvl8pPr>
            <a:lvl9pPr>
              <a:defRPr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 marL="0" lvl="0" indent="0" algn="l">
              <a:lnSpc>
                <a:spcPts val="3640"/>
              </a:lnSpc>
              <a:buNone/>
              <a:defRPr>
                <a:latin typeface="DM Sans Bold"/>
                <a:ea typeface="DM Sans Bold"/>
                <a:cs typeface="DM Sans Bold"/>
              </a:defRPr>
            </a:pPr>
            <a:r>
              <a:rPr sz="2600" b="1">
                <a:solidFill>
                  <a:srgbClr val="F5F6F7"/>
                </a:solidFill>
                <a:latin typeface="DM Sans Bold"/>
                <a:ea typeface="DM Sans Bold"/>
                <a:cs typeface="DM Sans Bold"/>
              </a:rPr>
              <a:t>DASHBOARD</a:t>
            </a:r>
          </a:p>
        </p:txBody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37607D2D-89DE-443E-A31D-F2BE6B078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278448" y="8151971"/>
            <a:ext cx="7191375" cy="14935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marL="0" lvl="0" indent="0" algn="l">
              <a:lnSpc>
                <a:spcPts val="2940"/>
              </a:lnSpc>
              <a:buNone/>
              <a:defRPr>
                <a:latin typeface="DM Sans"/>
                <a:ea typeface="DM Sans"/>
                <a:cs typeface="DM Sans"/>
              </a:defRPr>
            </a:pPr>
            <a:r>
              <a:rPr sz="2100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La </a:t>
            </a:r>
            <a:r>
              <a:rPr sz="2100" b="1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API documentada</a:t>
            </a:r>
            <a:r>
              <a:rPr sz="2100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 ofrecerá un inventario detallado de todos los endpoints, facilitando la integración con sistemas externos y garantizando una comunicación eficiente entre componentes.</a:t>
            </a:r>
          </a:p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A697F0A1-76C7-4BBD-AC9C-D8381612D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278448" y="7260432"/>
            <a:ext cx="7191375" cy="4622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 Bold"/>
                <a:ea typeface="DM Sans Bold"/>
                <a:cs typeface="DM Sans Bold"/>
              </a:defRPr>
            </a:defPPr>
            <a:lvl1pPr>
              <a:defRPr>
                <a:latin typeface="DM Sans Bold"/>
                <a:ea typeface="DM Sans Bold"/>
                <a:cs typeface="DM Sans Bold"/>
              </a:defRPr>
            </a:lvl1pPr>
            <a:lvl2pPr>
              <a:defRPr>
                <a:latin typeface="DM Sans Bold"/>
                <a:ea typeface="DM Sans Bold"/>
                <a:cs typeface="DM Sans Bold"/>
              </a:defRPr>
            </a:lvl2pPr>
            <a:lvl3pPr>
              <a:defRPr>
                <a:latin typeface="DM Sans Bold"/>
                <a:ea typeface="DM Sans Bold"/>
                <a:cs typeface="DM Sans Bold"/>
              </a:defRPr>
            </a:lvl3pPr>
            <a:lvl4pPr>
              <a:defRPr>
                <a:latin typeface="DM Sans Bold"/>
                <a:ea typeface="DM Sans Bold"/>
                <a:cs typeface="DM Sans Bold"/>
              </a:defRPr>
            </a:lvl4pPr>
            <a:lvl5pPr>
              <a:defRPr>
                <a:latin typeface="DM Sans Bold"/>
                <a:ea typeface="DM Sans Bold"/>
                <a:cs typeface="DM Sans Bold"/>
              </a:defRPr>
            </a:lvl5pPr>
            <a:lvl6pPr>
              <a:defRPr>
                <a:latin typeface="DM Sans Bold"/>
                <a:ea typeface="DM Sans Bold"/>
                <a:cs typeface="DM Sans Bold"/>
              </a:defRPr>
            </a:lvl6pPr>
            <a:lvl7pPr>
              <a:defRPr>
                <a:latin typeface="DM Sans Bold"/>
                <a:ea typeface="DM Sans Bold"/>
                <a:cs typeface="DM Sans Bold"/>
              </a:defRPr>
            </a:lvl7pPr>
            <a:lvl8pPr>
              <a:defRPr>
                <a:latin typeface="DM Sans Bold"/>
                <a:ea typeface="DM Sans Bold"/>
                <a:cs typeface="DM Sans Bold"/>
              </a:defRPr>
            </a:lvl8pPr>
            <a:lvl9pPr>
              <a:defRPr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 marL="0" lvl="0" indent="0" algn="l">
              <a:lnSpc>
                <a:spcPts val="3640"/>
              </a:lnSpc>
              <a:buNone/>
              <a:defRPr>
                <a:latin typeface="DM Sans Bold"/>
                <a:ea typeface="DM Sans Bold"/>
                <a:cs typeface="DM Sans Bold"/>
              </a:defRPr>
            </a:pPr>
            <a:r>
              <a:rPr sz="2600" b="1">
                <a:solidFill>
                  <a:srgbClr val="F5F6F7"/>
                </a:solidFill>
                <a:latin typeface="DM Sans Bold"/>
                <a:ea typeface="DM Sans Bold"/>
                <a:cs typeface="DM Sans Bold"/>
              </a:rPr>
              <a:t>API DOCUMENTADA</a:t>
            </a:r>
          </a:p>
        </p:txBody>
      </p:sp>
      <p:sp>
        <p:nvSpPr>
          <p:cNvPr id="13" name="TextBox 13">
            <a:extLst xmlns:a="http://schemas.openxmlformats.org/drawingml/2006/main">
              <a:ext uri="{FF2B5EF4-FFF2-40B4-BE49-F238E27FC236}">
                <a16:creationId xmlns:a16="http://schemas.microsoft.com/office/drawing/2014/main" id="{DBA3B3EC-B21B-4123-AA33-B0E4A134F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82650" y="4604168"/>
            <a:ext cx="7191375" cy="11201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marL="0" lvl="0" indent="0" algn="l">
              <a:lnSpc>
                <a:spcPts val="2940"/>
              </a:lnSpc>
              <a:buNone/>
              <a:defRPr>
                <a:latin typeface="DM Sans"/>
                <a:ea typeface="DM Sans"/>
                <a:cs typeface="DM Sans"/>
              </a:defRPr>
            </a:pPr>
            <a:r>
              <a:rPr sz="2100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La </a:t>
            </a:r>
            <a:r>
              <a:rPr sz="2100" b="1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landing page</a:t>
            </a:r>
            <a:r>
              <a:rPr sz="2100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 se diseñará para captar la atención del usuario, enfatizando la importancia del consumo energético y facilitando el acceso inicial a la plataforma.</a:t>
            </a:r>
          </a:p>
        </p:txBody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5AE9ADDB-1C84-4ED0-9633-F9E2101FC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82650" y="3725329"/>
            <a:ext cx="7191375" cy="4622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 Bold"/>
                <a:ea typeface="DM Sans Bold"/>
                <a:cs typeface="DM Sans Bold"/>
              </a:defRPr>
            </a:defPPr>
            <a:lvl1pPr>
              <a:defRPr>
                <a:latin typeface="DM Sans Bold"/>
                <a:ea typeface="DM Sans Bold"/>
                <a:cs typeface="DM Sans Bold"/>
              </a:defRPr>
            </a:lvl1pPr>
            <a:lvl2pPr>
              <a:defRPr>
                <a:latin typeface="DM Sans Bold"/>
                <a:ea typeface="DM Sans Bold"/>
                <a:cs typeface="DM Sans Bold"/>
              </a:defRPr>
            </a:lvl2pPr>
            <a:lvl3pPr>
              <a:defRPr>
                <a:latin typeface="DM Sans Bold"/>
                <a:ea typeface="DM Sans Bold"/>
                <a:cs typeface="DM Sans Bold"/>
              </a:defRPr>
            </a:lvl3pPr>
            <a:lvl4pPr>
              <a:defRPr>
                <a:latin typeface="DM Sans Bold"/>
                <a:ea typeface="DM Sans Bold"/>
                <a:cs typeface="DM Sans Bold"/>
              </a:defRPr>
            </a:lvl4pPr>
            <a:lvl5pPr>
              <a:defRPr>
                <a:latin typeface="DM Sans Bold"/>
                <a:ea typeface="DM Sans Bold"/>
                <a:cs typeface="DM Sans Bold"/>
              </a:defRPr>
            </a:lvl5pPr>
            <a:lvl6pPr>
              <a:defRPr>
                <a:latin typeface="DM Sans Bold"/>
                <a:ea typeface="DM Sans Bold"/>
                <a:cs typeface="DM Sans Bold"/>
              </a:defRPr>
            </a:lvl6pPr>
            <a:lvl7pPr>
              <a:defRPr>
                <a:latin typeface="DM Sans Bold"/>
                <a:ea typeface="DM Sans Bold"/>
                <a:cs typeface="DM Sans Bold"/>
              </a:defRPr>
            </a:lvl7pPr>
            <a:lvl8pPr>
              <a:defRPr>
                <a:latin typeface="DM Sans Bold"/>
                <a:ea typeface="DM Sans Bold"/>
                <a:cs typeface="DM Sans Bold"/>
              </a:defRPr>
            </a:lvl8pPr>
            <a:lvl9pPr>
              <a:defRPr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 marL="0" lvl="0" indent="0" algn="l">
              <a:lnSpc>
                <a:spcPts val="3640"/>
              </a:lnSpc>
              <a:buNone/>
              <a:defRPr>
                <a:latin typeface="DM Sans Bold"/>
                <a:ea typeface="DM Sans Bold"/>
                <a:cs typeface="DM Sans Bold"/>
              </a:defRPr>
            </a:pPr>
            <a:r>
              <a:rPr sz="2600" b="1">
                <a:solidFill>
                  <a:srgbClr val="F5F6F7"/>
                </a:solidFill>
                <a:latin typeface="DM Sans Bold"/>
                <a:ea typeface="DM Sans Bold"/>
                <a:cs typeface="DM Sans Bold"/>
              </a:rPr>
              <a:t>LANDING</a:t>
            </a:r>
          </a:p>
        </p:txBody>
      </p:sp>
      <p:sp>
        <p:nvSpPr>
          <p:cNvPr id="16" name="TextBox 16">
            <a:extLst xmlns:a="http://schemas.openxmlformats.org/drawingml/2006/main">
              <a:ext uri="{FF2B5EF4-FFF2-40B4-BE49-F238E27FC236}">
                <a16:creationId xmlns:a16="http://schemas.microsoft.com/office/drawing/2014/main" id="{BA6D7737-2081-4BCB-BCAB-B08503774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296400" y="4715928"/>
            <a:ext cx="7191375" cy="11201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marL="0" lvl="0" indent="0" algn="l">
              <a:lnSpc>
                <a:spcPts val="2940"/>
              </a:lnSpc>
              <a:buNone/>
              <a:defRPr>
                <a:latin typeface="DM Sans"/>
                <a:ea typeface="DM Sans"/>
                <a:cs typeface="DM Sans"/>
              </a:defRPr>
            </a:pPr>
            <a:r>
              <a:rPr sz="2100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El sistema de </a:t>
            </a:r>
            <a:r>
              <a:rPr sz="2100" b="1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autenticación</a:t>
            </a:r>
            <a:r>
              <a:rPr sz="2100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 incluirá procesos de login, registro y recuperación de contraseñas, asegurando una experiencia de usuario fluida y segura desde el inicio.</a:t>
            </a:r>
          </a:p>
        </p:txBody>
      </p:sp>
      <p:sp>
        <p:nvSpPr>
          <p:cNvPr id="17" name="TextBox 17">
            <a:extLst xmlns:a="http://schemas.openxmlformats.org/drawingml/2006/main">
              <a:ext uri="{FF2B5EF4-FFF2-40B4-BE49-F238E27FC236}">
                <a16:creationId xmlns:a16="http://schemas.microsoft.com/office/drawing/2014/main" id="{B82E4E05-2CE0-490C-9DB0-36F63B070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296400" y="3820579"/>
            <a:ext cx="7191375" cy="4622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 Bold"/>
                <a:ea typeface="DM Sans Bold"/>
                <a:cs typeface="DM Sans Bold"/>
              </a:defRPr>
            </a:defPPr>
            <a:lvl1pPr>
              <a:defRPr>
                <a:latin typeface="DM Sans Bold"/>
                <a:ea typeface="DM Sans Bold"/>
                <a:cs typeface="DM Sans Bold"/>
              </a:defRPr>
            </a:lvl1pPr>
            <a:lvl2pPr>
              <a:defRPr>
                <a:latin typeface="DM Sans Bold"/>
                <a:ea typeface="DM Sans Bold"/>
                <a:cs typeface="DM Sans Bold"/>
              </a:defRPr>
            </a:lvl2pPr>
            <a:lvl3pPr>
              <a:defRPr>
                <a:latin typeface="DM Sans Bold"/>
                <a:ea typeface="DM Sans Bold"/>
                <a:cs typeface="DM Sans Bold"/>
              </a:defRPr>
            </a:lvl3pPr>
            <a:lvl4pPr>
              <a:defRPr>
                <a:latin typeface="DM Sans Bold"/>
                <a:ea typeface="DM Sans Bold"/>
                <a:cs typeface="DM Sans Bold"/>
              </a:defRPr>
            </a:lvl4pPr>
            <a:lvl5pPr>
              <a:defRPr>
                <a:latin typeface="DM Sans Bold"/>
                <a:ea typeface="DM Sans Bold"/>
                <a:cs typeface="DM Sans Bold"/>
              </a:defRPr>
            </a:lvl5pPr>
            <a:lvl6pPr>
              <a:defRPr>
                <a:latin typeface="DM Sans Bold"/>
                <a:ea typeface="DM Sans Bold"/>
                <a:cs typeface="DM Sans Bold"/>
              </a:defRPr>
            </a:lvl6pPr>
            <a:lvl7pPr>
              <a:defRPr>
                <a:latin typeface="DM Sans Bold"/>
                <a:ea typeface="DM Sans Bold"/>
                <a:cs typeface="DM Sans Bold"/>
              </a:defRPr>
            </a:lvl7pPr>
            <a:lvl8pPr>
              <a:defRPr>
                <a:latin typeface="DM Sans Bold"/>
                <a:ea typeface="DM Sans Bold"/>
                <a:cs typeface="DM Sans Bold"/>
              </a:defRPr>
            </a:lvl8pPr>
            <a:lvl9pPr>
              <a:defRPr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 marL="0" lvl="0" indent="0" algn="l">
              <a:lnSpc>
                <a:spcPts val="3640"/>
              </a:lnSpc>
              <a:buNone/>
              <a:defRPr>
                <a:latin typeface="DM Sans Bold"/>
                <a:ea typeface="DM Sans Bold"/>
                <a:cs typeface="DM Sans Bold"/>
              </a:defRPr>
            </a:pPr>
            <a:r>
              <a:rPr sz="2600" b="1">
                <a:solidFill>
                  <a:srgbClr val="F5F6F7"/>
                </a:solidFill>
                <a:latin typeface="DM Sans Bold"/>
                <a:ea typeface="DM Sans Bold"/>
                <a:cs typeface="DM Sans Bold"/>
              </a:rPr>
              <a:t>AUTENTICACIÓN</a:t>
            </a:r>
          </a:p>
        </p:txBody>
      </p:sp>
      <p:sp>
        <p:nvSpPr>
          <p:cNvPr id="18" name="TextBox 18">
            <a:extLst xmlns:a="http://schemas.openxmlformats.org/drawingml/2006/main">
              <a:ext uri="{FF2B5EF4-FFF2-40B4-BE49-F238E27FC236}">
                <a16:creationId xmlns:a16="http://schemas.microsoft.com/office/drawing/2014/main" id="{87B55652-8B50-493E-9720-27D09267C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733425"/>
            <a:ext cx="16954500" cy="1117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Georgia Pro Light"/>
                <a:ea typeface="Georgia Pro Light"/>
                <a:cs typeface="Georgia Pro Light"/>
              </a:defRPr>
            </a:defPPr>
            <a:lvl1pPr>
              <a:defRPr>
                <a:latin typeface="Georgia Pro Light"/>
                <a:ea typeface="Georgia Pro Light"/>
                <a:cs typeface="Georgia Pro Light"/>
              </a:defRPr>
            </a:lvl1pPr>
            <a:lvl2pPr>
              <a:defRPr>
                <a:latin typeface="Georgia Pro Light"/>
                <a:ea typeface="Georgia Pro Light"/>
                <a:cs typeface="Georgia Pro Light"/>
              </a:defRPr>
            </a:lvl2pPr>
            <a:lvl3pPr>
              <a:defRPr>
                <a:latin typeface="Georgia Pro Light"/>
                <a:ea typeface="Georgia Pro Light"/>
                <a:cs typeface="Georgia Pro Light"/>
              </a:defRPr>
            </a:lvl3pPr>
            <a:lvl4pPr>
              <a:defRPr>
                <a:latin typeface="Georgia Pro Light"/>
                <a:ea typeface="Georgia Pro Light"/>
                <a:cs typeface="Georgia Pro Light"/>
              </a:defRPr>
            </a:lvl4pPr>
            <a:lvl5pPr>
              <a:defRPr>
                <a:latin typeface="Georgia Pro Light"/>
                <a:ea typeface="Georgia Pro Light"/>
                <a:cs typeface="Georgia Pro Light"/>
              </a:defRPr>
            </a:lvl5pPr>
            <a:lvl6pPr>
              <a:defRPr>
                <a:latin typeface="Georgia Pro Light"/>
                <a:ea typeface="Georgia Pro Light"/>
                <a:cs typeface="Georgia Pro Light"/>
              </a:defRPr>
            </a:lvl6pPr>
            <a:lvl7pPr>
              <a:defRPr>
                <a:latin typeface="Georgia Pro Light"/>
                <a:ea typeface="Georgia Pro Light"/>
                <a:cs typeface="Georgia Pro Light"/>
              </a:defRPr>
            </a:lvl7pPr>
            <a:lvl8pPr>
              <a:defRPr>
                <a:latin typeface="Georgia Pro Light"/>
                <a:ea typeface="Georgia Pro Light"/>
                <a:cs typeface="Georgia Pro Light"/>
              </a:defRPr>
            </a:lvl8pPr>
            <a:lvl9pPr>
              <a:defRPr>
                <a:latin typeface="Georgia Pro Light"/>
                <a:ea typeface="Georgia Pro Light"/>
                <a:cs typeface="Georgia Pro Light"/>
              </a:defRPr>
            </a:lvl9pPr>
          </a:lstStyle>
          <a:p xmlns:a="http://schemas.openxmlformats.org/drawingml/2006/main">
            <a:pPr marL="0" lvl="0" indent="0" algn="l">
              <a:lnSpc>
                <a:spcPts val="8800"/>
              </a:lnSpc>
              <a:spcBef>
                <a:spcPct val="0"/>
              </a:spcBef>
              <a:buNone/>
              <a:defRPr>
                <a:latin typeface="Georgia Pro Light"/>
                <a:ea typeface="Georgia Pro Light"/>
                <a:cs typeface="Georgia Pro Light"/>
              </a:defRPr>
            </a:pPr>
            <a:r>
              <a:rPr sz="8000">
                <a:solidFill>
                  <a:srgbClr val="F5F6F7"/>
                </a:solidFill>
                <a:latin typeface="Georgia Pro Light"/>
                <a:ea typeface="Georgia Pro Light"/>
                <a:cs typeface="Georgia Pro Light"/>
              </a:rPr>
              <a:t>Producto base para AV2</a:t>
            </a:r>
          </a:p>
        </p:txBody>
      </p:sp>
    </p:spTree>
    <p:extLst>
      <p:ext uri="{BB962C8B-B14F-4D97-AF65-F5344CB8AC3E}">
        <p14:creationId xmlns:p14="http://schemas.microsoft.com/office/powerpoint/2010/main" val="44575081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33365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72B9D5AD-ED6F-437B-972F-85CA4013A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682623" y="3391148"/>
            <a:ext cx="3619500" cy="3583305"/>
          </a:xfrm>
          <a:custGeom xmlns:a="http://schemas.openxmlformats.org/drawingml/2006/main">
            <a:rect l="l" t="t" r="r" b="b"/>
            <a:pathLst>
              <a:path w="3619500" h="3583305">
                <a:moveTo>
                  <a:pt x="0" y="0"/>
                </a:moveTo>
                <a:lnTo>
                  <a:pt x="3619500" y="0"/>
                </a:lnTo>
                <a:lnTo>
                  <a:pt x="3619500" y="3583305"/>
                </a:lnTo>
                <a:lnTo>
                  <a:pt x="0" y="3583305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3" name="TextBox 3">
            <a:extLst xmlns:a="http://schemas.openxmlformats.org/drawingml/2006/main">
              <a:ext uri="{FF2B5EF4-FFF2-40B4-BE49-F238E27FC236}">
                <a16:creationId xmlns:a16="http://schemas.microsoft.com/office/drawing/2014/main" id="{7A1CE8DB-03AA-4D23-95E1-278B1D77E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2535455"/>
            <a:ext cx="7191375" cy="7467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marL="0" lvl="0" indent="0" algn="l">
              <a:lnSpc>
                <a:spcPts val="2940"/>
              </a:lnSpc>
              <a:buNone/>
              <a:defRPr>
                <a:latin typeface="DM Sans"/>
                <a:ea typeface="DM Sans"/>
                <a:cs typeface="DM Sans"/>
              </a:defRPr>
            </a:pPr>
            <a:r>
              <a:rPr sz="2100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Las sedes permiten </a:t>
            </a:r>
            <a:r>
              <a:rPr sz="2100" b="1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organizar</a:t>
            </a:r>
            <a:r>
              <a:rPr sz="2100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 el consumo energético en diferentes ubicaciones físicas.</a:t>
            </a:r>
          </a:p>
        </p:txBody>
      </p:sp>
      <p:sp>
        <p:nvSpPr>
          <p:cNvPr id="4" name="TextBox 4">
            <a:extLst xmlns:a="http://schemas.openxmlformats.org/drawingml/2006/main">
              <a:ext uri="{FF2B5EF4-FFF2-40B4-BE49-F238E27FC236}">
                <a16:creationId xmlns:a16="http://schemas.microsoft.com/office/drawing/2014/main" id="{CF00FA62-360C-4091-9A95-8FA31337A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2144295"/>
            <a:ext cx="7191375" cy="4622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 Bold"/>
                <a:ea typeface="DM Sans Bold"/>
                <a:cs typeface="DM Sans Bold"/>
              </a:defRPr>
            </a:defPPr>
            <a:lvl1pPr>
              <a:defRPr>
                <a:latin typeface="DM Sans Bold"/>
                <a:ea typeface="DM Sans Bold"/>
                <a:cs typeface="DM Sans Bold"/>
              </a:defRPr>
            </a:lvl1pPr>
            <a:lvl2pPr>
              <a:defRPr>
                <a:latin typeface="DM Sans Bold"/>
                <a:ea typeface="DM Sans Bold"/>
                <a:cs typeface="DM Sans Bold"/>
              </a:defRPr>
            </a:lvl2pPr>
            <a:lvl3pPr>
              <a:defRPr>
                <a:latin typeface="DM Sans Bold"/>
                <a:ea typeface="DM Sans Bold"/>
                <a:cs typeface="DM Sans Bold"/>
              </a:defRPr>
            </a:lvl3pPr>
            <a:lvl4pPr>
              <a:defRPr>
                <a:latin typeface="DM Sans Bold"/>
                <a:ea typeface="DM Sans Bold"/>
                <a:cs typeface="DM Sans Bold"/>
              </a:defRPr>
            </a:lvl4pPr>
            <a:lvl5pPr>
              <a:defRPr>
                <a:latin typeface="DM Sans Bold"/>
                <a:ea typeface="DM Sans Bold"/>
                <a:cs typeface="DM Sans Bold"/>
              </a:defRPr>
            </a:lvl5pPr>
            <a:lvl6pPr>
              <a:defRPr>
                <a:latin typeface="DM Sans Bold"/>
                <a:ea typeface="DM Sans Bold"/>
                <a:cs typeface="DM Sans Bold"/>
              </a:defRPr>
            </a:lvl6pPr>
            <a:lvl7pPr>
              <a:defRPr>
                <a:latin typeface="DM Sans Bold"/>
                <a:ea typeface="DM Sans Bold"/>
                <a:cs typeface="DM Sans Bold"/>
              </a:defRPr>
            </a:lvl7pPr>
            <a:lvl8pPr>
              <a:defRPr>
                <a:latin typeface="DM Sans Bold"/>
                <a:ea typeface="DM Sans Bold"/>
                <a:cs typeface="DM Sans Bold"/>
              </a:defRPr>
            </a:lvl8pPr>
            <a:lvl9pPr>
              <a:defRPr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 marL="0" lvl="0" indent="0" algn="l">
              <a:lnSpc>
                <a:spcPts val="3640"/>
              </a:lnSpc>
              <a:buNone/>
              <a:defRPr>
                <a:latin typeface="DM Sans Bold"/>
                <a:ea typeface="DM Sans Bold"/>
                <a:cs typeface="DM Sans Bold"/>
              </a:defRPr>
            </a:pPr>
            <a:r>
              <a:rPr sz="2600" b="1">
                <a:solidFill>
                  <a:srgbClr val="F5F6F7"/>
                </a:solidFill>
                <a:latin typeface="DM Sans Bold"/>
                <a:ea typeface="DM Sans Bold"/>
                <a:cs typeface="DM Sans Bold"/>
              </a:rPr>
              <a:t>SEDES</a:t>
            </a:r>
          </a:p>
        </p:txBody>
      </p:sp>
      <p:sp>
        <p:nvSpPr>
          <p:cNvPr id="5" name="TextBox 5">
            <a:extLst xmlns:a="http://schemas.openxmlformats.org/drawingml/2006/main">
              <a:ext uri="{FF2B5EF4-FFF2-40B4-BE49-F238E27FC236}">
                <a16:creationId xmlns:a16="http://schemas.microsoft.com/office/drawing/2014/main" id="{A7D2C755-A116-4D56-8D81-4867FF6DE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3835300"/>
            <a:ext cx="7191375" cy="7467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marL="0" lvl="0" indent="0" algn="l">
              <a:lnSpc>
                <a:spcPts val="2940"/>
              </a:lnSpc>
              <a:buNone/>
              <a:defRPr>
                <a:latin typeface="DM Sans"/>
                <a:ea typeface="DM Sans"/>
                <a:cs typeface="DM Sans"/>
              </a:defRPr>
            </a:pPr>
            <a:r>
              <a:rPr sz="2100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Los grupos facilitan la </a:t>
            </a:r>
            <a:r>
              <a:rPr sz="2100" b="1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gestión</a:t>
            </a:r>
            <a:r>
              <a:rPr sz="2100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 de dispositivos y usuarios bajo una misma categoría.</a:t>
            </a:r>
          </a:p>
        </p:txBody>
      </p:sp>
      <p:sp>
        <p:nvSpPr>
          <p:cNvPr id="6" name="TextBox 6">
            <a:extLst xmlns:a="http://schemas.openxmlformats.org/drawingml/2006/main">
              <a:ext uri="{FF2B5EF4-FFF2-40B4-BE49-F238E27FC236}">
                <a16:creationId xmlns:a16="http://schemas.microsoft.com/office/drawing/2014/main" id="{735BB85D-0633-4A18-9774-EA141E470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3444140"/>
            <a:ext cx="7191375" cy="4622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 Bold"/>
                <a:ea typeface="DM Sans Bold"/>
                <a:cs typeface="DM Sans Bold"/>
              </a:defRPr>
            </a:defPPr>
            <a:lvl1pPr>
              <a:defRPr>
                <a:latin typeface="DM Sans Bold"/>
                <a:ea typeface="DM Sans Bold"/>
                <a:cs typeface="DM Sans Bold"/>
              </a:defRPr>
            </a:lvl1pPr>
            <a:lvl2pPr>
              <a:defRPr>
                <a:latin typeface="DM Sans Bold"/>
                <a:ea typeface="DM Sans Bold"/>
                <a:cs typeface="DM Sans Bold"/>
              </a:defRPr>
            </a:lvl2pPr>
            <a:lvl3pPr>
              <a:defRPr>
                <a:latin typeface="DM Sans Bold"/>
                <a:ea typeface="DM Sans Bold"/>
                <a:cs typeface="DM Sans Bold"/>
              </a:defRPr>
            </a:lvl3pPr>
            <a:lvl4pPr>
              <a:defRPr>
                <a:latin typeface="DM Sans Bold"/>
                <a:ea typeface="DM Sans Bold"/>
                <a:cs typeface="DM Sans Bold"/>
              </a:defRPr>
            </a:lvl4pPr>
            <a:lvl5pPr>
              <a:defRPr>
                <a:latin typeface="DM Sans Bold"/>
                <a:ea typeface="DM Sans Bold"/>
                <a:cs typeface="DM Sans Bold"/>
              </a:defRPr>
            </a:lvl5pPr>
            <a:lvl6pPr>
              <a:defRPr>
                <a:latin typeface="DM Sans Bold"/>
                <a:ea typeface="DM Sans Bold"/>
                <a:cs typeface="DM Sans Bold"/>
              </a:defRPr>
            </a:lvl6pPr>
            <a:lvl7pPr>
              <a:defRPr>
                <a:latin typeface="DM Sans Bold"/>
                <a:ea typeface="DM Sans Bold"/>
                <a:cs typeface="DM Sans Bold"/>
              </a:defRPr>
            </a:lvl7pPr>
            <a:lvl8pPr>
              <a:defRPr>
                <a:latin typeface="DM Sans Bold"/>
                <a:ea typeface="DM Sans Bold"/>
                <a:cs typeface="DM Sans Bold"/>
              </a:defRPr>
            </a:lvl8pPr>
            <a:lvl9pPr>
              <a:defRPr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 marL="0" lvl="0" indent="0" algn="l">
              <a:lnSpc>
                <a:spcPts val="3640"/>
              </a:lnSpc>
              <a:buNone/>
              <a:defRPr>
                <a:latin typeface="DM Sans Bold"/>
                <a:ea typeface="DM Sans Bold"/>
                <a:cs typeface="DM Sans Bold"/>
              </a:defRPr>
            </a:pPr>
            <a:r>
              <a:rPr sz="2600" b="1">
                <a:solidFill>
                  <a:srgbClr val="F5F6F7"/>
                </a:solidFill>
                <a:latin typeface="DM Sans Bold"/>
                <a:ea typeface="DM Sans Bold"/>
                <a:cs typeface="DM Sans Bold"/>
              </a:rPr>
              <a:t>GRUPOS</a:t>
            </a:r>
          </a:p>
        </p:txBody>
      </p:sp>
      <p:sp>
        <p:nvSpPr>
          <p:cNvPr id="7" name="TextBox 7">
            <a:extLst xmlns:a="http://schemas.openxmlformats.org/drawingml/2006/main">
              <a:ext uri="{FF2B5EF4-FFF2-40B4-BE49-F238E27FC236}">
                <a16:creationId xmlns:a16="http://schemas.microsoft.com/office/drawing/2014/main" id="{F32FE0CA-E4D6-4621-B5E3-CC2A58028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5135175"/>
            <a:ext cx="7191375" cy="7467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marL="0" lvl="0" indent="0" algn="l">
              <a:lnSpc>
                <a:spcPts val="2940"/>
              </a:lnSpc>
              <a:buNone/>
              <a:defRPr>
                <a:latin typeface="DM Sans"/>
                <a:ea typeface="DM Sans"/>
                <a:cs typeface="DM Sans"/>
              </a:defRPr>
            </a:pPr>
            <a:r>
              <a:rPr sz="2100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Las alertas notifican a los usuarios sobre </a:t>
            </a:r>
            <a:r>
              <a:rPr sz="2100" b="1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anomalías</a:t>
            </a:r>
            <a:r>
              <a:rPr sz="2100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 o cambios significativos en el consumo energético.</a:t>
            </a:r>
          </a:p>
        </p:txBody>
      </p:sp>
      <p:sp>
        <p:nvSpPr>
          <p:cNvPr id="8" name="TextBox 8">
            <a:extLst xmlns:a="http://schemas.openxmlformats.org/drawingml/2006/main">
              <a:ext uri="{FF2B5EF4-FFF2-40B4-BE49-F238E27FC236}">
                <a16:creationId xmlns:a16="http://schemas.microsoft.com/office/drawing/2014/main" id="{6F5D5650-E63B-4617-BF9C-3B9670FAD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4744015"/>
            <a:ext cx="7191375" cy="4622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 Bold"/>
                <a:ea typeface="DM Sans Bold"/>
                <a:cs typeface="DM Sans Bold"/>
              </a:defRPr>
            </a:defPPr>
            <a:lvl1pPr>
              <a:defRPr>
                <a:latin typeface="DM Sans Bold"/>
                <a:ea typeface="DM Sans Bold"/>
                <a:cs typeface="DM Sans Bold"/>
              </a:defRPr>
            </a:lvl1pPr>
            <a:lvl2pPr>
              <a:defRPr>
                <a:latin typeface="DM Sans Bold"/>
                <a:ea typeface="DM Sans Bold"/>
                <a:cs typeface="DM Sans Bold"/>
              </a:defRPr>
            </a:lvl2pPr>
            <a:lvl3pPr>
              <a:defRPr>
                <a:latin typeface="DM Sans Bold"/>
                <a:ea typeface="DM Sans Bold"/>
                <a:cs typeface="DM Sans Bold"/>
              </a:defRPr>
            </a:lvl3pPr>
            <a:lvl4pPr>
              <a:defRPr>
                <a:latin typeface="DM Sans Bold"/>
                <a:ea typeface="DM Sans Bold"/>
                <a:cs typeface="DM Sans Bold"/>
              </a:defRPr>
            </a:lvl4pPr>
            <a:lvl5pPr>
              <a:defRPr>
                <a:latin typeface="DM Sans Bold"/>
                <a:ea typeface="DM Sans Bold"/>
                <a:cs typeface="DM Sans Bold"/>
              </a:defRPr>
            </a:lvl5pPr>
            <a:lvl6pPr>
              <a:defRPr>
                <a:latin typeface="DM Sans Bold"/>
                <a:ea typeface="DM Sans Bold"/>
                <a:cs typeface="DM Sans Bold"/>
              </a:defRPr>
            </a:lvl6pPr>
            <a:lvl7pPr>
              <a:defRPr>
                <a:latin typeface="DM Sans Bold"/>
                <a:ea typeface="DM Sans Bold"/>
                <a:cs typeface="DM Sans Bold"/>
              </a:defRPr>
            </a:lvl7pPr>
            <a:lvl8pPr>
              <a:defRPr>
                <a:latin typeface="DM Sans Bold"/>
                <a:ea typeface="DM Sans Bold"/>
                <a:cs typeface="DM Sans Bold"/>
              </a:defRPr>
            </a:lvl8pPr>
            <a:lvl9pPr>
              <a:defRPr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 marL="0" lvl="0" indent="0" algn="l">
              <a:lnSpc>
                <a:spcPts val="3640"/>
              </a:lnSpc>
              <a:buNone/>
              <a:defRPr>
                <a:latin typeface="DM Sans Bold"/>
                <a:ea typeface="DM Sans Bold"/>
                <a:cs typeface="DM Sans Bold"/>
              </a:defRPr>
            </a:pPr>
            <a:r>
              <a:rPr sz="2600" b="1">
                <a:solidFill>
                  <a:srgbClr val="F5F6F7"/>
                </a:solidFill>
                <a:latin typeface="DM Sans Bold"/>
                <a:ea typeface="DM Sans Bold"/>
                <a:cs typeface="DM Sans Bold"/>
              </a:rPr>
              <a:t>ALERTAS</a:t>
            </a:r>
          </a:p>
        </p:txBody>
      </p:sp>
      <p:sp>
        <p:nvSpPr>
          <p:cNvPr id="9" name="TextBox 9">
            <a:extLst xmlns:a="http://schemas.openxmlformats.org/drawingml/2006/main">
              <a:ext uri="{FF2B5EF4-FFF2-40B4-BE49-F238E27FC236}">
                <a16:creationId xmlns:a16="http://schemas.microsoft.com/office/drawing/2014/main" id="{B2D6E044-C180-4FCE-9B78-EA52C34CB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6435051"/>
            <a:ext cx="7191375" cy="7467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marL="0" lvl="0" indent="0" algn="l">
              <a:lnSpc>
                <a:spcPts val="2940"/>
              </a:lnSpc>
              <a:buNone/>
              <a:defRPr>
                <a:latin typeface="DM Sans"/>
                <a:ea typeface="DM Sans"/>
                <a:cs typeface="DM Sans"/>
              </a:defRPr>
            </a:pPr>
            <a:r>
              <a:rPr sz="2100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Los ambientes son configuraciones específicas que </a:t>
            </a:r>
            <a:r>
              <a:rPr sz="2100" b="1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optimizan</a:t>
            </a:r>
            <a:r>
              <a:rPr sz="2100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 el uso de energía en cada espacio.</a:t>
            </a:r>
          </a:p>
        </p:txBody>
      </p:sp>
      <p:sp>
        <p:nvSpPr>
          <p:cNvPr id="10" name="TextBox 10">
            <a:extLst xmlns:a="http://schemas.openxmlformats.org/drawingml/2006/main">
              <a:ext uri="{FF2B5EF4-FFF2-40B4-BE49-F238E27FC236}">
                <a16:creationId xmlns:a16="http://schemas.microsoft.com/office/drawing/2014/main" id="{50D86B2B-879A-4957-A522-5EA9E284A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6043891"/>
            <a:ext cx="7191375" cy="4622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 Bold"/>
                <a:ea typeface="DM Sans Bold"/>
                <a:cs typeface="DM Sans Bold"/>
              </a:defRPr>
            </a:defPPr>
            <a:lvl1pPr>
              <a:defRPr>
                <a:latin typeface="DM Sans Bold"/>
                <a:ea typeface="DM Sans Bold"/>
                <a:cs typeface="DM Sans Bold"/>
              </a:defRPr>
            </a:lvl1pPr>
            <a:lvl2pPr>
              <a:defRPr>
                <a:latin typeface="DM Sans Bold"/>
                <a:ea typeface="DM Sans Bold"/>
                <a:cs typeface="DM Sans Bold"/>
              </a:defRPr>
            </a:lvl2pPr>
            <a:lvl3pPr>
              <a:defRPr>
                <a:latin typeface="DM Sans Bold"/>
                <a:ea typeface="DM Sans Bold"/>
                <a:cs typeface="DM Sans Bold"/>
              </a:defRPr>
            </a:lvl3pPr>
            <a:lvl4pPr>
              <a:defRPr>
                <a:latin typeface="DM Sans Bold"/>
                <a:ea typeface="DM Sans Bold"/>
                <a:cs typeface="DM Sans Bold"/>
              </a:defRPr>
            </a:lvl4pPr>
            <a:lvl5pPr>
              <a:defRPr>
                <a:latin typeface="DM Sans Bold"/>
                <a:ea typeface="DM Sans Bold"/>
                <a:cs typeface="DM Sans Bold"/>
              </a:defRPr>
            </a:lvl5pPr>
            <a:lvl6pPr>
              <a:defRPr>
                <a:latin typeface="DM Sans Bold"/>
                <a:ea typeface="DM Sans Bold"/>
                <a:cs typeface="DM Sans Bold"/>
              </a:defRPr>
            </a:lvl6pPr>
            <a:lvl7pPr>
              <a:defRPr>
                <a:latin typeface="DM Sans Bold"/>
                <a:ea typeface="DM Sans Bold"/>
                <a:cs typeface="DM Sans Bold"/>
              </a:defRPr>
            </a:lvl7pPr>
            <a:lvl8pPr>
              <a:defRPr>
                <a:latin typeface="DM Sans Bold"/>
                <a:ea typeface="DM Sans Bold"/>
                <a:cs typeface="DM Sans Bold"/>
              </a:defRPr>
            </a:lvl8pPr>
            <a:lvl9pPr>
              <a:defRPr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 marL="0" lvl="0" indent="0" algn="l">
              <a:lnSpc>
                <a:spcPts val="3640"/>
              </a:lnSpc>
              <a:buNone/>
              <a:defRPr>
                <a:latin typeface="DM Sans Bold"/>
                <a:ea typeface="DM Sans Bold"/>
                <a:cs typeface="DM Sans Bold"/>
              </a:defRPr>
            </a:pPr>
            <a:r>
              <a:rPr sz="2600" b="1">
                <a:solidFill>
                  <a:srgbClr val="F5F6F7"/>
                </a:solidFill>
                <a:latin typeface="DM Sans Bold"/>
                <a:ea typeface="DM Sans Bold"/>
                <a:cs typeface="DM Sans Bold"/>
              </a:rPr>
              <a:t>AMBIENTES</a:t>
            </a:r>
          </a:p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EBC68F3E-887C-4F37-9361-74F003510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7734896"/>
            <a:ext cx="7191375" cy="7467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marL="0" lvl="0" indent="0" algn="l">
              <a:lnSpc>
                <a:spcPts val="2940"/>
              </a:lnSpc>
              <a:buNone/>
              <a:defRPr>
                <a:latin typeface="DM Sans"/>
                <a:ea typeface="DM Sans"/>
                <a:cs typeface="DM Sans"/>
              </a:defRPr>
            </a:pPr>
            <a:r>
              <a:rPr sz="2100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Los dispositivos se integran para </a:t>
            </a:r>
            <a:r>
              <a:rPr sz="2100" b="1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monitorear</a:t>
            </a:r>
            <a:r>
              <a:rPr sz="2100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 y controlar el consumo energético en tiempo real.</a:t>
            </a:r>
          </a:p>
        </p:txBody>
      </p:sp>
      <p:sp>
        <p:nvSpPr>
          <p:cNvPr id="12" name="TextBox 12">
            <a:extLst xmlns:a="http://schemas.openxmlformats.org/drawingml/2006/main">
              <a:ext uri="{FF2B5EF4-FFF2-40B4-BE49-F238E27FC236}">
                <a16:creationId xmlns:a16="http://schemas.microsoft.com/office/drawing/2014/main" id="{6D63AF4F-7B1A-4806-8088-DC5F5EE94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7343736"/>
            <a:ext cx="7191375" cy="4622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 Bold"/>
                <a:ea typeface="DM Sans Bold"/>
                <a:cs typeface="DM Sans Bold"/>
              </a:defRPr>
            </a:defPPr>
            <a:lvl1pPr>
              <a:defRPr>
                <a:latin typeface="DM Sans Bold"/>
                <a:ea typeface="DM Sans Bold"/>
                <a:cs typeface="DM Sans Bold"/>
              </a:defRPr>
            </a:lvl1pPr>
            <a:lvl2pPr>
              <a:defRPr>
                <a:latin typeface="DM Sans Bold"/>
                <a:ea typeface="DM Sans Bold"/>
                <a:cs typeface="DM Sans Bold"/>
              </a:defRPr>
            </a:lvl2pPr>
            <a:lvl3pPr>
              <a:defRPr>
                <a:latin typeface="DM Sans Bold"/>
                <a:ea typeface="DM Sans Bold"/>
                <a:cs typeface="DM Sans Bold"/>
              </a:defRPr>
            </a:lvl3pPr>
            <a:lvl4pPr>
              <a:defRPr>
                <a:latin typeface="DM Sans Bold"/>
                <a:ea typeface="DM Sans Bold"/>
                <a:cs typeface="DM Sans Bold"/>
              </a:defRPr>
            </a:lvl4pPr>
            <a:lvl5pPr>
              <a:defRPr>
                <a:latin typeface="DM Sans Bold"/>
                <a:ea typeface="DM Sans Bold"/>
                <a:cs typeface="DM Sans Bold"/>
              </a:defRPr>
            </a:lvl5pPr>
            <a:lvl6pPr>
              <a:defRPr>
                <a:latin typeface="DM Sans Bold"/>
                <a:ea typeface="DM Sans Bold"/>
                <a:cs typeface="DM Sans Bold"/>
              </a:defRPr>
            </a:lvl6pPr>
            <a:lvl7pPr>
              <a:defRPr>
                <a:latin typeface="DM Sans Bold"/>
                <a:ea typeface="DM Sans Bold"/>
                <a:cs typeface="DM Sans Bold"/>
              </a:defRPr>
            </a:lvl7pPr>
            <a:lvl8pPr>
              <a:defRPr>
                <a:latin typeface="DM Sans Bold"/>
                <a:ea typeface="DM Sans Bold"/>
                <a:cs typeface="DM Sans Bold"/>
              </a:defRPr>
            </a:lvl8pPr>
            <a:lvl9pPr>
              <a:defRPr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 marL="0" lvl="0" indent="0" algn="l">
              <a:lnSpc>
                <a:spcPts val="3640"/>
              </a:lnSpc>
              <a:buNone/>
              <a:defRPr>
                <a:latin typeface="DM Sans Bold"/>
                <a:ea typeface="DM Sans Bold"/>
                <a:cs typeface="DM Sans Bold"/>
              </a:defRPr>
            </a:pPr>
            <a:r>
              <a:rPr sz="2600" b="1">
                <a:solidFill>
                  <a:srgbClr val="F5F6F7"/>
                </a:solidFill>
                <a:latin typeface="DM Sans Bold"/>
                <a:ea typeface="DM Sans Bold"/>
                <a:cs typeface="DM Sans Bold"/>
              </a:rPr>
              <a:t>DISPOSITIVOS</a:t>
            </a:r>
          </a:p>
        </p:txBody>
      </p:sp>
      <p:sp>
        <p:nvSpPr>
          <p:cNvPr id="13" name="TextBox 13">
            <a:extLst xmlns:a="http://schemas.openxmlformats.org/drawingml/2006/main">
              <a:ext uri="{FF2B5EF4-FFF2-40B4-BE49-F238E27FC236}">
                <a16:creationId xmlns:a16="http://schemas.microsoft.com/office/drawing/2014/main" id="{C4DF4B94-BA93-404C-9414-36835AE08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733425"/>
            <a:ext cx="16954500" cy="1117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Georgia Pro Light"/>
                <a:ea typeface="Georgia Pro Light"/>
                <a:cs typeface="Georgia Pro Light"/>
              </a:defRPr>
            </a:defPPr>
            <a:lvl1pPr>
              <a:defRPr>
                <a:latin typeface="Georgia Pro Light"/>
                <a:ea typeface="Georgia Pro Light"/>
                <a:cs typeface="Georgia Pro Light"/>
              </a:defRPr>
            </a:lvl1pPr>
            <a:lvl2pPr>
              <a:defRPr>
                <a:latin typeface="Georgia Pro Light"/>
                <a:ea typeface="Georgia Pro Light"/>
                <a:cs typeface="Georgia Pro Light"/>
              </a:defRPr>
            </a:lvl2pPr>
            <a:lvl3pPr>
              <a:defRPr>
                <a:latin typeface="Georgia Pro Light"/>
                <a:ea typeface="Georgia Pro Light"/>
                <a:cs typeface="Georgia Pro Light"/>
              </a:defRPr>
            </a:lvl3pPr>
            <a:lvl4pPr>
              <a:defRPr>
                <a:latin typeface="Georgia Pro Light"/>
                <a:ea typeface="Georgia Pro Light"/>
                <a:cs typeface="Georgia Pro Light"/>
              </a:defRPr>
            </a:lvl4pPr>
            <a:lvl5pPr>
              <a:defRPr>
                <a:latin typeface="Georgia Pro Light"/>
                <a:ea typeface="Georgia Pro Light"/>
                <a:cs typeface="Georgia Pro Light"/>
              </a:defRPr>
            </a:lvl5pPr>
            <a:lvl6pPr>
              <a:defRPr>
                <a:latin typeface="Georgia Pro Light"/>
                <a:ea typeface="Georgia Pro Light"/>
                <a:cs typeface="Georgia Pro Light"/>
              </a:defRPr>
            </a:lvl6pPr>
            <a:lvl7pPr>
              <a:defRPr>
                <a:latin typeface="Georgia Pro Light"/>
                <a:ea typeface="Georgia Pro Light"/>
                <a:cs typeface="Georgia Pro Light"/>
              </a:defRPr>
            </a:lvl7pPr>
            <a:lvl8pPr>
              <a:defRPr>
                <a:latin typeface="Georgia Pro Light"/>
                <a:ea typeface="Georgia Pro Light"/>
                <a:cs typeface="Georgia Pro Light"/>
              </a:defRPr>
            </a:lvl8pPr>
            <a:lvl9pPr>
              <a:defRPr>
                <a:latin typeface="Georgia Pro Light"/>
                <a:ea typeface="Georgia Pro Light"/>
                <a:cs typeface="Georgia Pro Light"/>
              </a:defRPr>
            </a:lvl9pPr>
          </a:lstStyle>
          <a:p xmlns:a="http://schemas.openxmlformats.org/drawingml/2006/main">
            <a:pPr marL="0" lvl="0" indent="0" algn="l">
              <a:lnSpc>
                <a:spcPts val="8800"/>
              </a:lnSpc>
              <a:spcBef>
                <a:spcPct val="0"/>
              </a:spcBef>
              <a:buNone/>
              <a:defRPr>
                <a:latin typeface="Georgia Pro Light"/>
                <a:ea typeface="Georgia Pro Light"/>
                <a:cs typeface="Georgia Pro Light"/>
              </a:defRPr>
            </a:pPr>
            <a:r>
              <a:rPr sz="8000">
                <a:solidFill>
                  <a:srgbClr val="F5F6F7"/>
                </a:solidFill>
                <a:latin typeface="Georgia Pro Light"/>
                <a:ea typeface="Georgia Pro Light"/>
                <a:cs typeface="Georgia Pro Light"/>
              </a:rPr>
              <a:t>Módulos de EnergyCore</a:t>
            </a:r>
          </a:p>
        </p:txBody>
      </p:sp>
    </p:spTree>
    <p:extLst>
      <p:ext uri="{BB962C8B-B14F-4D97-AF65-F5344CB8AC3E}">
        <p14:creationId xmlns:p14="http://schemas.microsoft.com/office/powerpoint/2010/main" val="1124731495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711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C83033E-4989-4A41-B470-9805611B5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E23F"/>
          </a:solidFill>
          <a:ln xmlns:a="http://schemas.openxmlformats.org/drawingml/2006/main" w="19050">
            <a:solidFill>
              <a:srgbClr val="8BE2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B30AB48-BBE6-4F42-8A7D-4436532F5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500" b="1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1500" b="1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REQUISITOS · LÍNEA BASE ACUMULATIVA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2B5C8C-D725-4813-9F3A-965C8032C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6916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3450" b="1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3450" b="1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Product Backlog refinado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89B919-1C45-4386-9AC0-EA48AA505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16916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23E"/>
          </a:solidFill>
          <a:ln xmlns:a="http://schemas.openxmlformats.org/drawingml/2006/main" w="19050">
            <a:solidFill>
              <a:srgbClr val="31523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4A20000-0892-4A1E-8293-E390F3070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43125"/>
            <a:ext cx="169164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2400" b="1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2400" b="1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Historias divididas por resultado verificable · máximo 5 Story Points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B81E3C-950D-4789-A695-0C57EE639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3905250" cy="4714875"/>
          </a:xfrm>
          <a:prstGeom xmlns:a="http://schemas.openxmlformats.org/drawingml/2006/main" prst="roundRect">
            <a:avLst>
              <a:gd name="adj" fmla="val 1951"/>
            </a:avLst>
          </a:prstGeom>
          <a:solidFill xmlns:a="http://schemas.openxmlformats.org/drawingml/2006/main">
            <a:srgbClr val="102019"/>
          </a:solidFill>
          <a:ln xmlns:a="http://schemas.openxmlformats.org/drawingml/2006/main" w="19050">
            <a:solidFill>
              <a:srgbClr val="31523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AF891B-EEC6-4C9F-B4CB-10E10D749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476625"/>
            <a:ext cx="3371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1650" b="1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IDENTIDAD Y ESPACIOS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E92B79-595F-4A47-9CC4-BA734EF74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238625"/>
            <a:ext cx="337185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875" b="0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875" b="0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US-02 · Registro/login  5</a:t>
            </a:r>
          </a:p>
          <a:p xmlns:a="http://schemas.openxmlformats.org/drawingml/2006/main">
            <a:pPr>
              <a:buNone/>
              <a:defRPr sz="1875" b="0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875" b="0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US-03 · Recuperación  3</a:t>
            </a:r>
          </a:p>
          <a:p xmlns:a="http://schemas.openxmlformats.org/drawingml/2006/main">
            <a:pPr>
              <a:buNone/>
              <a:defRPr sz="1875" b="0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875" b="0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US-04A · Sedes  5</a:t>
            </a:r>
          </a:p>
          <a:p xmlns:a="http://schemas.openxmlformats.org/drawingml/2006/main">
            <a:pPr>
              <a:buNone/>
              <a:defRPr sz="1875" b="0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875" b="0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US-04B · Habitaciones  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D7164D-AB4F-4220-B00A-38CC024CD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143250"/>
            <a:ext cx="3905250" cy="4714875"/>
          </a:xfrm>
          <a:prstGeom xmlns:a="http://schemas.openxmlformats.org/drawingml/2006/main" prst="roundRect">
            <a:avLst>
              <a:gd name="adj" fmla="val 1951"/>
            </a:avLst>
          </a:prstGeom>
          <a:solidFill xmlns:a="http://schemas.openxmlformats.org/drawingml/2006/main">
            <a:srgbClr val="162B21"/>
          </a:solidFill>
          <a:ln xmlns:a="http://schemas.openxmlformats.org/drawingml/2006/main" w="19050">
            <a:solidFill>
              <a:srgbClr val="31523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342CD9-EA34-4100-842A-BAFBB1645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476625"/>
            <a:ext cx="3371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1650" b="1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CONTROL Y ENERGÍA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A4C53A-060D-4CBB-A2DE-9DF4CFC70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238625"/>
            <a:ext cx="337185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875" b="0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875" b="0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US-05 · Vinculación  5</a:t>
            </a:r>
          </a:p>
          <a:p xmlns:a="http://schemas.openxmlformats.org/drawingml/2006/main">
            <a:pPr>
              <a:buNone/>
              <a:defRPr sz="1875" b="0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875" b="0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US-06 · Control remoto  5</a:t>
            </a:r>
          </a:p>
          <a:p xmlns:a="http://schemas.openxmlformats.org/drawingml/2006/main">
            <a:pPr>
              <a:buNone/>
              <a:defRPr sz="1875" b="0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875" b="0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US-10A · Dashboard  5</a:t>
            </a:r>
          </a:p>
          <a:p xmlns:a="http://schemas.openxmlformats.org/drawingml/2006/main">
            <a:pPr>
              <a:buNone/>
              <a:defRPr sz="1875" b="0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875" b="0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US-10B · Histórico  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B32ADF-538F-4CF2-9915-DEFF0C06E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143250"/>
            <a:ext cx="3905250" cy="4714875"/>
          </a:xfrm>
          <a:prstGeom xmlns:a="http://schemas.openxmlformats.org/drawingml/2006/main" prst="roundRect">
            <a:avLst>
              <a:gd name="adj" fmla="val 1951"/>
            </a:avLst>
          </a:prstGeom>
          <a:solidFill xmlns:a="http://schemas.openxmlformats.org/drawingml/2006/main">
            <a:srgbClr val="102019"/>
          </a:solidFill>
          <a:ln xmlns:a="http://schemas.openxmlformats.org/drawingml/2006/main" w="19050">
            <a:solidFill>
              <a:srgbClr val="31523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3BF7D9-394F-4B9E-BE79-E2C3F1E62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476625"/>
            <a:ext cx="3371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1650" b="1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AUTOMATIZACIÓN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E4C9A6D-EF1B-4FA9-B4ED-7AF251655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238625"/>
            <a:ext cx="337185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875" b="0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875" b="0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US-07 · Grupos  5</a:t>
            </a:r>
          </a:p>
          <a:p xmlns:a="http://schemas.openxmlformats.org/drawingml/2006/main">
            <a:pPr>
              <a:buNone/>
              <a:defRPr sz="1875" b="0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875" b="0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US-08 · Rutinas  5</a:t>
            </a:r>
          </a:p>
          <a:p xmlns:a="http://schemas.openxmlformats.org/drawingml/2006/main">
            <a:pPr>
              <a:buNone/>
              <a:defRPr sz="1875" b="0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875" b="0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US-11A · Reglas  5</a:t>
            </a:r>
          </a:p>
          <a:p xmlns:a="http://schemas.openxmlformats.org/drawingml/2006/main">
            <a:pPr>
              <a:buNone/>
              <a:defRPr sz="1875" b="0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875" b="0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US-11B · Preferencias  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12FB846-178C-487F-9DAE-3D86999D3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73100" y="3143250"/>
            <a:ext cx="3905250" cy="4714875"/>
          </a:xfrm>
          <a:prstGeom xmlns:a="http://schemas.openxmlformats.org/drawingml/2006/main" prst="roundRect">
            <a:avLst>
              <a:gd name="adj" fmla="val 1951"/>
            </a:avLst>
          </a:prstGeom>
          <a:solidFill xmlns:a="http://schemas.openxmlformats.org/drawingml/2006/main">
            <a:srgbClr val="162B21"/>
          </a:solidFill>
          <a:ln xmlns:a="http://schemas.openxmlformats.org/drawingml/2006/main" w="19050">
            <a:solidFill>
              <a:srgbClr val="31523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1F743F9-9E1D-4F4B-9E56-1B515A549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39800" y="3476625"/>
            <a:ext cx="33718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1650" b="1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VALOR Y SOPORTE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B4FBC15-EAAE-488C-9EC3-DACD76AD6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39800" y="4238625"/>
            <a:ext cx="337185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875" b="0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875" b="0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US-12A · Metas  5</a:t>
            </a:r>
          </a:p>
          <a:p xmlns:a="http://schemas.openxmlformats.org/drawingml/2006/main">
            <a:pPr>
              <a:buNone/>
              <a:defRPr sz="1875" b="0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875" b="0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US-12B · Reportes  5</a:t>
            </a:r>
          </a:p>
          <a:p xmlns:a="http://schemas.openxmlformats.org/drawingml/2006/main">
            <a:pPr>
              <a:buNone/>
              <a:defRPr sz="1875" b="0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875" b="0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US-16A · Planes  3</a:t>
            </a:r>
          </a:p>
          <a:p xmlns:a="http://schemas.openxmlformats.org/drawingml/2006/main">
            <a:pPr>
              <a:buNone/>
              <a:defRPr sz="1875" b="0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875" b="0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US-16B · Suscripción  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DBD06D-FBF6-43D7-BD6A-CE897D473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286750"/>
            <a:ext cx="169164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0D2819"/>
          </a:solidFill>
          <a:ln xmlns:a="http://schemas.openxmlformats.org/drawingml/2006/main" w="19050">
            <a:solidFill>
              <a:srgbClr val="8BE2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C63D566-4ABA-410C-9BC5-6266332F9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8543925"/>
            <a:ext cx="16192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800" b="0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Refinamiento aplicado: las historias grandes se dividieron por resultado verificable. El total se conserva como estimación relativa del alcance.</a:t>
            </a:r>
          </a:p>
        </p:txBody>
      </p:sp>
    </p:spTree>
    <p:extLst>
      <p:ext uri="{BB962C8B-B14F-4D97-AF65-F5344CB8AC3E}">
        <p14:creationId xmlns:p14="http://schemas.microsoft.com/office/powerpoint/2010/main" val="64019988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33365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352B409A-B2E7-47BA-B15F-0DFDF081B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66000" flipH="0" flipV="0">
            <a:off x="9259956" y="587198"/>
            <a:ext cx="8397738" cy="4035779"/>
          </a:xfrm>
          <a:custGeom xmlns:a="http://schemas.openxmlformats.org/drawingml/2006/main">
            <a:rect l="l" t="t" r="r" b="b"/>
            <a:pathLst>
              <a:path w="2122015" h="1019796">
                <a:moveTo>
                  <a:pt x="0" y="40384"/>
                </a:moveTo>
                <a:lnTo>
                  <a:pt x="2103209" y="0"/>
                </a:lnTo>
                <a:lnTo>
                  <a:pt x="2122015" y="979412"/>
                </a:lnTo>
                <a:lnTo>
                  <a:pt x="18806" y="1019796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9c7ad2584e034d71"/>
            <a:stretch>
              <a:fillRect l="-1025" t="-19156" r="-2072" b="-24040"/>
            </a:stretch>
          </a:blipFill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A17CE00F-E2D7-455C-8BAE-9AB718AE5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9296400" y="4848225"/>
            <a:ext cx="8324850" cy="3876675"/>
          </a:xfrm>
          <a:custGeom xmlns:a="http://schemas.openxmlformats.org/drawingml/2006/main">
            <a:rect l="l" t="t" r="r" b="b"/>
            <a:pathLst>
              <a:path w="2103597" h="979592">
                <a:moveTo>
                  <a:pt x="0" y="0"/>
                </a:moveTo>
                <a:lnTo>
                  <a:pt x="2103597" y="0"/>
                </a:lnTo>
                <a:lnTo>
                  <a:pt x="2103597" y="979592"/>
                </a:lnTo>
                <a:lnTo>
                  <a:pt x="0" y="979592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8a1c8c008cc3401e"/>
            <a:stretch>
              <a:fillRect l="-14942" t="-29911" r="0" b="-8930"/>
            </a:stretch>
          </a:blipFill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6" name="TextBox 6">
            <a:extLst xmlns:a="http://schemas.openxmlformats.org/drawingml/2006/main">
              <a:ext uri="{FF2B5EF4-FFF2-40B4-BE49-F238E27FC236}">
                <a16:creationId xmlns:a16="http://schemas.microsoft.com/office/drawing/2014/main" id="{D5A5C690-B244-4FB7-95D6-691CA53E7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5057775"/>
            <a:ext cx="6886575" cy="17068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marL="0" lvl="0" indent="0" algn="l">
              <a:lnSpc>
                <a:spcPts val="3360"/>
              </a:lnSpc>
              <a:buNone/>
              <a:defRPr>
                <a:latin typeface="DM Sans"/>
                <a:ea typeface="DM Sans"/>
                <a:cs typeface="DM Sans"/>
              </a:defRPr>
            </a:pPr>
            <a:r>
              <a:rPr sz="2100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Webs</a:t>
            </a:r>
            <a:r>
              <a:rPr sz="2100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ite, WebApp y Mobile consumen una única API Spring Boot. La persistencia se centraliza en Neon PostgreSQL para mantener una sola fuente de datos del producto.</a:t>
            </a:r>
          </a:p>
        </p:txBody>
      </p:sp>
      <p:sp>
        <p:nvSpPr>
          <p:cNvPr id="7" name="TextBox 7">
            <a:extLst xmlns:a="http://schemas.openxmlformats.org/drawingml/2006/main">
              <a:ext uri="{FF2B5EF4-FFF2-40B4-BE49-F238E27FC236}">
                <a16:creationId xmlns:a16="http://schemas.microsoft.com/office/drawing/2014/main" id="{11A2631D-441E-4458-96D1-F8F4C55B7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733425"/>
            <a:ext cx="6886575" cy="2235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Georgia Pro Light"/>
                <a:ea typeface="Georgia Pro Light"/>
                <a:cs typeface="Georgia Pro Light"/>
              </a:defRPr>
            </a:defPPr>
            <a:lvl1pPr>
              <a:defRPr>
                <a:latin typeface="Georgia Pro Light"/>
                <a:ea typeface="Georgia Pro Light"/>
                <a:cs typeface="Georgia Pro Light"/>
              </a:defRPr>
            </a:lvl1pPr>
            <a:lvl2pPr>
              <a:defRPr>
                <a:latin typeface="Georgia Pro Light"/>
                <a:ea typeface="Georgia Pro Light"/>
                <a:cs typeface="Georgia Pro Light"/>
              </a:defRPr>
            </a:lvl2pPr>
            <a:lvl3pPr>
              <a:defRPr>
                <a:latin typeface="Georgia Pro Light"/>
                <a:ea typeface="Georgia Pro Light"/>
                <a:cs typeface="Georgia Pro Light"/>
              </a:defRPr>
            </a:lvl3pPr>
            <a:lvl4pPr>
              <a:defRPr>
                <a:latin typeface="Georgia Pro Light"/>
                <a:ea typeface="Georgia Pro Light"/>
                <a:cs typeface="Georgia Pro Light"/>
              </a:defRPr>
            </a:lvl4pPr>
            <a:lvl5pPr>
              <a:defRPr>
                <a:latin typeface="Georgia Pro Light"/>
                <a:ea typeface="Georgia Pro Light"/>
                <a:cs typeface="Georgia Pro Light"/>
              </a:defRPr>
            </a:lvl5pPr>
            <a:lvl6pPr>
              <a:defRPr>
                <a:latin typeface="Georgia Pro Light"/>
                <a:ea typeface="Georgia Pro Light"/>
                <a:cs typeface="Georgia Pro Light"/>
              </a:defRPr>
            </a:lvl6pPr>
            <a:lvl7pPr>
              <a:defRPr>
                <a:latin typeface="Georgia Pro Light"/>
                <a:ea typeface="Georgia Pro Light"/>
                <a:cs typeface="Georgia Pro Light"/>
              </a:defRPr>
            </a:lvl7pPr>
            <a:lvl8pPr>
              <a:defRPr>
                <a:latin typeface="Georgia Pro Light"/>
                <a:ea typeface="Georgia Pro Light"/>
                <a:cs typeface="Georgia Pro Light"/>
              </a:defRPr>
            </a:lvl8pPr>
            <a:lvl9pPr>
              <a:defRPr>
                <a:latin typeface="Georgia Pro Light"/>
                <a:ea typeface="Georgia Pro Light"/>
                <a:cs typeface="Georgia Pro Light"/>
              </a:defRPr>
            </a:lvl9pPr>
          </a:lstStyle>
          <a:p xmlns:a="http://schemas.openxmlformats.org/drawingml/2006/main">
            <a:pPr marL="0" lvl="0" indent="0" algn="l">
              <a:lnSpc>
                <a:spcPts val="8800"/>
              </a:lnSpc>
              <a:spcBef>
                <a:spcPct val="0"/>
              </a:spcBef>
              <a:buNone/>
              <a:defRPr>
                <a:latin typeface="Georgia Pro Light"/>
                <a:ea typeface="Georgia Pro Light"/>
                <a:cs typeface="Georgia Pro Light"/>
              </a:defRPr>
            </a:pPr>
            <a:r>
              <a:rPr sz="8000">
                <a:solidFill>
                  <a:srgbClr val="F5F6F7"/>
                </a:solidFill>
                <a:latin typeface="Georgia Pro Light"/>
                <a:ea typeface="Georgia Pro Light"/>
                <a:cs typeface="Georgia Pro Light"/>
              </a:rPr>
              <a:t>Arquitectura del Sistema</a:t>
            </a:r>
          </a:p>
        </p:txBody>
      </p:sp>
      <p:sp>
        <p:nvSpPr>
          <p:cNvPr id="8" name="TextBox 8">
            <a:extLst xmlns:a="http://schemas.openxmlformats.org/drawingml/2006/main">
              <a:ext uri="{FF2B5EF4-FFF2-40B4-BE49-F238E27FC236}">
                <a16:creationId xmlns:a16="http://schemas.microsoft.com/office/drawing/2014/main" id="{0C42A5EE-B774-4774-8ACA-F45FE1BBB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3305175"/>
            <a:ext cx="6886575" cy="9243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marL="0" lvl="0" indent="0" algn="l">
              <a:lnSpc>
                <a:spcPts val="3639"/>
              </a:lnSpc>
              <a:buNone/>
              <a:defRPr>
                <a:latin typeface="DM Sans"/>
                <a:ea typeface="DM Sans"/>
                <a:cs typeface="DM Sans"/>
              </a:defRPr>
            </a:pPr>
            <a:r>
              <a:rPr sz="2599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Integración efectiva de APIs y bases de datos para EnergyCore</a:t>
            </a:r>
          </a:p>
        </p:txBody>
      </p:sp>
    </p:spTree>
    <p:extLst>
      <p:ext uri="{BB962C8B-B14F-4D97-AF65-F5344CB8AC3E}">
        <p14:creationId xmlns:p14="http://schemas.microsoft.com/office/powerpoint/2010/main" val="3904069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711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8FD03711-0FA5-42DF-8440-A00D7143B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E23F"/>
          </a:solidFill>
          <a:ln xmlns:a="http://schemas.openxmlformats.org/drawingml/2006/main" w="19050">
            <a:solidFill>
              <a:srgbClr val="8BE2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936D70-2352-4D30-B8A9-09EEE98FB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500" b="1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1500" b="1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POSTGRESQL · NEON · MODELO RELACIONAL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19AFA47-3098-43CA-A9EF-595063E03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6916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3450" b="1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3450" b="1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Base de datos visible y trazable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85EF20-13A1-4D34-A415-CEE181EA6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16916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23E"/>
          </a:solidFill>
          <a:ln xmlns:a="http://schemas.openxmlformats.org/drawingml/2006/main" w="19050">
            <a:solidFill>
              <a:srgbClr val="31523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DAC909-36C1-47B0-AC6F-CBD088704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62250"/>
            <a:ext cx="28575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102019"/>
          </a:solidFill>
          <a:ln xmlns:a="http://schemas.openxmlformats.org/drawingml/2006/main" w="19050">
            <a:solidFill>
              <a:srgbClr val="43C66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3AE9CD-A993-4A46-94D1-33C989AB3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971800"/>
            <a:ext cx="2438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1650" b="1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USER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9F0ACC-A923-40B9-BA7F-52424CBCF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505200"/>
            <a:ext cx="2438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425" b="0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425" b="0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id · email · password_hash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A38722-D30D-45DE-948C-A53C1E915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2762250"/>
            <a:ext cx="28575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102019"/>
          </a:solidFill>
          <a:ln xmlns:a="http://schemas.openxmlformats.org/drawingml/2006/main" w="19050">
            <a:solidFill>
              <a:srgbClr val="43C66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618F36-58DA-41BC-ADF5-6E3283B85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2971800"/>
            <a:ext cx="2438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1650" b="1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WORKPLACE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F0F52D-2250-46ED-A185-F72856FCD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3505200"/>
            <a:ext cx="2438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425" b="0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425" b="0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id · owner_id · name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41D372-7708-4646-A1E0-8E9A4A0C8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762250"/>
            <a:ext cx="28575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102019"/>
          </a:solidFill>
          <a:ln xmlns:a="http://schemas.openxmlformats.org/drawingml/2006/main" w="19050">
            <a:solidFill>
              <a:srgbClr val="43C66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E46341-F2C3-46B4-9414-C35208D73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971800"/>
            <a:ext cx="2438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1650" b="1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ROOM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8DFA62-E53C-49B5-A194-61BD20336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505200"/>
            <a:ext cx="2438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425" b="0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425" b="0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id · workplace_id · name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0B0ECD-B928-4F8F-B69D-D427F954D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2762250"/>
            <a:ext cx="28575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102019"/>
          </a:solidFill>
          <a:ln xmlns:a="http://schemas.openxmlformats.org/drawingml/2006/main" w="19050">
            <a:solidFill>
              <a:srgbClr val="43C66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1C5E5B-8635-452C-862F-992B79CD8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96675" y="2971800"/>
            <a:ext cx="2438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1650" b="1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DEVICE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B7BEAC-16AE-4DC1-BE5B-3E8BAC230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96675" y="3505200"/>
            <a:ext cx="2438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425" b="0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425" b="0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id · room_id · status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34E9242-8F12-4B9A-8AA9-27F9A75B1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82750" y="2762250"/>
            <a:ext cx="30480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102019"/>
          </a:solidFill>
          <a:ln xmlns:a="http://schemas.openxmlformats.org/drawingml/2006/main" w="19050">
            <a:solidFill>
              <a:srgbClr val="43C66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F8026A4-98BA-4CC2-B947-1AEFA58FF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2300" y="2971800"/>
            <a:ext cx="2628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1650" b="1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ENERGY_SAMPLE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12ACA2F-A2EA-42F9-A932-6CF145A0D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592300" y="3505200"/>
            <a:ext cx="2628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425" b="0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425" b="0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id · device_id · watts · timestamp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919DF34-461E-456D-96EA-289094044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6191250"/>
            <a:ext cx="28575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102019"/>
          </a:solidFill>
          <a:ln xmlns:a="http://schemas.openxmlformats.org/drawingml/2006/main" w="19050">
            <a:solidFill>
              <a:srgbClr val="43C66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932CDFE-5946-48C6-AB3E-E1FD9F25A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6400800"/>
            <a:ext cx="2438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1650" b="1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ROUTINE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68A0085-2175-4D88-A835-8DE59D354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8925" y="6934200"/>
            <a:ext cx="2438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425" b="0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425" b="0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id · user_id · schedule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1854D2E-074B-4B8D-8AC4-8522B972F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6191250"/>
            <a:ext cx="28575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102019"/>
          </a:solidFill>
          <a:ln xmlns:a="http://schemas.openxmlformats.org/drawingml/2006/main" w="19050">
            <a:solidFill>
              <a:srgbClr val="43C66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E8EE412-E4C1-43E5-894A-9BB8C1453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6175" y="6400800"/>
            <a:ext cx="2438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1650" b="1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ALERT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E4D473E-EFC2-452F-89D8-1574EEEF6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6175" y="6934200"/>
            <a:ext cx="2438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425" b="0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425" b="0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id · user_id · severity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B9B9DA3-1E48-4ECB-B6B4-0990D7790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53875" y="6191250"/>
            <a:ext cx="2857500" cy="16192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102019"/>
          </a:solidFill>
          <a:ln xmlns:a="http://schemas.openxmlformats.org/drawingml/2006/main" w="19050">
            <a:solidFill>
              <a:srgbClr val="43C66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4C8E49C-C381-440D-86F3-D8DCABB46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63425" y="6400800"/>
            <a:ext cx="2438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1650" b="1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GOAL_REPORT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E01655B-A056-41AA-A1BB-5A5FC9F9A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63425" y="6934200"/>
            <a:ext cx="24384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425" b="0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425" b="0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goal · report · period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3184C93-1560-4D2A-ACA0-E47075E1B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571875"/>
            <a:ext cx="619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E2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4BEAD1A-025E-4E52-B98B-3837268C8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571875"/>
            <a:ext cx="619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E2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9A04CF8-F6DE-441F-8614-BE71F3515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571875"/>
            <a:ext cx="619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E2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4A81331-0933-453F-8D59-0101DD63D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44625" y="3571875"/>
            <a:ext cx="23812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E2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9AD228F-FFF7-4476-8EF3-E9042A889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3219450"/>
            <a:ext cx="533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4891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200" b="1">
                <a:solidFill>
                  <a:srgbClr val="B7C8BD"/>
                </a:solidFill>
                <a:latin typeface="DM Sans"/>
                <a:ea typeface="DM Sans"/>
                <a:cs typeface="DM Sans"/>
              </a:defRPr>
            </a:pPr>
            <a:r>
              <a:rPr sz="1200" b="1">
                <a:solidFill>
                  <a:srgbClr val="B7C8BD"/>
                </a:solidFill>
                <a:latin typeface="DM Sans"/>
                <a:ea typeface="DM Sans"/>
                <a:cs typeface="DM Sans"/>
              </a:rPr>
              <a:t>1 → 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3B81FD9-AF6A-4192-A665-04D860FFD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8525" y="3219450"/>
            <a:ext cx="533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4891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200" b="1">
                <a:solidFill>
                  <a:srgbClr val="B7C8BD"/>
                </a:solidFill>
                <a:latin typeface="DM Sans"/>
                <a:ea typeface="DM Sans"/>
                <a:cs typeface="DM Sans"/>
              </a:defRPr>
            </a:pPr>
            <a:r>
              <a:rPr sz="1200" b="1">
                <a:solidFill>
                  <a:srgbClr val="B7C8BD"/>
                </a:solidFill>
                <a:latin typeface="DM Sans"/>
                <a:ea typeface="DM Sans"/>
                <a:cs typeface="DM Sans"/>
              </a:rPr>
              <a:t>1 → 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36907F8-126A-4B66-B2F3-3E98A3322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3219450"/>
            <a:ext cx="533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4891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200" b="1">
                <a:solidFill>
                  <a:srgbClr val="B7C8BD"/>
                </a:solidFill>
                <a:latin typeface="DM Sans"/>
                <a:ea typeface="DM Sans"/>
                <a:cs typeface="DM Sans"/>
              </a:defRPr>
            </a:pPr>
            <a:r>
              <a:rPr sz="1200" b="1">
                <a:solidFill>
                  <a:srgbClr val="B7C8BD"/>
                </a:solidFill>
                <a:latin typeface="DM Sans"/>
                <a:ea typeface="DM Sans"/>
                <a:cs typeface="DM Sans"/>
              </a:rPr>
              <a:t>1 → N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19FD11B-3F11-4DD8-B6EF-56AA64CBF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0" y="3219450"/>
            <a:ext cx="533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4891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200" b="1">
                <a:solidFill>
                  <a:srgbClr val="B7C8BD"/>
                </a:solidFill>
                <a:latin typeface="DM Sans"/>
                <a:ea typeface="DM Sans"/>
                <a:cs typeface="DM Sans"/>
              </a:defRPr>
            </a:pPr>
            <a:r>
              <a:rPr sz="1200" b="1">
                <a:solidFill>
                  <a:srgbClr val="B7C8BD"/>
                </a:solidFill>
                <a:latin typeface="DM Sans"/>
                <a:ea typeface="DM Sans"/>
                <a:cs typeface="DM Sans"/>
              </a:rPr>
              <a:t>1 → N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3107405-4BF5-46DB-AE7F-EF780242D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8667750"/>
            <a:ext cx="15621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875" b="0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875" b="0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Una sola fuente de datos para WebApp y Flutter mediante la API Spring Boot. La evidencia pública verifica persistencia entre revisiones.</a:t>
            </a:r>
          </a:p>
        </p:txBody>
      </p:sp>
    </p:spTree>
    <p:extLst>
      <p:ext uri="{BB962C8B-B14F-4D97-AF65-F5344CB8AC3E}">
        <p14:creationId xmlns:p14="http://schemas.microsoft.com/office/powerpoint/2010/main" val="109114141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33365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253061CC-79F6-4947-AE2A-D6F2B213F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9509" y="985982"/>
            <a:ext cx="17968983" cy="9301018"/>
          </a:xfrm>
          <a:custGeom xmlns:a="http://schemas.openxmlformats.org/drawingml/2006/main">
            <a:rect l="l" t="t" r="r" b="b"/>
            <a:pathLst>
              <a:path w="2783866" h="1565643">
                <a:moveTo>
                  <a:pt x="0" y="474169"/>
                </a:moveTo>
                <a:lnTo>
                  <a:pt x="2583543" y="0"/>
                </a:lnTo>
                <a:lnTo>
                  <a:pt x="2783866" y="1091474"/>
                </a:lnTo>
                <a:lnTo>
                  <a:pt x="200323" y="1565643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4ed17a9ca01e463f"/>
            <a:stretch>
              <a:fillRect l="-22656" t="-21405" r="-20744" b="-22020"/>
            </a:stretch>
          </a:blipFill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4" name="TextBox 4">
            <a:extLst xmlns:a="http://schemas.openxmlformats.org/drawingml/2006/main">
              <a:ext uri="{FF2B5EF4-FFF2-40B4-BE49-F238E27FC236}">
                <a16:creationId xmlns:a16="http://schemas.microsoft.com/office/drawing/2014/main" id="{930A6772-8E89-4123-9679-69CB9D804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733425"/>
            <a:ext cx="16954500" cy="1117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Georgia Pro Light"/>
                <a:ea typeface="Georgia Pro Light"/>
                <a:cs typeface="Georgia Pro Light"/>
              </a:defRPr>
            </a:defPPr>
            <a:lvl1pPr>
              <a:defRPr>
                <a:latin typeface="Georgia Pro Light"/>
                <a:ea typeface="Georgia Pro Light"/>
                <a:cs typeface="Georgia Pro Light"/>
              </a:defRPr>
            </a:lvl1pPr>
            <a:lvl2pPr>
              <a:defRPr>
                <a:latin typeface="Georgia Pro Light"/>
                <a:ea typeface="Georgia Pro Light"/>
                <a:cs typeface="Georgia Pro Light"/>
              </a:defRPr>
            </a:lvl2pPr>
            <a:lvl3pPr>
              <a:defRPr>
                <a:latin typeface="Georgia Pro Light"/>
                <a:ea typeface="Georgia Pro Light"/>
                <a:cs typeface="Georgia Pro Light"/>
              </a:defRPr>
            </a:lvl3pPr>
            <a:lvl4pPr>
              <a:defRPr>
                <a:latin typeface="Georgia Pro Light"/>
                <a:ea typeface="Georgia Pro Light"/>
                <a:cs typeface="Georgia Pro Light"/>
              </a:defRPr>
            </a:lvl4pPr>
            <a:lvl5pPr>
              <a:defRPr>
                <a:latin typeface="Georgia Pro Light"/>
                <a:ea typeface="Georgia Pro Light"/>
                <a:cs typeface="Georgia Pro Light"/>
              </a:defRPr>
            </a:lvl5pPr>
            <a:lvl6pPr>
              <a:defRPr>
                <a:latin typeface="Georgia Pro Light"/>
                <a:ea typeface="Georgia Pro Light"/>
                <a:cs typeface="Georgia Pro Light"/>
              </a:defRPr>
            </a:lvl6pPr>
            <a:lvl7pPr>
              <a:defRPr>
                <a:latin typeface="Georgia Pro Light"/>
                <a:ea typeface="Georgia Pro Light"/>
                <a:cs typeface="Georgia Pro Light"/>
              </a:defRPr>
            </a:lvl7pPr>
            <a:lvl8pPr>
              <a:defRPr>
                <a:latin typeface="Georgia Pro Light"/>
                <a:ea typeface="Georgia Pro Light"/>
                <a:cs typeface="Georgia Pro Light"/>
              </a:defRPr>
            </a:lvl8pPr>
            <a:lvl9pPr>
              <a:defRPr>
                <a:latin typeface="Georgia Pro Light"/>
                <a:ea typeface="Georgia Pro Light"/>
                <a:cs typeface="Georgia Pro Light"/>
              </a:defRPr>
            </a:lvl9pPr>
          </a:lstStyle>
          <a:p xmlns:a="http://schemas.openxmlformats.org/drawingml/2006/main">
            <a:pPr marL="0" lvl="0" indent="0" algn="l">
              <a:lnSpc>
                <a:spcPts val="8800"/>
              </a:lnSpc>
              <a:spcBef>
                <a:spcPct val="0"/>
              </a:spcBef>
              <a:buNone/>
              <a:defRPr>
                <a:latin typeface="Georgia Pro Light"/>
                <a:ea typeface="Georgia Pro Light"/>
                <a:cs typeface="Georgia Pro Light"/>
              </a:defRPr>
            </a:pPr>
            <a:r>
              <a:rPr sz="8000">
                <a:solidFill>
                  <a:srgbClr val="F5F6F7"/>
                </a:solidFill>
                <a:latin typeface="Georgia Pro Light"/>
                <a:ea typeface="Georgia Pro Light"/>
                <a:cs typeface="Georgia Pro Light"/>
              </a:rPr>
              <a:t>Página de Aterrizaje</a:t>
            </a:r>
          </a:p>
        </p:txBody>
      </p:sp>
    </p:spTree>
    <p:extLst>
      <p:ext uri="{BB962C8B-B14F-4D97-AF65-F5344CB8AC3E}">
        <p14:creationId xmlns:p14="http://schemas.microsoft.com/office/powerpoint/2010/main" val="114832231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33365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F55CB224-0869-41C9-9372-D4B55F5E6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6750" y="2286000"/>
            <a:ext cx="11144250" cy="7231380"/>
          </a:xfrm>
          <a:custGeom xmlns:a="http://schemas.openxmlformats.org/drawingml/2006/main">
            <a:rect l="l" t="t" r="r" b="b"/>
            <a:pathLst>
              <a:path w="2816027" h="1827289">
                <a:moveTo>
                  <a:pt x="0" y="0"/>
                </a:moveTo>
                <a:lnTo>
                  <a:pt x="2816027" y="0"/>
                </a:lnTo>
                <a:lnTo>
                  <a:pt x="2816027" y="1827289"/>
                </a:lnTo>
                <a:lnTo>
                  <a:pt x="0" y="1827289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6c0f7d46c4644f83"/>
            <a:stretch>
              <a:fillRect l="0" t="-17700" r="-25471" b="-7744"/>
            </a:stretch>
          </a:blipFill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85558333-95F4-4C1B-A21B-9AEF4A0DE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4049375" y="2667000"/>
            <a:ext cx="2201980" cy="6667500"/>
          </a:xfrm>
          <a:custGeom xmlns:a="http://schemas.openxmlformats.org/drawingml/2006/main">
            <a:rect l="l" t="t" r="r" b="b"/>
            <a:pathLst>
              <a:path w="556416" h="1684803">
                <a:moveTo>
                  <a:pt x="0" y="0"/>
                </a:moveTo>
                <a:lnTo>
                  <a:pt x="556416" y="0"/>
                </a:lnTo>
                <a:lnTo>
                  <a:pt x="556416" y="1684803"/>
                </a:lnTo>
                <a:lnTo>
                  <a:pt x="0" y="1684803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e2de725ccfad4675"/>
            <a:stretch>
              <a:fillRect l="0" t="-67173" r="-177460" b="-36454"/>
            </a:stretch>
          </a:blipFill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7" name="TextBox 7">
            <a:extLst xmlns:a="http://schemas.openxmlformats.org/drawingml/2006/main">
              <a:ext uri="{FF2B5EF4-FFF2-40B4-BE49-F238E27FC236}">
                <a16:creationId xmlns:a16="http://schemas.microsoft.com/office/drawing/2014/main" id="{F4974321-D2C7-4F50-9EBF-A06D279B2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3430250" y="1466850"/>
            <a:ext cx="4191000" cy="123444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marL="0" lvl="0" indent="0" algn="l">
              <a:lnSpc>
                <a:spcPts val="3240"/>
              </a:lnSpc>
              <a:spcBef>
                <a:spcPct val="0"/>
              </a:spcBef>
              <a:buNone/>
              <a:defRPr>
                <a:latin typeface="DM Sans"/>
                <a:ea typeface="DM Sans"/>
                <a:cs typeface="DM Sans"/>
              </a:defRPr>
            </a:pPr>
            <a:r>
              <a:rPr sz="2025" u="none">
                <a:solidFill>
                  <a:srgbClr val="EAF7EE"/>
                </a:solidFill>
                <a:latin typeface="DM Sans"/>
                <a:ea typeface="DM Sans"/>
                <a:cs typeface="DM Sans"/>
              </a:rPr>
              <a:t>Flutter · Android real</a:t>
            </a:r>
          </a:p>
          <a:p xmlns:a="http://schemas.openxmlformats.org/drawingml/2006/main">
            <a:pPr marL="0" lvl="0" indent="0" algn="l">
              <a:lnSpc>
                <a:spcPts val="3240"/>
              </a:lnSpc>
              <a:spcBef>
                <a:spcPct val="0"/>
              </a:spcBef>
              <a:buNone/>
              <a:defRPr>
                <a:latin typeface="DM Sans"/>
                <a:ea typeface="DM Sans"/>
                <a:cs typeface="DM Sans"/>
              </a:defRPr>
            </a:pPr>
            <a:r>
              <a:rPr sz="2025" u="none">
                <a:solidFill>
                  <a:srgbClr val="EAF7EE"/>
                </a:solidFill>
                <a:latin typeface="DM Sans"/>
                <a:ea typeface="DM Sans"/>
                <a:cs typeface="DM Sans"/>
              </a:rPr>
              <a:t>Ejecución local con datos de demostración.</a:t>
            </a:r>
          </a:p>
        </p:txBody>
      </p:sp>
      <p:sp>
        <p:nvSpPr>
          <p:cNvPr id="8" name="TextBox 8">
            <a:extLst xmlns:a="http://schemas.openxmlformats.org/drawingml/2006/main">
              <a:ext uri="{FF2B5EF4-FFF2-40B4-BE49-F238E27FC236}">
                <a16:creationId xmlns:a16="http://schemas.microsoft.com/office/drawing/2014/main" id="{353F7B3B-42C4-4236-BD8A-1166C0DEA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6750" y="559593"/>
            <a:ext cx="16192500" cy="79629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Georgia Pro Light"/>
                <a:ea typeface="Georgia Pro Light"/>
                <a:cs typeface="Georgia Pro Light"/>
              </a:defRPr>
            </a:defPPr>
            <a:lvl1pPr>
              <a:defRPr>
                <a:latin typeface="Georgia Pro Light"/>
                <a:ea typeface="Georgia Pro Light"/>
                <a:cs typeface="Georgia Pro Light"/>
              </a:defRPr>
            </a:lvl1pPr>
            <a:lvl2pPr>
              <a:defRPr>
                <a:latin typeface="Georgia Pro Light"/>
                <a:ea typeface="Georgia Pro Light"/>
                <a:cs typeface="Georgia Pro Light"/>
              </a:defRPr>
            </a:lvl2pPr>
            <a:lvl3pPr>
              <a:defRPr>
                <a:latin typeface="Georgia Pro Light"/>
                <a:ea typeface="Georgia Pro Light"/>
                <a:cs typeface="Georgia Pro Light"/>
              </a:defRPr>
            </a:lvl3pPr>
            <a:lvl4pPr>
              <a:defRPr>
                <a:latin typeface="Georgia Pro Light"/>
                <a:ea typeface="Georgia Pro Light"/>
                <a:cs typeface="Georgia Pro Light"/>
              </a:defRPr>
            </a:lvl4pPr>
            <a:lvl5pPr>
              <a:defRPr>
                <a:latin typeface="Georgia Pro Light"/>
                <a:ea typeface="Georgia Pro Light"/>
                <a:cs typeface="Georgia Pro Light"/>
              </a:defRPr>
            </a:lvl5pPr>
            <a:lvl6pPr>
              <a:defRPr>
                <a:latin typeface="Georgia Pro Light"/>
                <a:ea typeface="Georgia Pro Light"/>
                <a:cs typeface="Georgia Pro Light"/>
              </a:defRPr>
            </a:lvl6pPr>
            <a:lvl7pPr>
              <a:defRPr>
                <a:latin typeface="Georgia Pro Light"/>
                <a:ea typeface="Georgia Pro Light"/>
                <a:cs typeface="Georgia Pro Light"/>
              </a:defRPr>
            </a:lvl7pPr>
            <a:lvl8pPr>
              <a:defRPr>
                <a:latin typeface="Georgia Pro Light"/>
                <a:ea typeface="Georgia Pro Light"/>
                <a:cs typeface="Georgia Pro Light"/>
              </a:defRPr>
            </a:lvl8pPr>
            <a:lvl9pPr>
              <a:defRPr>
                <a:latin typeface="Georgia Pro Light"/>
                <a:ea typeface="Georgia Pro Light"/>
                <a:cs typeface="Georgia Pro Light"/>
              </a:defRPr>
            </a:lvl9pPr>
          </a:lstStyle>
          <a:p xmlns:a="http://schemas.openxmlformats.org/drawingml/2006/main">
            <a:pPr marL="0" lvl="0" indent="0" algn="l">
              <a:lnSpc>
                <a:spcPts val="6270"/>
              </a:lnSpc>
              <a:spcBef>
                <a:spcPct val="0"/>
              </a:spcBef>
              <a:buNone/>
              <a:defRPr>
                <a:latin typeface="Georgia Pro Light"/>
                <a:ea typeface="Georgia Pro Light"/>
                <a:cs typeface="Georgia Pro Light"/>
              </a:defRPr>
            </a:pPr>
            <a:r>
              <a:rPr sz="5700" u="none">
                <a:solidFill>
                  <a:srgbClr val="7BE39C"/>
                </a:solidFill>
                <a:latin typeface="Georgia Pro Light"/>
                <a:ea typeface="Georgia Pro Light"/>
                <a:cs typeface="Georgia Pro Light"/>
              </a:rPr>
              <a:t>Acceso web y Android</a:t>
            </a:r>
          </a:p>
        </p:txBody>
      </p:sp>
      <p:sp>
        <p:nvSpPr>
          <p:cNvPr id="9" name="TextBox 9">
            <a:extLst xmlns:a="http://schemas.openxmlformats.org/drawingml/2006/main">
              <a:ext uri="{FF2B5EF4-FFF2-40B4-BE49-F238E27FC236}">
                <a16:creationId xmlns:a16="http://schemas.microsoft.com/office/drawing/2014/main" id="{6692DF17-79BC-49F6-85D5-1141EB7B7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6750" y="1488281"/>
            <a:ext cx="10477500" cy="39992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marL="0" lvl="0" indent="0" algn="l">
              <a:lnSpc>
                <a:spcPts val="3149"/>
              </a:lnSpc>
              <a:spcBef>
                <a:spcPct val="0"/>
              </a:spcBef>
              <a:buNone/>
              <a:defRPr>
                <a:latin typeface="DM Sans"/>
                <a:ea typeface="DM Sans"/>
                <a:cs typeface="DM Sans"/>
              </a:defRPr>
            </a:pPr>
            <a:r>
              <a:rPr sz="2250" u="none">
                <a:solidFill>
                  <a:srgbClr val="EAF7EE"/>
                </a:solidFill>
                <a:latin typeface="DM Sans"/>
                <a:ea typeface="DM Sans"/>
                <a:cs typeface="DM Sans"/>
              </a:rPr>
              <a:t>Angular · navegador</a:t>
            </a:r>
          </a:p>
        </p:txBody>
      </p:sp>
    </p:spTree>
    <p:extLst>
      <p:ext uri="{BB962C8B-B14F-4D97-AF65-F5344CB8AC3E}">
        <p14:creationId xmlns:p14="http://schemas.microsoft.com/office/powerpoint/2010/main" val="17376271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33365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1D26E050-413C-4604-914A-DDBD5A0C9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096250" y="1238250"/>
            <a:ext cx="9525000" cy="4933950"/>
          </a:xfrm>
          <a:custGeom xmlns:a="http://schemas.openxmlformats.org/drawingml/2006/main">
            <a:rect l="l" t="t" r="r" b="b"/>
            <a:pathLst>
              <a:path w="1475672" h="764398">
                <a:moveTo>
                  <a:pt x="0" y="0"/>
                </a:moveTo>
                <a:lnTo>
                  <a:pt x="1475672" y="0"/>
                </a:lnTo>
                <a:lnTo>
                  <a:pt x="1475672" y="764398"/>
                </a:lnTo>
                <a:lnTo>
                  <a:pt x="0" y="764398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b986c142a86140db"/>
            <a:stretch>
              <a:fillRect l="-64697" t="0" r="-43997" b="-108494"/>
            </a:stretch>
          </a:blipFill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5" name="TextBox 5">
            <a:extLst xmlns:a="http://schemas.openxmlformats.org/drawingml/2006/main">
              <a:ext uri="{FF2B5EF4-FFF2-40B4-BE49-F238E27FC236}">
                <a16:creationId xmlns:a16="http://schemas.microsoft.com/office/drawing/2014/main" id="{033A446F-EEBC-4ECF-9350-F0E732A5F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6750" y="1559718"/>
            <a:ext cx="6667500" cy="1676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Georgia Pro Light"/>
                <a:ea typeface="Georgia Pro Light"/>
                <a:cs typeface="Georgia Pro Light"/>
              </a:defRPr>
            </a:defPPr>
            <a:lvl1pPr>
              <a:defRPr>
                <a:latin typeface="Georgia Pro Light"/>
                <a:ea typeface="Georgia Pro Light"/>
                <a:cs typeface="Georgia Pro Light"/>
              </a:defRPr>
            </a:lvl1pPr>
            <a:lvl2pPr>
              <a:defRPr>
                <a:latin typeface="Georgia Pro Light"/>
                <a:ea typeface="Georgia Pro Light"/>
                <a:cs typeface="Georgia Pro Light"/>
              </a:defRPr>
            </a:lvl2pPr>
            <a:lvl3pPr>
              <a:defRPr>
                <a:latin typeface="Georgia Pro Light"/>
                <a:ea typeface="Georgia Pro Light"/>
                <a:cs typeface="Georgia Pro Light"/>
              </a:defRPr>
            </a:lvl3pPr>
            <a:lvl4pPr>
              <a:defRPr>
                <a:latin typeface="Georgia Pro Light"/>
                <a:ea typeface="Georgia Pro Light"/>
                <a:cs typeface="Georgia Pro Light"/>
              </a:defRPr>
            </a:lvl4pPr>
            <a:lvl5pPr>
              <a:defRPr>
                <a:latin typeface="Georgia Pro Light"/>
                <a:ea typeface="Georgia Pro Light"/>
                <a:cs typeface="Georgia Pro Light"/>
              </a:defRPr>
            </a:lvl5pPr>
            <a:lvl6pPr>
              <a:defRPr>
                <a:latin typeface="Georgia Pro Light"/>
                <a:ea typeface="Georgia Pro Light"/>
                <a:cs typeface="Georgia Pro Light"/>
              </a:defRPr>
            </a:lvl6pPr>
            <a:lvl7pPr>
              <a:defRPr>
                <a:latin typeface="Georgia Pro Light"/>
                <a:ea typeface="Georgia Pro Light"/>
                <a:cs typeface="Georgia Pro Light"/>
              </a:defRPr>
            </a:lvl7pPr>
            <a:lvl8pPr>
              <a:defRPr>
                <a:latin typeface="Georgia Pro Light"/>
                <a:ea typeface="Georgia Pro Light"/>
                <a:cs typeface="Georgia Pro Light"/>
              </a:defRPr>
            </a:lvl8pPr>
            <a:lvl9pPr>
              <a:defRPr>
                <a:latin typeface="Georgia Pro Light"/>
                <a:ea typeface="Georgia Pro Light"/>
                <a:cs typeface="Georgia Pro Light"/>
              </a:defRPr>
            </a:lvl9pPr>
          </a:lstStyle>
          <a:p xmlns:a="http://schemas.openxmlformats.org/drawingml/2006/main">
            <a:pPr marL="0" lvl="0" indent="0" algn="l">
              <a:lnSpc>
                <a:spcPts val="6600"/>
              </a:lnSpc>
              <a:spcBef>
                <a:spcPct val="0"/>
              </a:spcBef>
              <a:buNone/>
              <a:defRPr>
                <a:latin typeface="Georgia Pro Light"/>
                <a:ea typeface="Georgia Pro Light"/>
                <a:cs typeface="Georgia Pro Light"/>
              </a:defRPr>
            </a:pPr>
            <a:r>
              <a:rPr sz="6000" u="none">
                <a:solidFill>
                  <a:srgbClr val="7BE39C"/>
                </a:solidFill>
                <a:latin typeface="Georgia Pro Light"/>
                <a:ea typeface="Georgia Pro Light"/>
                <a:cs typeface="Georgia Pro Light"/>
              </a:rPr>
              <a:t>Dashboard</a:t>
            </a:r>
          </a:p>
          <a:p xmlns:a="http://schemas.openxmlformats.org/drawingml/2006/main">
            <a:pPr marL="0" lvl="0" indent="0" algn="l">
              <a:lnSpc>
                <a:spcPts val="6600"/>
              </a:lnSpc>
              <a:spcBef>
                <a:spcPct val="0"/>
              </a:spcBef>
              <a:buNone/>
              <a:defRPr>
                <a:latin typeface="Georgia Pro Light"/>
                <a:ea typeface="Georgia Pro Light"/>
                <a:cs typeface="Georgia Pro Light"/>
              </a:defRPr>
            </a:pPr>
            <a:r>
              <a:rPr sz="6000" u="none">
                <a:solidFill>
                  <a:srgbClr val="7BE39C"/>
                </a:solidFill>
                <a:latin typeface="Georgia Pro Light"/>
                <a:ea typeface="Georgia Pro Light"/>
                <a:cs typeface="Georgia Pro Light"/>
              </a:rPr>
              <a:t>energético</a:t>
            </a:r>
          </a:p>
        </p:txBody>
      </p:sp>
      <p:sp>
        <p:nvSpPr>
          <p:cNvPr id="6" name="TextBox 6">
            <a:extLst xmlns:a="http://schemas.openxmlformats.org/drawingml/2006/main">
              <a:ext uri="{FF2B5EF4-FFF2-40B4-BE49-F238E27FC236}">
                <a16:creationId xmlns:a16="http://schemas.microsoft.com/office/drawing/2014/main" id="{0C6B4EA2-1894-4B00-BD8F-66D5F7357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6750" y="4345781"/>
            <a:ext cx="6477000" cy="341274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marL="0" lvl="0" indent="0" algn="l">
              <a:lnSpc>
                <a:spcPts val="3359"/>
              </a:lnSpc>
              <a:spcBef>
                <a:spcPct val="0"/>
              </a:spcBef>
              <a:buNone/>
              <a:defRPr>
                <a:latin typeface="DM Sans"/>
                <a:ea typeface="DM Sans"/>
                <a:cs typeface="DM Sans"/>
              </a:defRPr>
            </a:pPr>
            <a:r>
              <a:rPr sz="2400" u="none">
                <a:solidFill>
                  <a:srgbClr val="EAF7EE"/>
                </a:solidFill>
                <a:latin typeface="DM Sans"/>
                <a:ea typeface="DM Sans"/>
                <a:cs typeface="DM Sans"/>
              </a:rPr>
              <a:t>Consumo diario, tendencias e indicadores de la aplicación web.</a:t>
            </a:r>
          </a:p>
          <a:p xmlns:a="http://schemas.openxmlformats.org/drawingml/2006/main">
            <a:pPr marL="0" lvl="0" indent="0" algn="l">
              <a:lnSpc>
                <a:spcPts val="3359"/>
              </a:lnSpc>
              <a:spcBef>
                <a:spcPct val="0"/>
              </a:spcBef>
              <a:buNone/>
            </a:pPr>
          </a:p>
          <a:p xmlns:a="http://schemas.openxmlformats.org/drawingml/2006/main">
            <a:pPr marL="0" lvl="0" indent="0" algn="l">
              <a:lnSpc>
                <a:spcPts val="3359"/>
              </a:lnSpc>
              <a:spcBef>
                <a:spcPct val="0"/>
              </a:spcBef>
              <a:buNone/>
              <a:defRPr>
                <a:latin typeface="DM Sans"/>
                <a:ea typeface="DM Sans"/>
                <a:cs typeface="DM Sans"/>
              </a:defRPr>
            </a:pPr>
            <a:r>
              <a:rPr sz="2400" u="none">
                <a:solidFill>
                  <a:srgbClr val="EAF7EE"/>
                </a:solidFill>
                <a:latin typeface="DM Sans"/>
                <a:ea typeface="DM Sans"/>
                <a:cs typeface="DM Sans"/>
              </a:rPr>
              <a:t>Angular → Spring Boot → PostgreSQL.</a:t>
            </a:r>
          </a:p>
          <a:p xmlns:a="http://schemas.openxmlformats.org/drawingml/2006/main">
            <a:pPr marL="0" lvl="0" indent="0" algn="l">
              <a:lnSpc>
                <a:spcPts val="3359"/>
              </a:lnSpc>
              <a:spcBef>
                <a:spcPct val="0"/>
              </a:spcBef>
              <a:buNone/>
            </a:pPr>
          </a:p>
          <a:p xmlns:a="http://schemas.openxmlformats.org/drawingml/2006/main">
            <a:pPr marL="0" lvl="0" indent="0" algn="l">
              <a:lnSpc>
                <a:spcPts val="3359"/>
              </a:lnSpc>
              <a:spcBef>
                <a:spcPct val="0"/>
              </a:spcBef>
              <a:buNone/>
              <a:defRPr>
                <a:latin typeface="DM Sans"/>
                <a:ea typeface="DM Sans"/>
                <a:cs typeface="DM Sans"/>
              </a:defRPr>
            </a:pPr>
            <a:r>
              <a:rPr sz="2400" u="none">
                <a:solidFill>
                  <a:srgbClr val="EAF7EE"/>
                </a:solidFill>
                <a:latin typeface="DM Sans"/>
                <a:ea typeface="DM Sans"/>
                <a:cs typeface="DM Sans"/>
              </a:rPr>
              <a:t>Ejecución local real con datos de demostración; no son mediciones físicas ni evidencia de producción.</a:t>
            </a:r>
          </a:p>
        </p:txBody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DABD1168-9421-4FD9-A9E4-ED3463243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096250" y="6477000"/>
            <a:ext cx="9525000" cy="2724150"/>
          </a:xfrm>
          <a:custGeom xmlns:a="http://schemas.openxmlformats.org/drawingml/2006/main">
            <a:rect l="l" t="t" r="r" b="b"/>
            <a:pathLst>
              <a:path w="9525000" h="2724150">
                <a:moveTo>
                  <a:pt x="0" y="0"/>
                </a:moveTo>
                <a:lnTo>
                  <a:pt x="9525000" y="0"/>
                </a:lnTo>
                <a:lnTo>
                  <a:pt x="9525000" y="2724150"/>
                </a:lnTo>
                <a:lnTo>
                  <a:pt x="0" y="272415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53f16b6da44142ba"/>
            <a:stretch>
              <a:fillRect l="0" t="-43" r="0" b="-43"/>
            </a:stretch>
          </a:blipFill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1056399585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33365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extBox 3">
            <a:extLst xmlns:a="http://schemas.openxmlformats.org/drawingml/2006/main">
              <a:ext uri="{FF2B5EF4-FFF2-40B4-BE49-F238E27FC236}">
                <a16:creationId xmlns:a16="http://schemas.microsoft.com/office/drawing/2014/main" id="{0B87B269-BBCF-4095-B4BA-F99553E47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6750" y="1647825"/>
            <a:ext cx="5238750" cy="150876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Georgia Pro Light"/>
                <a:ea typeface="Georgia Pro Light"/>
                <a:cs typeface="Georgia Pro Light"/>
              </a:defRPr>
            </a:defPPr>
            <a:lvl1pPr>
              <a:defRPr>
                <a:latin typeface="Georgia Pro Light"/>
                <a:ea typeface="Georgia Pro Light"/>
                <a:cs typeface="Georgia Pro Light"/>
              </a:defRPr>
            </a:lvl1pPr>
            <a:lvl2pPr>
              <a:defRPr>
                <a:latin typeface="Georgia Pro Light"/>
                <a:ea typeface="Georgia Pro Light"/>
                <a:cs typeface="Georgia Pro Light"/>
              </a:defRPr>
            </a:lvl2pPr>
            <a:lvl3pPr>
              <a:defRPr>
                <a:latin typeface="Georgia Pro Light"/>
                <a:ea typeface="Georgia Pro Light"/>
                <a:cs typeface="Georgia Pro Light"/>
              </a:defRPr>
            </a:lvl3pPr>
            <a:lvl4pPr>
              <a:defRPr>
                <a:latin typeface="Georgia Pro Light"/>
                <a:ea typeface="Georgia Pro Light"/>
                <a:cs typeface="Georgia Pro Light"/>
              </a:defRPr>
            </a:lvl4pPr>
            <a:lvl5pPr>
              <a:defRPr>
                <a:latin typeface="Georgia Pro Light"/>
                <a:ea typeface="Georgia Pro Light"/>
                <a:cs typeface="Georgia Pro Light"/>
              </a:defRPr>
            </a:lvl5pPr>
            <a:lvl6pPr>
              <a:defRPr>
                <a:latin typeface="Georgia Pro Light"/>
                <a:ea typeface="Georgia Pro Light"/>
                <a:cs typeface="Georgia Pro Light"/>
              </a:defRPr>
            </a:lvl6pPr>
            <a:lvl7pPr>
              <a:defRPr>
                <a:latin typeface="Georgia Pro Light"/>
                <a:ea typeface="Georgia Pro Light"/>
                <a:cs typeface="Georgia Pro Light"/>
              </a:defRPr>
            </a:lvl7pPr>
            <a:lvl8pPr>
              <a:defRPr>
                <a:latin typeface="Georgia Pro Light"/>
                <a:ea typeface="Georgia Pro Light"/>
                <a:cs typeface="Georgia Pro Light"/>
              </a:defRPr>
            </a:lvl8pPr>
            <a:lvl9pPr>
              <a:defRPr>
                <a:latin typeface="Georgia Pro Light"/>
                <a:ea typeface="Georgia Pro Light"/>
                <a:cs typeface="Georgia Pro Light"/>
              </a:defRPr>
            </a:lvl9pPr>
          </a:lstStyle>
          <a:p xmlns:a="http://schemas.openxmlformats.org/drawingml/2006/main">
            <a:pPr marL="0" lvl="0" indent="0" algn="l">
              <a:lnSpc>
                <a:spcPts val="5940"/>
              </a:lnSpc>
              <a:spcBef>
                <a:spcPct val="0"/>
              </a:spcBef>
              <a:buNone/>
              <a:defRPr>
                <a:latin typeface="Georgia Pro Light"/>
                <a:ea typeface="Georgia Pro Light"/>
                <a:cs typeface="Georgia Pro Light"/>
              </a:defRPr>
            </a:pPr>
            <a:r>
              <a:rPr sz="5400" u="none">
                <a:solidFill>
                  <a:srgbClr val="7BE39C"/>
                </a:solidFill>
                <a:latin typeface="Georgia Pro Light"/>
                <a:ea typeface="Georgia Pro Light"/>
                <a:cs typeface="Georgia Pro Light"/>
              </a:rPr>
              <a:t>EnergyCore</a:t>
            </a:r>
          </a:p>
          <a:p xmlns:a="http://schemas.openxmlformats.org/drawingml/2006/main">
            <a:pPr marL="0" lvl="0" indent="0" algn="l">
              <a:lnSpc>
                <a:spcPts val="5940"/>
              </a:lnSpc>
              <a:spcBef>
                <a:spcPct val="0"/>
              </a:spcBef>
              <a:buNone/>
              <a:defRPr>
                <a:latin typeface="Georgia Pro Light"/>
                <a:ea typeface="Georgia Pro Light"/>
                <a:cs typeface="Georgia Pro Light"/>
              </a:defRPr>
            </a:pPr>
            <a:r>
              <a:rPr sz="5400" u="none">
                <a:solidFill>
                  <a:srgbClr val="7BE39C"/>
                </a:solidFill>
                <a:latin typeface="Georgia Pro Light"/>
                <a:ea typeface="Georgia Pro Light"/>
                <a:cs typeface="Georgia Pro Light"/>
              </a:rPr>
              <a:t>en Android</a:t>
            </a:r>
          </a:p>
        </p:txBody>
      </p:sp>
      <p:sp>
        <p:nvSpPr>
          <p:cNvPr id="4" name="TextBox 4">
            <a:extLst xmlns:a="http://schemas.openxmlformats.org/drawingml/2006/main">
              <a:ext uri="{FF2B5EF4-FFF2-40B4-BE49-F238E27FC236}">
                <a16:creationId xmlns:a16="http://schemas.microsoft.com/office/drawing/2014/main" id="{81595F52-2599-4F9D-92EB-AD9D6AACB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6750" y="5310187"/>
            <a:ext cx="5048250" cy="3657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marL="0" lvl="0" indent="0" algn="l">
              <a:lnSpc>
                <a:spcPts val="3600"/>
              </a:lnSpc>
              <a:spcBef>
                <a:spcPct val="0"/>
              </a:spcBef>
              <a:buNone/>
              <a:defRPr>
                <a:latin typeface="DM Sans"/>
                <a:ea typeface="DM Sans"/>
                <a:cs typeface="DM Sans"/>
              </a:defRPr>
            </a:pPr>
            <a:r>
              <a:rPr sz="2250" u="none">
                <a:solidFill>
                  <a:srgbClr val="EAF7EE"/>
                </a:solidFill>
                <a:latin typeface="DM Sans"/>
                <a:ea typeface="DM Sans"/>
                <a:cs typeface="DM Sans"/>
              </a:rPr>
              <a:t>Flutter conectado a la API local.</a:t>
            </a:r>
          </a:p>
          <a:p xmlns:a="http://schemas.openxmlformats.org/drawingml/2006/main">
            <a:pPr marL="0" lvl="0" indent="0" algn="l">
              <a:lnSpc>
                <a:spcPts val="3600"/>
              </a:lnSpc>
              <a:spcBef>
                <a:spcPct val="0"/>
              </a:spcBef>
              <a:buNone/>
            </a:pPr>
          </a:p>
          <a:p xmlns:a="http://schemas.openxmlformats.org/drawingml/2006/main">
            <a:pPr marL="0" lvl="0" indent="0" algn="l">
              <a:lnSpc>
                <a:spcPts val="3600"/>
              </a:lnSpc>
              <a:spcBef>
                <a:spcPct val="0"/>
              </a:spcBef>
              <a:buNone/>
              <a:defRPr>
                <a:latin typeface="DM Sans"/>
                <a:ea typeface="DM Sans"/>
                <a:cs typeface="DM Sans"/>
              </a:defRPr>
            </a:pPr>
            <a:r>
              <a:rPr sz="2250" u="none">
                <a:solidFill>
                  <a:srgbClr val="EAF7EE"/>
                </a:solidFill>
                <a:latin typeface="DM Sans"/>
                <a:ea typeface="DM Sans"/>
                <a:cs typeface="DM Sans"/>
              </a:rPr>
              <a:t>Potencia por habitación verificada: 1370 W.</a:t>
            </a:r>
          </a:p>
          <a:p xmlns:a="http://schemas.openxmlformats.org/drawingml/2006/main">
            <a:pPr marL="0" lvl="0" indent="0" algn="l">
              <a:lnSpc>
                <a:spcPts val="3600"/>
              </a:lnSpc>
              <a:spcBef>
                <a:spcPct val="0"/>
              </a:spcBef>
              <a:buNone/>
            </a:pPr>
          </a:p>
          <a:p xmlns:a="http://schemas.openxmlformats.org/drawingml/2006/main">
            <a:pPr marL="0" lvl="0" indent="0" algn="l">
              <a:lnSpc>
                <a:spcPts val="3600"/>
              </a:lnSpc>
              <a:spcBef>
                <a:spcPct val="0"/>
              </a:spcBef>
              <a:buNone/>
              <a:defRPr>
                <a:latin typeface="DM Sans"/>
                <a:ea typeface="DM Sans"/>
                <a:cs typeface="DM Sans"/>
              </a:defRPr>
            </a:pPr>
            <a:r>
              <a:rPr sz="2250" u="none">
                <a:solidFill>
                  <a:srgbClr val="EAF7EE"/>
                </a:solidFill>
                <a:latin typeface="DM Sans"/>
                <a:ea typeface="DM Sans"/>
                <a:cs typeface="DM Sans"/>
              </a:rPr>
              <a:t>Datos de demostración; no son mediciones físicas ni evidencia de producción.</a:t>
            </a:r>
          </a:p>
        </p:txBody>
      </p:sp>
      <p:sp>
        <p:nvSpPr>
          <p:cNvPr id="5" name="TextBox 5">
            <a:extLst xmlns:a="http://schemas.openxmlformats.org/drawingml/2006/main">
              <a:ext uri="{FF2B5EF4-FFF2-40B4-BE49-F238E27FC236}">
                <a16:creationId xmlns:a16="http://schemas.microsoft.com/office/drawing/2014/main" id="{57BAB789-41F4-4FC1-AE99-73B445B71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6750" y="3869531"/>
            <a:ext cx="5048250" cy="42659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marL="0" lvl="0" indent="0" algn="l">
              <a:lnSpc>
                <a:spcPts val="3359"/>
              </a:lnSpc>
              <a:spcBef>
                <a:spcPct val="0"/>
              </a:spcBef>
              <a:buNone/>
              <a:defRPr>
                <a:latin typeface="DM Sans"/>
                <a:ea typeface="DM Sans"/>
                <a:cs typeface="DM Sans"/>
              </a:defRPr>
            </a:pPr>
            <a:r>
              <a:rPr sz="2400" u="none">
                <a:solidFill>
                  <a:srgbClr val="EAF7EE"/>
                </a:solidFill>
                <a:latin typeface="DM Sans"/>
                <a:ea typeface="DM Sans"/>
                <a:cs typeface="DM Sans"/>
              </a:rPr>
              <a:t>Inicio → consumo → dispositivos</a:t>
            </a:r>
          </a:p>
        </p:txBody>
      </p:sp>
      <p:sp>
        <p:nvSpPr>
          <p:cNvPr id="7" name="Freeform 7">
            <a:extLst xmlns:a="http://schemas.openxmlformats.org/drawingml/2006/main">
              <a:ext uri="{FF2B5EF4-FFF2-40B4-BE49-F238E27FC236}">
                <a16:creationId xmlns:a16="http://schemas.microsoft.com/office/drawing/2014/main" id="{6A1F6C50-2F84-473B-91CB-A4ABE6DDD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572250" y="1809750"/>
            <a:ext cx="3333750" cy="7410450"/>
          </a:xfrm>
          <a:custGeom xmlns:a="http://schemas.openxmlformats.org/drawingml/2006/main">
            <a:rect l="l" t="t" r="r" b="b"/>
            <a:pathLst>
              <a:path w="516485" h="1148073">
                <a:moveTo>
                  <a:pt x="0" y="0"/>
                </a:moveTo>
                <a:lnTo>
                  <a:pt x="516485" y="0"/>
                </a:lnTo>
                <a:lnTo>
                  <a:pt x="516485" y="1148073"/>
                </a:lnTo>
                <a:lnTo>
                  <a:pt x="0" y="1148073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3184a12020524d74"/>
            <a:stretch>
              <a:fillRect l="0" t="-43844" r="-126571" b="-82662"/>
            </a:stretch>
          </a:blipFill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8" name="Freeform 8">
            <a:extLst xmlns:a="http://schemas.openxmlformats.org/drawingml/2006/main">
              <a:ext uri="{FF2B5EF4-FFF2-40B4-BE49-F238E27FC236}">
                <a16:creationId xmlns:a16="http://schemas.microsoft.com/office/drawing/2014/main" id="{2154704E-5488-4C66-AA50-1E2A9962FB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382250" y="1809750"/>
            <a:ext cx="3333750" cy="7410450"/>
          </a:xfrm>
          <a:custGeom xmlns:a="http://schemas.openxmlformats.org/drawingml/2006/main">
            <a:rect l="l" t="t" r="r" b="b"/>
            <a:pathLst>
              <a:path w="3333750" h="7410450">
                <a:moveTo>
                  <a:pt x="0" y="0"/>
                </a:moveTo>
                <a:lnTo>
                  <a:pt x="3333750" y="0"/>
                </a:lnTo>
                <a:lnTo>
                  <a:pt x="3333750" y="7410450"/>
                </a:lnTo>
                <a:lnTo>
                  <a:pt x="0" y="741045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120261525f4a4add"/>
            <a:stretch>
              <a:fillRect l="-14" t="0" r="-14" b="0"/>
            </a:stretch>
          </a:blipFill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2975AAA7-3EBE-4E2F-878F-513877EA8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4192250" y="1809750"/>
            <a:ext cx="3333750" cy="7410450"/>
          </a:xfrm>
          <a:custGeom xmlns:a="http://schemas.openxmlformats.org/drawingml/2006/main">
            <a:rect l="l" t="t" r="r" b="b"/>
            <a:pathLst>
              <a:path w="3333750" h="7410450">
                <a:moveTo>
                  <a:pt x="0" y="0"/>
                </a:moveTo>
                <a:lnTo>
                  <a:pt x="3333750" y="0"/>
                </a:lnTo>
                <a:lnTo>
                  <a:pt x="3333750" y="7410450"/>
                </a:lnTo>
                <a:lnTo>
                  <a:pt x="0" y="741045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2d09cf1c0eaa40c6"/>
            <a:stretch>
              <a:fillRect l="-14" t="0" r="-14" b="0"/>
            </a:stretch>
          </a:blipFill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36080134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33365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C4A76320-A286-4872-953D-500BF6C94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6478250" y="8905875"/>
            <a:ext cx="809625" cy="695325"/>
          </a:xfrm>
          <a:custGeom xmlns:a="http://schemas.openxmlformats.org/drawingml/2006/main">
            <a:rect l="l" t="t" r="r" b="b"/>
            <a:pathLst>
              <a:path w="809625" h="695325">
                <a:moveTo>
                  <a:pt x="0" y="0"/>
                </a:moveTo>
                <a:lnTo>
                  <a:pt x="809625" y="0"/>
                </a:lnTo>
                <a:lnTo>
                  <a:pt x="809625" y="695325"/>
                </a:lnTo>
                <a:lnTo>
                  <a:pt x="0" y="695325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3" name="TextBox 3">
            <a:extLst xmlns:a="http://schemas.openxmlformats.org/drawingml/2006/main">
              <a:ext uri="{FF2B5EF4-FFF2-40B4-BE49-F238E27FC236}">
                <a16:creationId xmlns:a16="http://schemas.microsoft.com/office/drawing/2014/main" id="{3B60C3F5-9A56-44F0-AFD8-36F7AD85E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571500"/>
            <a:ext cx="16097250" cy="7334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Georgia Pro Light"/>
                <a:ea typeface="Georgia Pro Light"/>
                <a:cs typeface="Georgia Pro Light"/>
              </a:defRPr>
            </a:defPPr>
            <a:lvl1pPr>
              <a:defRPr>
                <a:latin typeface="Georgia Pro Light"/>
                <a:ea typeface="Georgia Pro Light"/>
                <a:cs typeface="Georgia Pro Light"/>
              </a:defRPr>
            </a:lvl1pPr>
            <a:lvl2pPr>
              <a:defRPr>
                <a:latin typeface="Georgia Pro Light"/>
                <a:ea typeface="Georgia Pro Light"/>
                <a:cs typeface="Georgia Pro Light"/>
              </a:defRPr>
            </a:lvl2pPr>
            <a:lvl3pPr>
              <a:defRPr>
                <a:latin typeface="Georgia Pro Light"/>
                <a:ea typeface="Georgia Pro Light"/>
                <a:cs typeface="Georgia Pro Light"/>
              </a:defRPr>
            </a:lvl3pPr>
            <a:lvl4pPr>
              <a:defRPr>
                <a:latin typeface="Georgia Pro Light"/>
                <a:ea typeface="Georgia Pro Light"/>
                <a:cs typeface="Georgia Pro Light"/>
              </a:defRPr>
            </a:lvl4pPr>
            <a:lvl5pPr>
              <a:defRPr>
                <a:latin typeface="Georgia Pro Light"/>
                <a:ea typeface="Georgia Pro Light"/>
                <a:cs typeface="Georgia Pro Light"/>
              </a:defRPr>
            </a:lvl5pPr>
            <a:lvl6pPr>
              <a:defRPr>
                <a:latin typeface="Georgia Pro Light"/>
                <a:ea typeface="Georgia Pro Light"/>
                <a:cs typeface="Georgia Pro Light"/>
              </a:defRPr>
            </a:lvl6pPr>
            <a:lvl7pPr>
              <a:defRPr>
                <a:latin typeface="Georgia Pro Light"/>
                <a:ea typeface="Georgia Pro Light"/>
                <a:cs typeface="Georgia Pro Light"/>
              </a:defRPr>
            </a:lvl7pPr>
            <a:lvl8pPr>
              <a:defRPr>
                <a:latin typeface="Georgia Pro Light"/>
                <a:ea typeface="Georgia Pro Light"/>
                <a:cs typeface="Georgia Pro Light"/>
              </a:defRPr>
            </a:lvl8pPr>
            <a:lvl9pPr>
              <a:defRPr>
                <a:latin typeface="Georgia Pro Light"/>
                <a:ea typeface="Georgia Pro Light"/>
                <a:cs typeface="Georgia Pro Light"/>
              </a:defRPr>
            </a:lvl9pPr>
          </a:lstStyle>
          <a:p xmlns:a="http://schemas.openxmlformats.org/drawingml/2006/main">
            <a:pPr marL="0" lvl="0" indent="0" algn="l">
              <a:lnSpc>
                <a:spcPts val="5775"/>
              </a:lnSpc>
              <a:spcBef>
                <a:spcPct val="0"/>
              </a:spcBef>
              <a:buNone/>
              <a:defRPr>
                <a:latin typeface="Georgia Pro Light"/>
                <a:ea typeface="Georgia Pro Light"/>
                <a:cs typeface="Georgia Pro Light"/>
              </a:defRPr>
            </a:pPr>
            <a:r>
              <a:rPr sz="5250" u="none">
                <a:solidFill>
                  <a:srgbClr val="7BE39C"/>
                </a:solidFill>
                <a:latin typeface="Georgia Pro Light"/>
                <a:ea typeface="Georgia Pro Light"/>
                <a:cs typeface="Georgia Pro Light"/>
              </a:rPr>
              <a:t>API real · Swagger / OpenAPI</a:t>
            </a:r>
          </a:p>
        </p:txBody>
      </p:sp>
      <p:sp>
        <p:nvSpPr>
          <p:cNvPr id="4" name="TextBox 4">
            <a:extLst xmlns:a="http://schemas.openxmlformats.org/drawingml/2006/main">
              <a:ext uri="{FF2B5EF4-FFF2-40B4-BE49-F238E27FC236}">
                <a16:creationId xmlns:a16="http://schemas.microsoft.com/office/drawing/2014/main" id="{8F71DA8C-2D1F-4439-8FFE-2EDDC8E2D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39500" y="2714625"/>
            <a:ext cx="6286500" cy="3733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marL="0" lvl="0" indent="0" algn="l">
              <a:lnSpc>
                <a:spcPts val="2940"/>
              </a:lnSpc>
              <a:spcBef>
                <a:spcPct val="0"/>
              </a:spcBef>
              <a:buNone/>
              <a:defRPr>
                <a:latin typeface="DM Sans"/>
                <a:ea typeface="DM Sans"/>
                <a:cs typeface="DM Sans"/>
              </a:defRPr>
            </a:pPr>
            <a:r>
              <a:rPr sz="2100" u="none">
                <a:solidFill>
                  <a:srgbClr val="EAF7EE"/>
                </a:solidFill>
                <a:latin typeface="DM Sans"/>
                <a:ea typeface="DM Sans"/>
                <a:cs typeface="DM Sans"/>
              </a:rPr>
              <a:t>Contrato OpenAPI 3.1.0 organizado por dominio.</a:t>
            </a:r>
          </a:p>
        </p:txBody>
      </p:sp>
      <p:sp>
        <p:nvSpPr>
          <p:cNvPr id="5" name="TextBox 5">
            <a:extLst xmlns:a="http://schemas.openxmlformats.org/drawingml/2006/main">
              <a:ext uri="{FF2B5EF4-FFF2-40B4-BE49-F238E27FC236}">
                <a16:creationId xmlns:a16="http://schemas.microsoft.com/office/drawing/2014/main" id="{733EF329-9CAC-4BEB-82EE-C4C047F67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39500" y="2047875"/>
            <a:ext cx="6286500" cy="5067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 Bold"/>
                <a:ea typeface="DM Sans Bold"/>
                <a:cs typeface="DM Sans Bold"/>
              </a:defRPr>
            </a:defPPr>
            <a:lvl1pPr>
              <a:defRPr>
                <a:latin typeface="DM Sans Bold"/>
                <a:ea typeface="DM Sans Bold"/>
                <a:cs typeface="DM Sans Bold"/>
              </a:defRPr>
            </a:lvl1pPr>
            <a:lvl2pPr>
              <a:defRPr>
                <a:latin typeface="DM Sans Bold"/>
                <a:ea typeface="DM Sans Bold"/>
                <a:cs typeface="DM Sans Bold"/>
              </a:defRPr>
            </a:lvl2pPr>
            <a:lvl3pPr>
              <a:defRPr>
                <a:latin typeface="DM Sans Bold"/>
                <a:ea typeface="DM Sans Bold"/>
                <a:cs typeface="DM Sans Bold"/>
              </a:defRPr>
            </a:lvl3pPr>
            <a:lvl4pPr>
              <a:defRPr>
                <a:latin typeface="DM Sans Bold"/>
                <a:ea typeface="DM Sans Bold"/>
                <a:cs typeface="DM Sans Bold"/>
              </a:defRPr>
            </a:lvl4pPr>
            <a:lvl5pPr>
              <a:defRPr>
                <a:latin typeface="DM Sans Bold"/>
                <a:ea typeface="DM Sans Bold"/>
                <a:cs typeface="DM Sans Bold"/>
              </a:defRPr>
            </a:lvl5pPr>
            <a:lvl6pPr>
              <a:defRPr>
                <a:latin typeface="DM Sans Bold"/>
                <a:ea typeface="DM Sans Bold"/>
                <a:cs typeface="DM Sans Bold"/>
              </a:defRPr>
            </a:lvl6pPr>
            <a:lvl7pPr>
              <a:defRPr>
                <a:latin typeface="DM Sans Bold"/>
                <a:ea typeface="DM Sans Bold"/>
                <a:cs typeface="DM Sans Bold"/>
              </a:defRPr>
            </a:lvl7pPr>
            <a:lvl8pPr>
              <a:defRPr>
                <a:latin typeface="DM Sans Bold"/>
                <a:ea typeface="DM Sans Bold"/>
                <a:cs typeface="DM Sans Bold"/>
              </a:defRPr>
            </a:lvl8pPr>
            <a:lvl9pPr>
              <a:defRPr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 marL="0" lvl="0" indent="0" algn="l">
              <a:lnSpc>
                <a:spcPts val="3990"/>
              </a:lnSpc>
              <a:spcBef>
                <a:spcPct val="0"/>
              </a:spcBef>
              <a:buNone/>
              <a:defRPr>
                <a:latin typeface="DM Sans Bold"/>
                <a:ea typeface="DM Sans Bold"/>
                <a:cs typeface="DM Sans Bold"/>
              </a:defRPr>
            </a:pPr>
            <a:r>
              <a:rPr sz="2850" b="1" u="none">
                <a:solidFill>
                  <a:srgbClr val="7BE39C"/>
                </a:solidFill>
                <a:latin typeface="DM Sans Bold"/>
                <a:ea typeface="DM Sans Bold"/>
                <a:cs typeface="DM Sans Bold"/>
              </a:rPr>
              <a:t>100 OPERACIONES REST</a:t>
            </a:r>
          </a:p>
        </p:txBody>
      </p:sp>
      <p:sp>
        <p:nvSpPr>
          <p:cNvPr id="6" name="TextBox 6">
            <a:extLst xmlns:a="http://schemas.openxmlformats.org/drawingml/2006/main">
              <a:ext uri="{FF2B5EF4-FFF2-40B4-BE49-F238E27FC236}">
                <a16:creationId xmlns:a16="http://schemas.microsoft.com/office/drawing/2014/main" id="{782834A2-CEA2-41B6-9893-7408FAC7C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39500" y="6334125"/>
            <a:ext cx="6286500" cy="199961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marL="0" lvl="0" indent="0" algn="l">
              <a:lnSpc>
                <a:spcPts val="3149"/>
              </a:lnSpc>
              <a:spcBef>
                <a:spcPct val="0"/>
              </a:spcBef>
              <a:buNone/>
              <a:defRPr>
                <a:latin typeface="DM Sans"/>
                <a:ea typeface="DM Sans"/>
                <a:cs typeface="DM Sans"/>
              </a:defRPr>
            </a:pPr>
            <a:r>
              <a:rPr sz="2250" u="none">
                <a:solidFill>
                  <a:srgbClr val="EAF7EE"/>
                </a:solidFill>
                <a:latin typeface="DM Sans"/>
                <a:ea typeface="DM Sans"/>
                <a:cs typeface="DM Sans"/>
              </a:rPr>
              <a:t>Endpoints reales de consumo y monitoreo.</a:t>
            </a:r>
          </a:p>
          <a:p xmlns:a="http://schemas.openxmlformats.org/drawingml/2006/main">
            <a:pPr marL="0" lvl="0" indent="0" algn="l">
              <a:lnSpc>
                <a:spcPts val="3149"/>
              </a:lnSpc>
              <a:spcBef>
                <a:spcPct val="0"/>
              </a:spcBef>
              <a:buNone/>
            </a:pPr>
          </a:p>
          <a:p xmlns:a="http://schemas.openxmlformats.org/drawingml/2006/main">
            <a:pPr marL="0" lvl="0" indent="0" algn="l">
              <a:lnSpc>
                <a:spcPts val="3149"/>
              </a:lnSpc>
              <a:spcBef>
                <a:spcPct val="0"/>
              </a:spcBef>
              <a:buNone/>
              <a:defRPr>
                <a:latin typeface="DM Sans"/>
                <a:ea typeface="DM Sans"/>
                <a:cs typeface="DM Sans"/>
              </a:defRPr>
            </a:pPr>
            <a:r>
              <a:rPr sz="2250" u="none">
                <a:solidFill>
                  <a:srgbClr val="EAF7EE"/>
                </a:solidFill>
                <a:latin typeface="DM Sans"/>
                <a:ea typeface="DM Sans"/>
                <a:cs typeface="DM Sans"/>
              </a:rPr>
              <a:t>Spring Boot + PostgreSQL local.</a:t>
            </a:r>
          </a:p>
          <a:p xmlns:a="http://schemas.openxmlformats.org/drawingml/2006/main">
            <a:pPr marL="0" lvl="0" indent="0" algn="l">
              <a:lnSpc>
                <a:spcPts val="3149"/>
              </a:lnSpc>
              <a:spcBef>
                <a:spcPct val="0"/>
              </a:spcBef>
              <a:buNone/>
              <a:defRPr>
                <a:latin typeface="DM Sans"/>
                <a:ea typeface="DM Sans"/>
                <a:cs typeface="DM Sans"/>
              </a:defRPr>
            </a:pPr>
            <a:r>
              <a:rPr sz="2250" u="none">
                <a:solidFill>
                  <a:srgbClr val="EAF7EE"/>
                </a:solidFill>
                <a:latin typeface="DM Sans"/>
                <a:ea typeface="DM Sans"/>
                <a:cs typeface="DM Sans"/>
              </a:rPr>
              <a:t>Datos de demostración; sin evidencia de producción.</a:t>
            </a:r>
          </a:p>
        </p:txBody>
      </p:sp>
      <p:sp>
        <p:nvSpPr>
          <p:cNvPr id="7" name="TextBox 7">
            <a:extLst xmlns:a="http://schemas.openxmlformats.org/drawingml/2006/main">
              <a:ext uri="{FF2B5EF4-FFF2-40B4-BE49-F238E27FC236}">
                <a16:creationId xmlns:a16="http://schemas.microsoft.com/office/drawing/2014/main" id="{B769176A-6312-471B-B1EC-3A0CC715D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1239500" y="5572125"/>
            <a:ext cx="6286500" cy="5067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 Bold"/>
                <a:ea typeface="DM Sans Bold"/>
                <a:cs typeface="DM Sans Bold"/>
              </a:defRPr>
            </a:defPPr>
            <a:lvl1pPr>
              <a:defRPr>
                <a:latin typeface="DM Sans Bold"/>
                <a:ea typeface="DM Sans Bold"/>
                <a:cs typeface="DM Sans Bold"/>
              </a:defRPr>
            </a:lvl1pPr>
            <a:lvl2pPr>
              <a:defRPr>
                <a:latin typeface="DM Sans Bold"/>
                <a:ea typeface="DM Sans Bold"/>
                <a:cs typeface="DM Sans Bold"/>
              </a:defRPr>
            </a:lvl2pPr>
            <a:lvl3pPr>
              <a:defRPr>
                <a:latin typeface="DM Sans Bold"/>
                <a:ea typeface="DM Sans Bold"/>
                <a:cs typeface="DM Sans Bold"/>
              </a:defRPr>
            </a:lvl3pPr>
            <a:lvl4pPr>
              <a:defRPr>
                <a:latin typeface="DM Sans Bold"/>
                <a:ea typeface="DM Sans Bold"/>
                <a:cs typeface="DM Sans Bold"/>
              </a:defRPr>
            </a:lvl4pPr>
            <a:lvl5pPr>
              <a:defRPr>
                <a:latin typeface="DM Sans Bold"/>
                <a:ea typeface="DM Sans Bold"/>
                <a:cs typeface="DM Sans Bold"/>
              </a:defRPr>
            </a:lvl5pPr>
            <a:lvl6pPr>
              <a:defRPr>
                <a:latin typeface="DM Sans Bold"/>
                <a:ea typeface="DM Sans Bold"/>
                <a:cs typeface="DM Sans Bold"/>
              </a:defRPr>
            </a:lvl6pPr>
            <a:lvl7pPr>
              <a:defRPr>
                <a:latin typeface="DM Sans Bold"/>
                <a:ea typeface="DM Sans Bold"/>
                <a:cs typeface="DM Sans Bold"/>
              </a:defRPr>
            </a:lvl7pPr>
            <a:lvl8pPr>
              <a:defRPr>
                <a:latin typeface="DM Sans Bold"/>
                <a:ea typeface="DM Sans Bold"/>
                <a:cs typeface="DM Sans Bold"/>
              </a:defRPr>
            </a:lvl8pPr>
            <a:lvl9pPr>
              <a:defRPr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 marL="0" lvl="0" indent="0" algn="l">
              <a:lnSpc>
                <a:spcPts val="3990"/>
              </a:lnSpc>
              <a:spcBef>
                <a:spcPct val="0"/>
              </a:spcBef>
              <a:buNone/>
              <a:defRPr>
                <a:latin typeface="DM Sans Bold"/>
                <a:ea typeface="DM Sans Bold"/>
                <a:cs typeface="DM Sans Bold"/>
              </a:defRPr>
            </a:pPr>
            <a:r>
              <a:rPr sz="2850" b="1" u="none">
                <a:solidFill>
                  <a:srgbClr val="7BE39C"/>
                </a:solidFill>
                <a:latin typeface="DM Sans Bold"/>
                <a:ea typeface="DM Sans Bold"/>
                <a:cs typeface="DM Sans Bold"/>
              </a:rPr>
              <a:t>ENERGY MONITORING</a:t>
            </a:r>
          </a:p>
        </p:txBody>
      </p:sp>
      <p:sp>
        <p:nvSpPr>
          <p:cNvPr id="8" name="Freeform 8">
            <a:extLst xmlns:a="http://schemas.openxmlformats.org/drawingml/2006/main">
              <a:ext uri="{FF2B5EF4-FFF2-40B4-BE49-F238E27FC236}">
                <a16:creationId xmlns:a16="http://schemas.microsoft.com/office/drawing/2014/main" id="{95BB8784-4499-4576-A853-AFF9FCD3F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6750" y="2095500"/>
            <a:ext cx="10001250" cy="6248400"/>
          </a:xfrm>
          <a:custGeom xmlns:a="http://schemas.openxmlformats.org/drawingml/2006/main">
            <a:rect l="l" t="t" r="r" b="b"/>
            <a:pathLst>
              <a:path w="10001250" h="6248400">
                <a:moveTo>
                  <a:pt x="0" y="0"/>
                </a:moveTo>
                <a:lnTo>
                  <a:pt x="10001250" y="0"/>
                </a:lnTo>
                <a:lnTo>
                  <a:pt x="10001250" y="6248400"/>
                </a:lnTo>
                <a:lnTo>
                  <a:pt x="0" y="624840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f50a0c7448934d95"/>
            <a:stretch>
              <a:fillRect l="0" t="-19" r="0" b="-19"/>
            </a:stretch>
          </a:blipFill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9" name="Freeform 9">
            <a:extLst xmlns:a="http://schemas.openxmlformats.org/drawingml/2006/main">
              <a:ext uri="{FF2B5EF4-FFF2-40B4-BE49-F238E27FC236}">
                <a16:creationId xmlns:a16="http://schemas.microsoft.com/office/drawing/2014/main" id="{3D7C3FAF-289C-4EFC-B4C2-8862947BB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1239500" y="3714750"/>
            <a:ext cx="6286500" cy="1466850"/>
          </a:xfrm>
          <a:custGeom xmlns:a="http://schemas.openxmlformats.org/drawingml/2006/main">
            <a:rect l="l" t="t" r="r" b="b"/>
            <a:pathLst>
              <a:path w="6286500" h="1466850">
                <a:moveTo>
                  <a:pt x="0" y="0"/>
                </a:moveTo>
                <a:lnTo>
                  <a:pt x="6286500" y="0"/>
                </a:lnTo>
                <a:lnTo>
                  <a:pt x="6286500" y="1466850"/>
                </a:lnTo>
                <a:lnTo>
                  <a:pt x="0" y="1466850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5002a68ebf9c4a21"/>
            <a:stretch>
              <a:fillRect l="-179" t="0" r="-179" b="0"/>
            </a:stretch>
          </a:blipFill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</p:spTree>
    <p:extLst>
      <p:ext uri="{BB962C8B-B14F-4D97-AF65-F5344CB8AC3E}">
        <p14:creationId xmlns:p14="http://schemas.microsoft.com/office/powerpoint/2010/main" val="140274123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711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8D65E16-4507-4FA6-B201-140124B90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E23F"/>
          </a:solidFill>
          <a:ln xmlns:a="http://schemas.openxmlformats.org/drawingml/2006/main" w="19050">
            <a:solidFill>
              <a:srgbClr val="8BE2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97A70C-10F0-4367-9046-429A044FA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500" b="1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1500" b="1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GITHUB ACTIONS · CINCO REPOSITORIOS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8207AB-7C99-49DC-AF93-1EC1E9915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6916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3450" b="1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3450" b="1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Pruebas y CI/CD por cada commit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6816C6-3E31-4FB4-B718-FA5B8D3CD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16916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23E"/>
          </a:solidFill>
          <a:ln xmlns:a="http://schemas.openxmlformats.org/drawingml/2006/main" w="19050">
            <a:solidFill>
              <a:srgbClr val="31523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DD36E2-EDA1-4C81-9934-5E9032C82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14625"/>
            <a:ext cx="3048000" cy="2286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102019"/>
          </a:solidFill>
          <a:ln xmlns:a="http://schemas.openxmlformats.org/drawingml/2006/main" w="19050">
            <a:solidFill>
              <a:srgbClr val="31523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350917-8AA4-4412-BBF1-08FAAE673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52750"/>
            <a:ext cx="66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2100" b="1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CA8302B-507B-47E2-887A-BDDF46C79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1950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650" b="1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CHECKOUT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694CFE-0794-44C8-9D0B-724A536B9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38625"/>
            <a:ext cx="2571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425" b="0">
                <a:solidFill>
                  <a:srgbClr val="B7C8BD"/>
                </a:solidFill>
                <a:latin typeface="DM Sans"/>
                <a:ea typeface="DM Sans"/>
                <a:cs typeface="DM Sans"/>
              </a:defRPr>
            </a:pPr>
            <a:r>
              <a:rPr sz="1425" b="0">
                <a:solidFill>
                  <a:srgbClr val="B7C8BD"/>
                </a:solidFill>
                <a:latin typeface="DM Sans"/>
                <a:ea typeface="DM Sans"/>
                <a:cs typeface="DM Sans"/>
              </a:rPr>
              <a:t>Código y lockfiles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FB8D86-50A2-4321-9077-AF0884EB9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650" y="2714625"/>
            <a:ext cx="3048000" cy="2286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102019"/>
          </a:solidFill>
          <a:ln xmlns:a="http://schemas.openxmlformats.org/drawingml/2006/main" w="19050">
            <a:solidFill>
              <a:srgbClr val="31523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98EDD29-9848-4F6B-8D9F-23A67B452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952750"/>
            <a:ext cx="66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2100" b="1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02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6EC3F2-C47C-4D9A-87B1-E9F557F5B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61950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650" b="1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ANÁLISIS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134699-AAFB-424C-ACC6-943C4B631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4238625"/>
            <a:ext cx="2571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425" b="0">
                <a:solidFill>
                  <a:srgbClr val="B7C8BD"/>
                </a:solidFill>
                <a:latin typeface="DM Sans"/>
                <a:ea typeface="DM Sans"/>
                <a:cs typeface="DM Sans"/>
              </a:defRPr>
            </a:pPr>
            <a:r>
              <a:rPr sz="1425" b="0">
                <a:solidFill>
                  <a:srgbClr val="B7C8BD"/>
                </a:solidFill>
                <a:latin typeface="DM Sans"/>
                <a:ea typeface="DM Sans"/>
                <a:cs typeface="DM Sans"/>
              </a:rPr>
              <a:t>Java · TypeScript · Dart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560A796-3C4B-4CE8-94AF-BB4A1E4583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714625"/>
            <a:ext cx="3048000" cy="2286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173820"/>
          </a:solidFill>
          <a:ln xmlns:a="http://schemas.openxmlformats.org/drawingml/2006/main" w="19050">
            <a:solidFill>
              <a:srgbClr val="8BE2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845A9B6-11E4-4B6C-81F9-4DBF1B5F7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2952750"/>
            <a:ext cx="66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2100" b="1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FE8D67-A8D6-40F4-9EA2-03CFEBA133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61950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650" b="1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PRUEBAS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25D971-308A-4CCC-B01D-7ECE32181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238625"/>
            <a:ext cx="2571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425" b="0">
                <a:solidFill>
                  <a:srgbClr val="B7C8BD"/>
                </a:solidFill>
                <a:latin typeface="DM Sans"/>
                <a:ea typeface="DM Sans"/>
                <a:cs typeface="DM Sans"/>
              </a:defRPr>
            </a:pPr>
            <a:r>
              <a:rPr sz="1425" b="0">
                <a:solidFill>
                  <a:srgbClr val="B7C8BD"/>
                </a:solidFill>
                <a:latin typeface="DM Sans"/>
                <a:ea typeface="DM Sans"/>
                <a:cs typeface="DM Sans"/>
              </a:rPr>
              <a:t>Unitarias · integración · BDD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7BA115E-6B94-4D5B-B493-5A09D0EDE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2714625"/>
            <a:ext cx="3048000" cy="2286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102019"/>
          </a:solidFill>
          <a:ln xmlns:a="http://schemas.openxmlformats.org/drawingml/2006/main" w="19050">
            <a:solidFill>
              <a:srgbClr val="31523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2ABDBB-BEDE-4B6B-93A2-DBD9F0A2A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2952750"/>
            <a:ext cx="66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2100" b="1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04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EB2CEF-0901-4C75-8F1B-D8E307B2C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361950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650" b="1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BUILD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256AD6-36D3-413D-BBA5-86AECA422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9950" y="4238625"/>
            <a:ext cx="2571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98866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425" b="0">
                <a:solidFill>
                  <a:srgbClr val="B7C8BD"/>
                </a:solidFill>
                <a:latin typeface="DM Sans"/>
                <a:ea typeface="DM Sans"/>
                <a:cs typeface="DM Sans"/>
              </a:defRPr>
            </a:pPr>
            <a:r>
              <a:rPr sz="1425" b="0">
                <a:solidFill>
                  <a:srgbClr val="B7C8BD"/>
                </a:solidFill>
                <a:latin typeface="DM Sans"/>
                <a:ea typeface="DM Sans"/>
                <a:cs typeface="DM Sans"/>
              </a:rPr>
              <a:t>JAR · dist · APK · documentos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504E297-CA3E-4B3D-91DF-5E4AAFFE96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0" y="2714625"/>
            <a:ext cx="3048000" cy="228600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102019"/>
          </a:solidFill>
          <a:ln xmlns:a="http://schemas.openxmlformats.org/drawingml/2006/main" w="19050">
            <a:solidFill>
              <a:srgbClr val="31523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A5FD710-4352-401A-9ED2-326EC95537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01800" y="2952750"/>
            <a:ext cx="666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2100" b="1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2100" b="1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05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A03434D-BFFB-485B-9380-FB9ED0571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01800" y="361950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650" b="1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ARTEFACTOS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764134F-E8EC-43AD-A2A3-1D52990D4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01800" y="4238625"/>
            <a:ext cx="2571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425" b="0">
                <a:solidFill>
                  <a:srgbClr val="B7C8BD"/>
                </a:solidFill>
                <a:latin typeface="DM Sans"/>
                <a:ea typeface="DM Sans"/>
                <a:cs typeface="DM Sans"/>
              </a:defRPr>
            </a:pPr>
            <a:r>
              <a:rPr sz="1425" b="0">
                <a:solidFill>
                  <a:srgbClr val="B7C8BD"/>
                </a:solidFill>
                <a:latin typeface="DM Sans"/>
                <a:ea typeface="DM Sans"/>
                <a:cs typeface="DM Sans"/>
              </a:rPr>
              <a:t>SHA y reportes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EC3B0A7-A41C-4DF3-8BAC-955FA551F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810250"/>
            <a:ext cx="390525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162B21"/>
          </a:solidFill>
          <a:ln xmlns:a="http://schemas.openxmlformats.org/drawingml/2006/main" w="19050">
            <a:solidFill>
              <a:srgbClr val="31523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C36BEC2-C5A6-4200-8BA0-C3F0BFC45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6162675"/>
            <a:ext cx="33718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3450" b="1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3450" b="1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28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A5DD4F9-DE04-47C4-A4FF-B2409FD3E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7067550"/>
            <a:ext cx="33718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575" b="0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pruebas JUnit aprobadas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A12F82D-1B97-4C56-895E-56310E647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5810250"/>
            <a:ext cx="390525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162B21"/>
          </a:solidFill>
          <a:ln xmlns:a="http://schemas.openxmlformats.org/drawingml/2006/main" w="19050">
            <a:solidFill>
              <a:srgbClr val="31523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D42A247-9C2A-4C5E-80EB-F2FF9DE82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6162675"/>
            <a:ext cx="33718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3450" b="1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3450" b="1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60/60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59DA1B5-EBCD-4883-8C97-EC6CCEC19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7067550"/>
            <a:ext cx="33718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575" b="0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escenarios BDD aprobados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7D74F1C-1435-4267-ABC3-8A7AA9907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5810250"/>
            <a:ext cx="390525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162B21"/>
          </a:solidFill>
          <a:ln xmlns:a="http://schemas.openxmlformats.org/drawingml/2006/main" w="19050">
            <a:solidFill>
              <a:srgbClr val="31523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49C8CCC-0E42-46CF-A9A5-D2019EE90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6162675"/>
            <a:ext cx="33718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3450" b="1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3450" b="1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5/5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F35C90B-D999-4022-A405-9E08B4346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7067550"/>
            <a:ext cx="33718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575" b="0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workflows CI configurados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43A5867-5DFA-4B2C-9A90-9AB49F2F4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73100" y="5810250"/>
            <a:ext cx="390525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162B21"/>
          </a:solidFill>
          <a:ln xmlns:a="http://schemas.openxmlformats.org/drawingml/2006/main" w="19050">
            <a:solidFill>
              <a:srgbClr val="31523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422D2BD-C639-4A0F-84E5-3EE5049AC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39800" y="6162675"/>
            <a:ext cx="33718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3450" b="1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3450" b="1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109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64C9C96-CB2A-42B8-8359-D8E46DFCD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639800" y="7067550"/>
            <a:ext cx="33718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575" b="0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1575" b="0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pruebas de producto aprobadas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9E6C5B0-6887-46E0-ACC2-35812D1AC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810625"/>
            <a:ext cx="16916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650" b="1">
                <a:solidFill>
                  <a:srgbClr val="F5B942"/>
                </a:solidFill>
                <a:latin typeface="DM Sans"/>
                <a:ea typeface="DM Sans"/>
                <a:cs typeface="DM Sans"/>
              </a:defRPr>
            </a:pPr>
            <a:r>
              <a:rPr sz="1650" b="1">
                <a:solidFill>
                  <a:srgbClr val="F5B942"/>
                </a:solidFill>
                <a:latin typeface="DM Sans"/>
                <a:ea typeface="DM Sans"/>
                <a:cs typeface="DM Sans"/>
              </a:rPr>
              <a:t>Línea base del 05/10/2026: 88 backend + 5 web + 5 landing + 11 Flutter. CI consultado el 21/10/2026.</a:t>
            </a:r>
          </a:p>
        </p:txBody>
      </p:sp>
    </p:spTree>
    <p:extLst>
      <p:ext uri="{BB962C8B-B14F-4D97-AF65-F5344CB8AC3E}">
        <p14:creationId xmlns:p14="http://schemas.microsoft.com/office/powerpoint/2010/main" val="590559623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33365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A4174F17-3B3C-474E-BC62-07048ECA1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860084" y="131764"/>
            <a:ext cx="2286000" cy="2286000"/>
          </a:xfrm>
          <a:custGeom xmlns:a="http://schemas.openxmlformats.org/drawingml/2006/main">
            <a:rect l="l" t="t" r="r" b="b"/>
            <a:pathLst>
              <a:path w="2286000" h="2286000">
                <a:moveTo>
                  <a:pt x="0" y="0"/>
                </a:moveTo>
                <a:lnTo>
                  <a:pt x="2286000" y="0"/>
                </a:lnTo>
                <a:lnTo>
                  <a:pt x="2286000" y="2286000"/>
                </a:lnTo>
                <a:lnTo>
                  <a:pt x="0" y="2286000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7E2EB778-4873-4EC2-B6A8-A224491B2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000250" y="6572250"/>
            <a:ext cx="2000250" cy="2000250"/>
          </a:xfrm>
          <a:custGeom xmlns:a="http://schemas.openxmlformats.org/drawingml/2006/main">
            <a:rect l="l" t="t" r="r" b="b"/>
            <a:pathLst>
              <a:path w="2000250" h="2000250">
                <a:moveTo>
                  <a:pt x="0" y="0"/>
                </a:moveTo>
                <a:lnTo>
                  <a:pt x="2000250" y="0"/>
                </a:lnTo>
                <a:lnTo>
                  <a:pt x="2000250" y="2000250"/>
                </a:lnTo>
                <a:lnTo>
                  <a:pt x="0" y="2000250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680A4839-A795-4208-A5EC-6B33F928F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096250" y="6572250"/>
            <a:ext cx="2000250" cy="2000250"/>
          </a:xfrm>
          <a:custGeom xmlns:a="http://schemas.openxmlformats.org/drawingml/2006/main">
            <a:rect l="l" t="t" r="r" b="b"/>
            <a:pathLst>
              <a:path w="2000250" h="2000250">
                <a:moveTo>
                  <a:pt x="0" y="0"/>
                </a:moveTo>
                <a:lnTo>
                  <a:pt x="2000250" y="0"/>
                </a:lnTo>
                <a:lnTo>
                  <a:pt x="2000250" y="2000250"/>
                </a:lnTo>
                <a:lnTo>
                  <a:pt x="0" y="2000250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9ABE0A47-CD8E-4E6D-B1B4-C86164895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4192250" y="6572250"/>
            <a:ext cx="2190750" cy="1610201"/>
          </a:xfrm>
          <a:custGeom xmlns:a="http://schemas.openxmlformats.org/drawingml/2006/main">
            <a:rect l="l" t="t" r="r" b="b"/>
            <a:pathLst>
              <a:path w="2190750" h="1610201">
                <a:moveTo>
                  <a:pt x="0" y="0"/>
                </a:moveTo>
                <a:lnTo>
                  <a:pt x="2190750" y="0"/>
                </a:lnTo>
                <a:lnTo>
                  <a:pt x="2190750" y="1610201"/>
                </a:lnTo>
                <a:lnTo>
                  <a:pt x="0" y="1610201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6" name="TextBox 6">
            <a:extLst xmlns:a="http://schemas.openxmlformats.org/drawingml/2006/main">
              <a:ext uri="{FF2B5EF4-FFF2-40B4-BE49-F238E27FC236}">
                <a16:creationId xmlns:a16="http://schemas.microsoft.com/office/drawing/2014/main" id="{CC596113-5AD6-4DD9-B7ED-038CF8877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733425"/>
            <a:ext cx="15821025" cy="1117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Georgia Pro Light"/>
                <a:ea typeface="Georgia Pro Light"/>
                <a:cs typeface="Georgia Pro Light"/>
              </a:defRPr>
            </a:defPPr>
            <a:lvl1pPr>
              <a:defRPr>
                <a:latin typeface="Georgia Pro Light"/>
                <a:ea typeface="Georgia Pro Light"/>
                <a:cs typeface="Georgia Pro Light"/>
              </a:defRPr>
            </a:lvl1pPr>
            <a:lvl2pPr>
              <a:defRPr>
                <a:latin typeface="Georgia Pro Light"/>
                <a:ea typeface="Georgia Pro Light"/>
                <a:cs typeface="Georgia Pro Light"/>
              </a:defRPr>
            </a:lvl2pPr>
            <a:lvl3pPr>
              <a:defRPr>
                <a:latin typeface="Georgia Pro Light"/>
                <a:ea typeface="Georgia Pro Light"/>
                <a:cs typeface="Georgia Pro Light"/>
              </a:defRPr>
            </a:lvl3pPr>
            <a:lvl4pPr>
              <a:defRPr>
                <a:latin typeface="Georgia Pro Light"/>
                <a:ea typeface="Georgia Pro Light"/>
                <a:cs typeface="Georgia Pro Light"/>
              </a:defRPr>
            </a:lvl4pPr>
            <a:lvl5pPr>
              <a:defRPr>
                <a:latin typeface="Georgia Pro Light"/>
                <a:ea typeface="Georgia Pro Light"/>
                <a:cs typeface="Georgia Pro Light"/>
              </a:defRPr>
            </a:lvl5pPr>
            <a:lvl6pPr>
              <a:defRPr>
                <a:latin typeface="Georgia Pro Light"/>
                <a:ea typeface="Georgia Pro Light"/>
                <a:cs typeface="Georgia Pro Light"/>
              </a:defRPr>
            </a:lvl6pPr>
            <a:lvl7pPr>
              <a:defRPr>
                <a:latin typeface="Georgia Pro Light"/>
                <a:ea typeface="Georgia Pro Light"/>
                <a:cs typeface="Georgia Pro Light"/>
              </a:defRPr>
            </a:lvl7pPr>
            <a:lvl8pPr>
              <a:defRPr>
                <a:latin typeface="Georgia Pro Light"/>
                <a:ea typeface="Georgia Pro Light"/>
                <a:cs typeface="Georgia Pro Light"/>
              </a:defRPr>
            </a:lvl8pPr>
            <a:lvl9pPr>
              <a:defRPr>
                <a:latin typeface="Georgia Pro Light"/>
                <a:ea typeface="Georgia Pro Light"/>
                <a:cs typeface="Georgia Pro Light"/>
              </a:defRPr>
            </a:lvl9pPr>
          </a:lstStyle>
          <a:p xmlns:a="http://schemas.openxmlformats.org/drawingml/2006/main">
            <a:pPr marL="0" lvl="0" indent="0" algn="l">
              <a:lnSpc>
                <a:spcPts val="8800"/>
              </a:lnSpc>
              <a:spcBef>
                <a:spcPct val="0"/>
              </a:spcBef>
              <a:buNone/>
              <a:defRPr>
                <a:latin typeface="Georgia Pro Light"/>
                <a:ea typeface="Georgia Pro Light"/>
                <a:cs typeface="Georgia Pro Light"/>
              </a:defRPr>
            </a:pPr>
            <a:r>
              <a:rPr sz="8000">
                <a:solidFill>
                  <a:srgbClr val="F5F6F7"/>
                </a:solidFill>
                <a:latin typeface="Georgia Pro Light"/>
                <a:ea typeface="Georgia Pro Light"/>
                <a:cs typeface="Georgia Pro Light"/>
              </a:rPr>
              <a:t>GitFlow y GitHub</a:t>
            </a:r>
          </a:p>
        </p:txBody>
      </p:sp>
      <p:sp>
        <p:nvSpPr>
          <p:cNvPr id="8" name="TextBox 8">
            <a:extLst xmlns:a="http://schemas.openxmlformats.org/drawingml/2006/main">
              <a:ext uri="{FF2B5EF4-FFF2-40B4-BE49-F238E27FC236}">
                <a16:creationId xmlns:a16="http://schemas.microsoft.com/office/drawing/2014/main" id="{094A41F4-3A45-4290-90F5-07BFBF6A4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6750" y="4153806"/>
            <a:ext cx="4314825" cy="223951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marL="0" lvl="0" indent="0" algn="l">
              <a:lnSpc>
                <a:spcPts val="2939"/>
              </a:lnSpc>
              <a:buNone/>
              <a:defRPr>
                <a:latin typeface="DM Sans"/>
                <a:ea typeface="DM Sans"/>
                <a:cs typeface="DM Sans"/>
              </a:defRPr>
            </a:pPr>
            <a:r>
              <a:rPr sz="2099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La rama </a:t>
            </a:r>
            <a:r>
              <a:rPr sz="2099" b="1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main</a:t>
            </a:r>
            <a:r>
              <a:rPr sz="2099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 es la base del proyecto, donde el código más estable se despliega y se mantiene. Es esencial para asegurar la calidad del producto final.</a:t>
            </a:r>
          </a:p>
        </p:txBody>
      </p:sp>
      <p:sp>
        <p:nvSpPr>
          <p:cNvPr id="9" name="TextBox 9">
            <a:extLst xmlns:a="http://schemas.openxmlformats.org/drawingml/2006/main">
              <a:ext uri="{FF2B5EF4-FFF2-40B4-BE49-F238E27FC236}">
                <a16:creationId xmlns:a16="http://schemas.microsoft.com/office/drawing/2014/main" id="{9DEE6C45-0358-439E-B242-01B185E0F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66750" y="3258457"/>
            <a:ext cx="4314825" cy="4622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 Bold"/>
                <a:ea typeface="DM Sans Bold"/>
                <a:cs typeface="DM Sans Bold"/>
              </a:defRPr>
            </a:defPPr>
            <a:lvl1pPr>
              <a:defRPr>
                <a:latin typeface="DM Sans Bold"/>
                <a:ea typeface="DM Sans Bold"/>
                <a:cs typeface="DM Sans Bold"/>
              </a:defRPr>
            </a:lvl1pPr>
            <a:lvl2pPr>
              <a:defRPr>
                <a:latin typeface="DM Sans Bold"/>
                <a:ea typeface="DM Sans Bold"/>
                <a:cs typeface="DM Sans Bold"/>
              </a:defRPr>
            </a:lvl2pPr>
            <a:lvl3pPr>
              <a:defRPr>
                <a:latin typeface="DM Sans Bold"/>
                <a:ea typeface="DM Sans Bold"/>
                <a:cs typeface="DM Sans Bold"/>
              </a:defRPr>
            </a:lvl3pPr>
            <a:lvl4pPr>
              <a:defRPr>
                <a:latin typeface="DM Sans Bold"/>
                <a:ea typeface="DM Sans Bold"/>
                <a:cs typeface="DM Sans Bold"/>
              </a:defRPr>
            </a:lvl4pPr>
            <a:lvl5pPr>
              <a:defRPr>
                <a:latin typeface="DM Sans Bold"/>
                <a:ea typeface="DM Sans Bold"/>
                <a:cs typeface="DM Sans Bold"/>
              </a:defRPr>
            </a:lvl5pPr>
            <a:lvl6pPr>
              <a:defRPr>
                <a:latin typeface="DM Sans Bold"/>
                <a:ea typeface="DM Sans Bold"/>
                <a:cs typeface="DM Sans Bold"/>
              </a:defRPr>
            </a:lvl6pPr>
            <a:lvl7pPr>
              <a:defRPr>
                <a:latin typeface="DM Sans Bold"/>
                <a:ea typeface="DM Sans Bold"/>
                <a:cs typeface="DM Sans Bold"/>
              </a:defRPr>
            </a:lvl7pPr>
            <a:lvl8pPr>
              <a:defRPr>
                <a:latin typeface="DM Sans Bold"/>
                <a:ea typeface="DM Sans Bold"/>
                <a:cs typeface="DM Sans Bold"/>
              </a:defRPr>
            </a:lvl8pPr>
            <a:lvl9pPr>
              <a:defRPr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 marL="0" lvl="0" indent="0" algn="l">
              <a:lnSpc>
                <a:spcPts val="3640"/>
              </a:lnSpc>
              <a:buNone/>
              <a:defRPr>
                <a:latin typeface="DM Sans Bold"/>
                <a:ea typeface="DM Sans Bold"/>
                <a:cs typeface="DM Sans Bold"/>
              </a:defRPr>
            </a:pPr>
            <a:r>
              <a:rPr sz="2600" b="1">
                <a:solidFill>
                  <a:srgbClr val="F5F6F7"/>
                </a:solidFill>
                <a:latin typeface="DM Sans Bold"/>
                <a:ea typeface="DM Sans Bold"/>
                <a:cs typeface="DM Sans Bold"/>
              </a:rPr>
              <a:t>RAMIFICACIÓN MAIN</a:t>
            </a:r>
          </a:p>
        </p:txBody>
      </p:sp>
      <p:sp>
        <p:nvSpPr>
          <p:cNvPr id="11" name="TextBox 11">
            <a:extLst xmlns:a="http://schemas.openxmlformats.org/drawingml/2006/main">
              <a:ext uri="{FF2B5EF4-FFF2-40B4-BE49-F238E27FC236}">
                <a16:creationId xmlns:a16="http://schemas.microsoft.com/office/drawing/2014/main" id="{458A618B-75C5-4E86-821A-1553FCE99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986587" y="4153806"/>
            <a:ext cx="4314825" cy="223951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marL="0" lvl="0" indent="0" algn="l">
              <a:lnSpc>
                <a:spcPts val="2939"/>
              </a:lnSpc>
              <a:buNone/>
              <a:defRPr>
                <a:latin typeface="DM Sans"/>
                <a:ea typeface="DM Sans"/>
                <a:cs typeface="DM Sans"/>
              </a:defRPr>
            </a:pPr>
            <a:r>
              <a:rPr sz="2099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La rama </a:t>
            </a:r>
            <a:r>
              <a:rPr sz="2099" b="1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develop</a:t>
            </a:r>
            <a:r>
              <a:rPr sz="2099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 permite la integración continua de nuevas características y correcciones. Facilita la colaboración entre los desarrolladores y el avance del proyecto de manera organizada.</a:t>
            </a:r>
          </a:p>
        </p:txBody>
      </p:sp>
      <p:sp>
        <p:nvSpPr>
          <p:cNvPr id="12" name="TextBox 12">
            <a:extLst xmlns:a="http://schemas.openxmlformats.org/drawingml/2006/main">
              <a:ext uri="{FF2B5EF4-FFF2-40B4-BE49-F238E27FC236}">
                <a16:creationId xmlns:a16="http://schemas.microsoft.com/office/drawing/2014/main" id="{EF9769EE-05D5-4736-A867-4524B301B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986587" y="3258457"/>
            <a:ext cx="4314825" cy="4622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 Bold"/>
                <a:ea typeface="DM Sans Bold"/>
                <a:cs typeface="DM Sans Bold"/>
              </a:defRPr>
            </a:defPPr>
            <a:lvl1pPr>
              <a:defRPr>
                <a:latin typeface="DM Sans Bold"/>
                <a:ea typeface="DM Sans Bold"/>
                <a:cs typeface="DM Sans Bold"/>
              </a:defRPr>
            </a:lvl1pPr>
            <a:lvl2pPr>
              <a:defRPr>
                <a:latin typeface="DM Sans Bold"/>
                <a:ea typeface="DM Sans Bold"/>
                <a:cs typeface="DM Sans Bold"/>
              </a:defRPr>
            </a:lvl2pPr>
            <a:lvl3pPr>
              <a:defRPr>
                <a:latin typeface="DM Sans Bold"/>
                <a:ea typeface="DM Sans Bold"/>
                <a:cs typeface="DM Sans Bold"/>
              </a:defRPr>
            </a:lvl3pPr>
            <a:lvl4pPr>
              <a:defRPr>
                <a:latin typeface="DM Sans Bold"/>
                <a:ea typeface="DM Sans Bold"/>
                <a:cs typeface="DM Sans Bold"/>
              </a:defRPr>
            </a:lvl4pPr>
            <a:lvl5pPr>
              <a:defRPr>
                <a:latin typeface="DM Sans Bold"/>
                <a:ea typeface="DM Sans Bold"/>
                <a:cs typeface="DM Sans Bold"/>
              </a:defRPr>
            </a:lvl5pPr>
            <a:lvl6pPr>
              <a:defRPr>
                <a:latin typeface="DM Sans Bold"/>
                <a:ea typeface="DM Sans Bold"/>
                <a:cs typeface="DM Sans Bold"/>
              </a:defRPr>
            </a:lvl6pPr>
            <a:lvl7pPr>
              <a:defRPr>
                <a:latin typeface="DM Sans Bold"/>
                <a:ea typeface="DM Sans Bold"/>
                <a:cs typeface="DM Sans Bold"/>
              </a:defRPr>
            </a:lvl7pPr>
            <a:lvl8pPr>
              <a:defRPr>
                <a:latin typeface="DM Sans Bold"/>
                <a:ea typeface="DM Sans Bold"/>
                <a:cs typeface="DM Sans Bold"/>
              </a:defRPr>
            </a:lvl8pPr>
            <a:lvl9pPr>
              <a:defRPr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 marL="0" lvl="0" indent="0" algn="l">
              <a:lnSpc>
                <a:spcPts val="3640"/>
              </a:lnSpc>
              <a:buNone/>
              <a:defRPr>
                <a:latin typeface="DM Sans Bold"/>
                <a:ea typeface="DM Sans Bold"/>
                <a:cs typeface="DM Sans Bold"/>
              </a:defRPr>
            </a:pPr>
            <a:r>
              <a:rPr sz="2600" b="1">
                <a:solidFill>
                  <a:srgbClr val="F5F6F7"/>
                </a:solidFill>
                <a:latin typeface="DM Sans Bold"/>
                <a:ea typeface="DM Sans Bold"/>
                <a:cs typeface="DM Sans Bold"/>
              </a:rPr>
              <a:t>DESARROLLO CONTINUO</a:t>
            </a:r>
          </a:p>
        </p:txBody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27203986-CB0A-4465-87C0-E867A6480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3301662" y="4155901"/>
            <a:ext cx="4314825" cy="223951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marL="0" lvl="0" indent="0" algn="l">
              <a:lnSpc>
                <a:spcPts val="2939"/>
              </a:lnSpc>
              <a:buNone/>
              <a:defRPr>
                <a:latin typeface="DM Sans"/>
                <a:ea typeface="DM Sans"/>
                <a:cs typeface="DM Sans"/>
              </a:defRPr>
            </a:pPr>
            <a:r>
              <a:rPr sz="2099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Se han creado </a:t>
            </a:r>
            <a:r>
              <a:rPr sz="2099" b="1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cinco repositorios públicos</a:t>
            </a:r>
            <a:r>
              <a:rPr sz="2099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 para el proyecto, lo que permite a otros usuarios acceder, contribuir y revisar el código, promoviendo la transparencia y la colaboración.</a:t>
            </a:r>
          </a:p>
        </p:txBody>
      </p:sp>
      <p:sp>
        <p:nvSpPr>
          <p:cNvPr id="15" name="TextBox 15">
            <a:extLst xmlns:a="http://schemas.openxmlformats.org/drawingml/2006/main">
              <a:ext uri="{FF2B5EF4-FFF2-40B4-BE49-F238E27FC236}">
                <a16:creationId xmlns:a16="http://schemas.microsoft.com/office/drawing/2014/main" id="{8CA83D76-2208-4333-A5C3-496E1E2BE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3301662" y="3260552"/>
            <a:ext cx="4314825" cy="4622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 Bold"/>
                <a:ea typeface="DM Sans Bold"/>
                <a:cs typeface="DM Sans Bold"/>
              </a:defRPr>
            </a:defPPr>
            <a:lvl1pPr>
              <a:defRPr>
                <a:latin typeface="DM Sans Bold"/>
                <a:ea typeface="DM Sans Bold"/>
                <a:cs typeface="DM Sans Bold"/>
              </a:defRPr>
            </a:lvl1pPr>
            <a:lvl2pPr>
              <a:defRPr>
                <a:latin typeface="DM Sans Bold"/>
                <a:ea typeface="DM Sans Bold"/>
                <a:cs typeface="DM Sans Bold"/>
              </a:defRPr>
            </a:lvl2pPr>
            <a:lvl3pPr>
              <a:defRPr>
                <a:latin typeface="DM Sans Bold"/>
                <a:ea typeface="DM Sans Bold"/>
                <a:cs typeface="DM Sans Bold"/>
              </a:defRPr>
            </a:lvl3pPr>
            <a:lvl4pPr>
              <a:defRPr>
                <a:latin typeface="DM Sans Bold"/>
                <a:ea typeface="DM Sans Bold"/>
                <a:cs typeface="DM Sans Bold"/>
              </a:defRPr>
            </a:lvl4pPr>
            <a:lvl5pPr>
              <a:defRPr>
                <a:latin typeface="DM Sans Bold"/>
                <a:ea typeface="DM Sans Bold"/>
                <a:cs typeface="DM Sans Bold"/>
              </a:defRPr>
            </a:lvl5pPr>
            <a:lvl6pPr>
              <a:defRPr>
                <a:latin typeface="DM Sans Bold"/>
                <a:ea typeface="DM Sans Bold"/>
                <a:cs typeface="DM Sans Bold"/>
              </a:defRPr>
            </a:lvl6pPr>
            <a:lvl7pPr>
              <a:defRPr>
                <a:latin typeface="DM Sans Bold"/>
                <a:ea typeface="DM Sans Bold"/>
                <a:cs typeface="DM Sans Bold"/>
              </a:defRPr>
            </a:lvl7pPr>
            <a:lvl8pPr>
              <a:defRPr>
                <a:latin typeface="DM Sans Bold"/>
                <a:ea typeface="DM Sans Bold"/>
                <a:cs typeface="DM Sans Bold"/>
              </a:defRPr>
            </a:lvl8pPr>
            <a:lvl9pPr>
              <a:defRPr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 marL="0" lvl="0" indent="0" algn="l">
              <a:lnSpc>
                <a:spcPts val="3640"/>
              </a:lnSpc>
              <a:buNone/>
              <a:defRPr>
                <a:latin typeface="DM Sans Bold"/>
                <a:ea typeface="DM Sans Bold"/>
                <a:cs typeface="DM Sans Bold"/>
              </a:defRPr>
            </a:pPr>
            <a:r>
              <a:rPr sz="2600" b="1">
                <a:solidFill>
                  <a:srgbClr val="F5F6F7"/>
                </a:solidFill>
                <a:latin typeface="DM Sans Bold"/>
                <a:ea typeface="DM Sans Bold"/>
                <a:cs typeface="DM Sans Bold"/>
              </a:rPr>
              <a:t>REPOSITORIOS PÚBLICOS</a:t>
            </a:r>
          </a:p>
        </p:txBody>
      </p:sp>
    </p:spTree>
    <p:extLst>
      <p:ext uri="{BB962C8B-B14F-4D97-AF65-F5344CB8AC3E}">
        <p14:creationId xmlns:p14="http://schemas.microsoft.com/office/powerpoint/2010/main" val="1909042798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33365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Freeform 2">
            <a:extLst xmlns:a="http://schemas.openxmlformats.org/drawingml/2006/main">
              <a:ext uri="{FF2B5EF4-FFF2-40B4-BE49-F238E27FC236}">
                <a16:creationId xmlns:a16="http://schemas.microsoft.com/office/drawing/2014/main" id="{75BEA40C-93EE-4DA7-AD32-80BD400F97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5240000" y="762000"/>
            <a:ext cx="2286000" cy="2286000"/>
          </a:xfrm>
          <a:custGeom xmlns:a="http://schemas.openxmlformats.org/drawingml/2006/main">
            <a:rect l="l" t="t" r="r" b="b"/>
            <a:pathLst>
              <a:path w="2286000" h="2286000">
                <a:moveTo>
                  <a:pt x="0" y="0"/>
                </a:moveTo>
                <a:lnTo>
                  <a:pt x="2286000" y="0"/>
                </a:lnTo>
                <a:lnTo>
                  <a:pt x="2286000" y="2286000"/>
                </a:lnTo>
                <a:lnTo>
                  <a:pt x="0" y="2286000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FF977A16-E422-4085-A226-BD9321680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222844" y="6048891"/>
            <a:ext cx="3619500" cy="3619500"/>
          </a:xfrm>
          <a:custGeom xmlns:a="http://schemas.openxmlformats.org/drawingml/2006/main">
            <a:rect l="l" t="t" r="r" b="b"/>
            <a:pathLst>
              <a:path w="3619500" h="3619500">
                <a:moveTo>
                  <a:pt x="0" y="0"/>
                </a:moveTo>
                <a:lnTo>
                  <a:pt x="3619500" y="0"/>
                </a:lnTo>
                <a:lnTo>
                  <a:pt x="3619500" y="3619500"/>
                </a:lnTo>
                <a:lnTo>
                  <a:pt x="0" y="3619500"/>
                </a:lnTo>
                <a:lnTo>
                  <a:pt x="0" y="0"/>
                </a:lnTo>
                <a:close/>
              </a:path>
            </a:pathLst>
          </a:cu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4" name="Freeform 4">
            <a:extLst xmlns:a="http://schemas.openxmlformats.org/drawingml/2006/main">
              <a:ext uri="{FF2B5EF4-FFF2-40B4-BE49-F238E27FC236}">
                <a16:creationId xmlns:a16="http://schemas.microsoft.com/office/drawing/2014/main" id="{E3B94B0E-CA04-4A37-B2CB-C94DD044C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2234862" y="6312424"/>
            <a:ext cx="2857500" cy="2945876"/>
          </a:xfrm>
          <a:custGeom xmlns:a="http://schemas.openxmlformats.org/drawingml/2006/main">
            <a:rect l="l" t="t" r="r" b="b"/>
            <a:pathLst>
              <a:path w="2857500" h="2945876">
                <a:moveTo>
                  <a:pt x="0" y="0"/>
                </a:moveTo>
                <a:lnTo>
                  <a:pt x="2857500" y="0"/>
                </a:lnTo>
                <a:lnTo>
                  <a:pt x="2857500" y="2945876"/>
                </a:lnTo>
                <a:lnTo>
                  <a:pt x="0" y="2945876"/>
                </a:lnTo>
                <a:lnTo>
                  <a:pt x="0" y="0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626d91efcba647be">
              <a:extLst>
                <a:ext uri="{96DAC541-7B7A-43D3-8B79-37D633B846F1}">
                  <asvg:svgBlip xmlns:asvg="http://schemas.microsoft.com/office/drawing/2016/SVG/main" r:embed="R90c310776ae74de3"/>
                </a:ext>
              </a:extLst>
            </a:blip>
            <a:stretch>
              <a:fillRect l="0" t="0" r="0" b="0"/>
            </a:stretch>
          </a:blipFill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5" name="TextBox 5">
            <a:extLst xmlns:a="http://schemas.openxmlformats.org/drawingml/2006/main">
              <a:ext uri="{FF2B5EF4-FFF2-40B4-BE49-F238E27FC236}">
                <a16:creationId xmlns:a16="http://schemas.microsoft.com/office/drawing/2014/main" id="{23F2F4FF-354F-4DEA-9A11-7E6C685F9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733425"/>
            <a:ext cx="15821025" cy="1117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Georgia Pro Light"/>
                <a:ea typeface="Georgia Pro Light"/>
                <a:cs typeface="Georgia Pro Light"/>
              </a:defRPr>
            </a:defPPr>
            <a:lvl1pPr>
              <a:defRPr>
                <a:latin typeface="Georgia Pro Light"/>
                <a:ea typeface="Georgia Pro Light"/>
                <a:cs typeface="Georgia Pro Light"/>
              </a:defRPr>
            </a:lvl1pPr>
            <a:lvl2pPr>
              <a:defRPr>
                <a:latin typeface="Georgia Pro Light"/>
                <a:ea typeface="Georgia Pro Light"/>
                <a:cs typeface="Georgia Pro Light"/>
              </a:defRPr>
            </a:lvl2pPr>
            <a:lvl3pPr>
              <a:defRPr>
                <a:latin typeface="Georgia Pro Light"/>
                <a:ea typeface="Georgia Pro Light"/>
                <a:cs typeface="Georgia Pro Light"/>
              </a:defRPr>
            </a:lvl3pPr>
            <a:lvl4pPr>
              <a:defRPr>
                <a:latin typeface="Georgia Pro Light"/>
                <a:ea typeface="Georgia Pro Light"/>
                <a:cs typeface="Georgia Pro Light"/>
              </a:defRPr>
            </a:lvl4pPr>
            <a:lvl5pPr>
              <a:defRPr>
                <a:latin typeface="Georgia Pro Light"/>
                <a:ea typeface="Georgia Pro Light"/>
                <a:cs typeface="Georgia Pro Light"/>
              </a:defRPr>
            </a:lvl5pPr>
            <a:lvl6pPr>
              <a:defRPr>
                <a:latin typeface="Georgia Pro Light"/>
                <a:ea typeface="Georgia Pro Light"/>
                <a:cs typeface="Georgia Pro Light"/>
              </a:defRPr>
            </a:lvl6pPr>
            <a:lvl7pPr>
              <a:defRPr>
                <a:latin typeface="Georgia Pro Light"/>
                <a:ea typeface="Georgia Pro Light"/>
                <a:cs typeface="Georgia Pro Light"/>
              </a:defRPr>
            </a:lvl7pPr>
            <a:lvl8pPr>
              <a:defRPr>
                <a:latin typeface="Georgia Pro Light"/>
                <a:ea typeface="Georgia Pro Light"/>
                <a:cs typeface="Georgia Pro Light"/>
              </a:defRPr>
            </a:lvl8pPr>
            <a:lvl9pPr>
              <a:defRPr>
                <a:latin typeface="Georgia Pro Light"/>
                <a:ea typeface="Georgia Pro Light"/>
                <a:cs typeface="Georgia Pro Light"/>
              </a:defRPr>
            </a:lvl9pPr>
          </a:lstStyle>
          <a:p xmlns:a="http://schemas.openxmlformats.org/drawingml/2006/main">
            <a:pPr marL="0" lvl="0" indent="0" algn="l">
              <a:lnSpc>
                <a:spcPts val="8800"/>
              </a:lnSpc>
              <a:spcBef>
                <a:spcPct val="0"/>
              </a:spcBef>
              <a:buNone/>
              <a:defRPr>
                <a:latin typeface="Georgia Pro Light"/>
                <a:ea typeface="Georgia Pro Light"/>
                <a:cs typeface="Georgia Pro Light"/>
              </a:defRPr>
            </a:pPr>
            <a:r>
              <a:rPr sz="8000">
                <a:solidFill>
                  <a:srgbClr val="F5F6F7"/>
                </a:solidFill>
                <a:latin typeface="Georgia Pro Light"/>
                <a:ea typeface="Georgia Pro Light"/>
                <a:cs typeface="Georgia Pro Light"/>
              </a:rPr>
              <a:t>Calidad y despliegue</a:t>
            </a:r>
          </a:p>
        </p:txBody>
      </p:sp>
      <p:sp>
        <p:nvSpPr>
          <p:cNvPr id="6" name="TextBox 6">
            <a:extLst xmlns:a="http://schemas.openxmlformats.org/drawingml/2006/main">
              <a:ext uri="{FF2B5EF4-FFF2-40B4-BE49-F238E27FC236}">
                <a16:creationId xmlns:a16="http://schemas.microsoft.com/office/drawing/2014/main" id="{ACAC98E6-BF12-4820-8E15-A60FB6267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4819650"/>
            <a:ext cx="7191375" cy="1600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marL="0" lvl="0" indent="0" algn="l">
              <a:lnSpc>
                <a:spcPts val="3150"/>
              </a:lnSpc>
              <a:spcBef>
                <a:spcPct val="0"/>
              </a:spcBef>
              <a:buNone/>
              <a:defRPr>
                <a:latin typeface="DM Sans"/>
                <a:ea typeface="DM Sans"/>
                <a:cs typeface="DM Sans"/>
              </a:defRPr>
            </a:pPr>
            <a:r>
              <a:rPr sz="2250" u="none">
                <a:solidFill>
                  <a:srgbClr val="EAF7EE"/>
                </a:solidFill>
                <a:latin typeface="DM Sans"/>
                <a:ea typeface="DM Sans"/>
                <a:cs typeface="DM Sans"/>
              </a:rPr>
              <a:t>88 pruebas backend aprobadas: 28 JUnit y 60 escenarios Cucumber.</a:t>
            </a:r>
          </a:p>
          <a:p xmlns:a="http://schemas.openxmlformats.org/drawingml/2006/main">
            <a:pPr marL="0" lvl="0" indent="0" algn="l">
              <a:lnSpc>
                <a:spcPts val="3150"/>
              </a:lnSpc>
              <a:spcBef>
                <a:spcPct val="0"/>
              </a:spcBef>
              <a:buNone/>
              <a:defRPr>
                <a:latin typeface="DM Sans"/>
                <a:ea typeface="DM Sans"/>
                <a:cs typeface="DM Sans"/>
              </a:defRPr>
            </a:pPr>
            <a:r>
              <a:rPr sz="2250" u="none">
                <a:solidFill>
                  <a:srgbClr val="EAF7EE"/>
                </a:solidFill>
                <a:latin typeface="DM Sans"/>
                <a:ea typeface="DM Sans"/>
                <a:cs typeface="DM Sans"/>
              </a:rPr>
              <a:t>CI del mismo commit consultado el 21/10/2026; no se presenta como una nueva ejecución local.</a:t>
            </a:r>
          </a:p>
        </p:txBody>
      </p:sp>
      <p:sp>
        <p:nvSpPr>
          <p:cNvPr id="7" name="TextBox 7">
            <a:extLst xmlns:a="http://schemas.openxmlformats.org/drawingml/2006/main">
              <a:ext uri="{FF2B5EF4-FFF2-40B4-BE49-F238E27FC236}">
                <a16:creationId xmlns:a16="http://schemas.microsoft.com/office/drawing/2014/main" id="{81457EDA-C909-40ED-B35E-DD1F96764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3921485"/>
            <a:ext cx="7191375" cy="4622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 Bold"/>
                <a:ea typeface="DM Sans Bold"/>
                <a:cs typeface="DM Sans Bold"/>
              </a:defRPr>
            </a:defPPr>
            <a:lvl1pPr>
              <a:defRPr>
                <a:latin typeface="DM Sans Bold"/>
                <a:ea typeface="DM Sans Bold"/>
                <a:cs typeface="DM Sans Bold"/>
              </a:defRPr>
            </a:lvl1pPr>
            <a:lvl2pPr>
              <a:defRPr>
                <a:latin typeface="DM Sans Bold"/>
                <a:ea typeface="DM Sans Bold"/>
                <a:cs typeface="DM Sans Bold"/>
              </a:defRPr>
            </a:lvl2pPr>
            <a:lvl3pPr>
              <a:defRPr>
                <a:latin typeface="DM Sans Bold"/>
                <a:ea typeface="DM Sans Bold"/>
                <a:cs typeface="DM Sans Bold"/>
              </a:defRPr>
            </a:lvl3pPr>
            <a:lvl4pPr>
              <a:defRPr>
                <a:latin typeface="DM Sans Bold"/>
                <a:ea typeface="DM Sans Bold"/>
                <a:cs typeface="DM Sans Bold"/>
              </a:defRPr>
            </a:lvl4pPr>
            <a:lvl5pPr>
              <a:defRPr>
                <a:latin typeface="DM Sans Bold"/>
                <a:ea typeface="DM Sans Bold"/>
                <a:cs typeface="DM Sans Bold"/>
              </a:defRPr>
            </a:lvl5pPr>
            <a:lvl6pPr>
              <a:defRPr>
                <a:latin typeface="DM Sans Bold"/>
                <a:ea typeface="DM Sans Bold"/>
                <a:cs typeface="DM Sans Bold"/>
              </a:defRPr>
            </a:lvl6pPr>
            <a:lvl7pPr>
              <a:defRPr>
                <a:latin typeface="DM Sans Bold"/>
                <a:ea typeface="DM Sans Bold"/>
                <a:cs typeface="DM Sans Bold"/>
              </a:defRPr>
            </a:lvl7pPr>
            <a:lvl8pPr>
              <a:defRPr>
                <a:latin typeface="DM Sans Bold"/>
                <a:ea typeface="DM Sans Bold"/>
                <a:cs typeface="DM Sans Bold"/>
              </a:defRPr>
            </a:lvl8pPr>
            <a:lvl9pPr>
              <a:defRPr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 marL="0" lvl="0" indent="0" algn="l">
              <a:lnSpc>
                <a:spcPts val="3640"/>
              </a:lnSpc>
              <a:buNone/>
              <a:defRPr>
                <a:latin typeface="DM Sans Bold"/>
                <a:ea typeface="DM Sans Bold"/>
                <a:cs typeface="DM Sans Bold"/>
              </a:defRPr>
            </a:pPr>
            <a:r>
              <a:rPr sz="2600" b="1">
                <a:solidFill>
                  <a:srgbClr val="F5F6F7"/>
                </a:solidFill>
                <a:latin typeface="DM Sans Bold"/>
                <a:ea typeface="DM Sans Bold"/>
                <a:cs typeface="DM Sans Bold"/>
              </a:rPr>
              <a:t>PRUEBAS BACKEND</a:t>
            </a:r>
          </a:p>
        </p:txBody>
      </p:sp>
      <p:sp>
        <p:nvSpPr>
          <p:cNvPr id="8" name="TextBox 8">
            <a:extLst xmlns:a="http://schemas.openxmlformats.org/drawingml/2006/main">
              <a:ext uri="{FF2B5EF4-FFF2-40B4-BE49-F238E27FC236}">
                <a16:creationId xmlns:a16="http://schemas.microsoft.com/office/drawing/2014/main" id="{31777E1F-E868-4417-8E74-BBF7B59FD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67925" y="4825582"/>
            <a:ext cx="7191375" cy="111975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marL="0" lvl="0" indent="0" algn="l">
              <a:lnSpc>
                <a:spcPts val="2939"/>
              </a:lnSpc>
              <a:buNone/>
              <a:defRPr>
                <a:latin typeface="DM Sans"/>
                <a:ea typeface="DM Sans"/>
                <a:cs typeface="DM Sans"/>
              </a:defRPr>
            </a:pPr>
            <a:r>
              <a:rPr sz="2099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Cloud Run, Firebase Hosting y Neon PostgreSQL están desplegados. Health, OpenAPI, registro, login, CORS y persistencia fueron verificados en el entorno público.</a:t>
            </a:r>
          </a:p>
        </p:txBody>
      </p:sp>
      <p:sp>
        <p:nvSpPr>
          <p:cNvPr id="9" name="TextBox 9">
            <a:extLst xmlns:a="http://schemas.openxmlformats.org/drawingml/2006/main">
              <a:ext uri="{FF2B5EF4-FFF2-40B4-BE49-F238E27FC236}">
                <a16:creationId xmlns:a16="http://schemas.microsoft.com/office/drawing/2014/main" id="{4BC8BDBD-C564-4E9A-8351-70147FD44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10067925" y="3921485"/>
            <a:ext cx="7191375" cy="46228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 Bold"/>
                <a:ea typeface="DM Sans Bold"/>
                <a:cs typeface="DM Sans Bold"/>
              </a:defRPr>
            </a:defPPr>
            <a:lvl1pPr>
              <a:defRPr>
                <a:latin typeface="DM Sans Bold"/>
                <a:ea typeface="DM Sans Bold"/>
                <a:cs typeface="DM Sans Bold"/>
              </a:defRPr>
            </a:lvl1pPr>
            <a:lvl2pPr>
              <a:defRPr>
                <a:latin typeface="DM Sans Bold"/>
                <a:ea typeface="DM Sans Bold"/>
                <a:cs typeface="DM Sans Bold"/>
              </a:defRPr>
            </a:lvl2pPr>
            <a:lvl3pPr>
              <a:defRPr>
                <a:latin typeface="DM Sans Bold"/>
                <a:ea typeface="DM Sans Bold"/>
                <a:cs typeface="DM Sans Bold"/>
              </a:defRPr>
            </a:lvl3pPr>
            <a:lvl4pPr>
              <a:defRPr>
                <a:latin typeface="DM Sans Bold"/>
                <a:ea typeface="DM Sans Bold"/>
                <a:cs typeface="DM Sans Bold"/>
              </a:defRPr>
            </a:lvl4pPr>
            <a:lvl5pPr>
              <a:defRPr>
                <a:latin typeface="DM Sans Bold"/>
                <a:ea typeface="DM Sans Bold"/>
                <a:cs typeface="DM Sans Bold"/>
              </a:defRPr>
            </a:lvl5pPr>
            <a:lvl6pPr>
              <a:defRPr>
                <a:latin typeface="DM Sans Bold"/>
                <a:ea typeface="DM Sans Bold"/>
                <a:cs typeface="DM Sans Bold"/>
              </a:defRPr>
            </a:lvl6pPr>
            <a:lvl7pPr>
              <a:defRPr>
                <a:latin typeface="DM Sans Bold"/>
                <a:ea typeface="DM Sans Bold"/>
                <a:cs typeface="DM Sans Bold"/>
              </a:defRPr>
            </a:lvl7pPr>
            <a:lvl8pPr>
              <a:defRPr>
                <a:latin typeface="DM Sans Bold"/>
                <a:ea typeface="DM Sans Bold"/>
                <a:cs typeface="DM Sans Bold"/>
              </a:defRPr>
            </a:lvl8pPr>
            <a:lvl9pPr>
              <a:defRPr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 marL="0" lvl="0" indent="0" algn="l">
              <a:lnSpc>
                <a:spcPts val="3640"/>
              </a:lnSpc>
              <a:buNone/>
              <a:defRPr>
                <a:latin typeface="DM Sans Bold"/>
                <a:ea typeface="DM Sans Bold"/>
                <a:cs typeface="DM Sans Bold"/>
              </a:defRPr>
            </a:pPr>
            <a:r>
              <a:rPr sz="2600" b="1">
                <a:solidFill>
                  <a:srgbClr val="F5F6F7"/>
                </a:solidFill>
                <a:latin typeface="DM Sans Bold"/>
                <a:ea typeface="DM Sans Bold"/>
                <a:cs typeface="DM Sans Bold"/>
              </a:rPr>
              <a:t>PREPARACIÓN EN LA NUBE</a:t>
            </a:r>
          </a:p>
        </p:txBody>
      </p:sp>
    </p:spTree>
    <p:extLst>
      <p:ext uri="{BB962C8B-B14F-4D97-AF65-F5344CB8AC3E}">
        <p14:creationId xmlns:p14="http://schemas.microsoft.com/office/powerpoint/2010/main" val="499267966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07110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77FAECB-EBB6-40CF-8030-2745E4B41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E23F"/>
          </a:solidFill>
          <a:ln xmlns:a="http://schemas.openxmlformats.org/drawingml/2006/main" w="19050">
            <a:solidFill>
              <a:srgbClr val="8BE2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D0553E-55E6-4753-9D46-A6554F9E6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"/>
            <a:ext cx="6191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500" b="1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1500" b="1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CLOUD RUN · FIREBASE HOSTING · NEON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64D895-B13C-4941-A3C8-31B041AC2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38200"/>
            <a:ext cx="16916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3450" b="1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3450" b="1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Despliegue público verificado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5E6864-9662-4CBD-BC52-2477A4A08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38325"/>
            <a:ext cx="16916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1523E"/>
          </a:solidFill>
          <a:ln xmlns:a="http://schemas.openxmlformats.org/drawingml/2006/main" w="19050">
            <a:solidFill>
              <a:srgbClr val="31523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4515F2-F43F-4E31-AABD-13D0F43C1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5257800" cy="4762500"/>
          </a:xfrm>
          <a:prstGeom xmlns:a="http://schemas.openxmlformats.org/drawingml/2006/main" prst="roundRect">
            <a:avLst>
              <a:gd name="adj" fmla="val 1600"/>
            </a:avLst>
          </a:prstGeom>
          <a:solidFill xmlns:a="http://schemas.openxmlformats.org/drawingml/2006/main">
            <a:srgbClr val="102019"/>
          </a:solidFill>
          <a:ln xmlns:a="http://schemas.openxmlformats.org/drawingml/2006/main" w="19050">
            <a:solidFill>
              <a:srgbClr val="31523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0C5ED8-1378-43BB-99EA-FA5BEA91E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952750"/>
            <a:ext cx="4610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575" b="1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1575" b="1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WEB APPLICATION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6C24E0-AC8B-48DD-8D93-60044EA09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733800"/>
            <a:ext cx="4610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2400" b="1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2400" b="1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Firebase Hosting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705D44F-D9E6-4C6A-8154-CCEFA9B91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686300"/>
            <a:ext cx="4610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1650" b="0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university-energycorp.web.app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389C16-B930-4504-B1BA-0A28B9B29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953125"/>
            <a:ext cx="46101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B7C8BD"/>
                </a:solidFill>
                <a:latin typeface="DM Sans"/>
                <a:ea typeface="DM Sans"/>
                <a:cs typeface="DM Sans"/>
              </a:defRPr>
            </a:pPr>
            <a:r>
              <a:rPr sz="1650" b="0">
                <a:solidFill>
                  <a:srgbClr val="B7C8BD"/>
                </a:solidFill>
                <a:latin typeface="DM Sans"/>
                <a:ea typeface="DM Sans"/>
                <a:cs typeface="DM Sans"/>
              </a:rPr>
              <a:t>Rutas SPA y acceso público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C03483-D82B-4AE5-86A7-51DEB2DC7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6715125"/>
            <a:ext cx="20002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8BE23F"/>
          </a:solidFill>
          <a:ln xmlns:a="http://schemas.openxmlformats.org/drawingml/2006/main" w="19050">
            <a:solidFill>
              <a:srgbClr val="8BE2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358C48E-04A5-4A30-9772-C637867BF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" y="68008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185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07110D"/>
                </a:solidFill>
                <a:latin typeface="DM Sans"/>
                <a:ea typeface="DM Sans"/>
                <a:cs typeface="DM Sans"/>
              </a:defRPr>
            </a:pPr>
            <a:r>
              <a:rPr sz="1350" b="1">
                <a:solidFill>
                  <a:srgbClr val="07110D"/>
                </a:solidFill>
                <a:latin typeface="DM Sans"/>
                <a:ea typeface="DM Sans"/>
                <a:cs typeface="DM Sans"/>
              </a:rPr>
              <a:t>VERIFICADO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6BEE99-399D-4BBC-855F-B0625D02C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571750"/>
            <a:ext cx="5257800" cy="4762500"/>
          </a:xfrm>
          <a:prstGeom xmlns:a="http://schemas.openxmlformats.org/drawingml/2006/main" prst="roundRect">
            <a:avLst>
              <a:gd name="adj" fmla="val 1600"/>
            </a:avLst>
          </a:prstGeom>
          <a:solidFill xmlns:a="http://schemas.openxmlformats.org/drawingml/2006/main">
            <a:srgbClr val="15351F"/>
          </a:solidFill>
          <a:ln xmlns:a="http://schemas.openxmlformats.org/drawingml/2006/main" w="19050">
            <a:solidFill>
              <a:srgbClr val="8BE2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451FBC-97F1-4476-994A-A488B47EE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952750"/>
            <a:ext cx="4610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575" b="1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1575" b="1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RESTFUL API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DBE0CF5-221D-4D3B-988E-E15B7B529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733800"/>
            <a:ext cx="4610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2400" b="1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2400" b="1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Google Cloud Run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64CD09-59F0-457E-8C93-D856C4795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4686300"/>
            <a:ext cx="4610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1650" b="0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energycore-platform-ujdgb2zcpq-ue.a.run.app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17DB17-4E72-4911-8A75-936838364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5953125"/>
            <a:ext cx="46101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B7C8BD"/>
                </a:solidFill>
                <a:latin typeface="DM Sans"/>
                <a:ea typeface="DM Sans"/>
                <a:cs typeface="DM Sans"/>
              </a:defRPr>
            </a:pPr>
            <a:r>
              <a:rPr sz="1650" b="0">
                <a:solidFill>
                  <a:srgbClr val="B7C8BD"/>
                </a:solidFill>
                <a:latin typeface="DM Sans"/>
                <a:ea typeface="DM Sans"/>
                <a:cs typeface="DM Sans"/>
              </a:rPr>
              <a:t>Health, OpenAPI, registro, login y CORS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F45D0F9-8ADA-4ECC-A465-7C8B94166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6715125"/>
            <a:ext cx="20002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8BE23F"/>
          </a:solidFill>
          <a:ln xmlns:a="http://schemas.openxmlformats.org/drawingml/2006/main" w="19050">
            <a:solidFill>
              <a:srgbClr val="8BE2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1E4482-C766-4CC5-AA39-CF9E33679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68008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185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07110D"/>
                </a:solidFill>
                <a:latin typeface="DM Sans"/>
                <a:ea typeface="DM Sans"/>
                <a:cs typeface="DM Sans"/>
              </a:defRPr>
            </a:pPr>
            <a:r>
              <a:rPr sz="1350" b="1">
                <a:solidFill>
                  <a:srgbClr val="07110D"/>
                </a:solidFill>
                <a:latin typeface="DM Sans"/>
                <a:ea typeface="DM Sans"/>
                <a:cs typeface="DM Sans"/>
              </a:rPr>
              <a:t>VERIFICADO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885D25-ECC1-452A-A606-8BC58595E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63400" y="2571750"/>
            <a:ext cx="5257800" cy="4762500"/>
          </a:xfrm>
          <a:prstGeom xmlns:a="http://schemas.openxmlformats.org/drawingml/2006/main" prst="roundRect">
            <a:avLst>
              <a:gd name="adj" fmla="val 1600"/>
            </a:avLst>
          </a:prstGeom>
          <a:solidFill xmlns:a="http://schemas.openxmlformats.org/drawingml/2006/main">
            <a:srgbClr val="102019"/>
          </a:solidFill>
          <a:ln xmlns:a="http://schemas.openxmlformats.org/drawingml/2006/main" w="19050">
            <a:solidFill>
              <a:srgbClr val="31523E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A6CA72-7C93-4034-AA88-258F4B07E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2952750"/>
            <a:ext cx="46101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575" b="1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1575" b="1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BASE DE DATOS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BD10A7-D629-4A04-AB73-C0A36E488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3733800"/>
            <a:ext cx="4610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2400" b="1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2400" b="1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Neon PostgreSQL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4F5AFCA-7929-4A88-9444-41CBD130E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686300"/>
            <a:ext cx="46101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8BE23F"/>
                </a:solidFill>
                <a:latin typeface="DM Sans"/>
                <a:ea typeface="DM Sans"/>
                <a:cs typeface="DM Sans"/>
              </a:defRPr>
            </a:pPr>
            <a:r>
              <a:rPr sz="1650" b="0">
                <a:solidFill>
                  <a:srgbClr val="8BE23F"/>
                </a:solidFill>
                <a:latin typeface="DM Sans"/>
                <a:ea typeface="DM Sans"/>
                <a:cs typeface="DM Sans"/>
              </a:rPr>
              <a:t>Persistencia entre revisiones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E38BC88-063A-4DE7-B47F-E45F5C430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5953125"/>
            <a:ext cx="46101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650" b="0">
                <a:solidFill>
                  <a:srgbClr val="B7C8BD"/>
                </a:solidFill>
                <a:latin typeface="DM Sans"/>
                <a:ea typeface="DM Sans"/>
                <a:cs typeface="DM Sans"/>
              </a:defRPr>
            </a:pPr>
            <a:r>
              <a:rPr sz="1650" b="0">
                <a:solidFill>
                  <a:srgbClr val="B7C8BD"/>
                </a:solidFill>
                <a:latin typeface="DM Sans"/>
                <a:ea typeface="DM Sans"/>
                <a:cs typeface="DM Sans"/>
              </a:rPr>
              <a:t>Mismo usuario y marcador recuperados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65778F8-7BC4-4D8B-8DB6-881240D72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6715125"/>
            <a:ext cx="2000250" cy="438150"/>
          </a:xfrm>
          <a:prstGeom xmlns:a="http://schemas.openxmlformats.org/drawingml/2006/main" prst="roundRect">
            <a:avLst>
              <a:gd name="adj" fmla="val 17391"/>
            </a:avLst>
          </a:prstGeom>
          <a:solidFill xmlns:a="http://schemas.openxmlformats.org/drawingml/2006/main">
            <a:srgbClr val="8BE23F"/>
          </a:solidFill>
          <a:ln xmlns:a="http://schemas.openxmlformats.org/drawingml/2006/main" w="19050">
            <a:solidFill>
              <a:srgbClr val="8BE2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E3C5663-8D06-4597-98E9-E487F23C0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30125" y="68008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85185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1350" b="1">
                <a:solidFill>
                  <a:srgbClr val="07110D"/>
                </a:solidFill>
                <a:latin typeface="DM Sans"/>
                <a:ea typeface="DM Sans"/>
                <a:cs typeface="DM Sans"/>
              </a:defRPr>
            </a:pPr>
            <a:r>
              <a:rPr sz="1350" b="1">
                <a:solidFill>
                  <a:srgbClr val="07110D"/>
                </a:solidFill>
                <a:latin typeface="DM Sans"/>
                <a:ea typeface="DM Sans"/>
                <a:cs typeface="DM Sans"/>
              </a:rPr>
              <a:t>VERIFICADO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69C08C1-69E7-47EB-ACE4-8FCC499EC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953375"/>
            <a:ext cx="169164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0D2819"/>
          </a:solidFill>
          <a:ln xmlns:a="http://schemas.openxmlformats.org/drawingml/2006/main" w="19050">
            <a:solidFill>
              <a:srgbClr val="8BE23F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7F001EA-4ED4-4753-A897-49F2AE54F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8267700"/>
            <a:ext cx="1600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rmAutofit fontScale="100000"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buNone/>
              <a:defRPr sz="2025" b="1">
                <a:solidFill>
                  <a:srgbClr val="F5FFF7"/>
                </a:solidFill>
                <a:latin typeface="DM Sans"/>
                <a:ea typeface="DM Sans"/>
                <a:cs typeface="DM Sans"/>
              </a:defRPr>
            </a:pPr>
            <a:r>
              <a:rPr sz="2025" b="1">
                <a:solidFill>
                  <a:srgbClr val="F5FFF7"/>
                </a:solidFill>
                <a:latin typeface="DM Sans"/>
                <a:ea typeface="DM Sans"/>
                <a:cs typeface="DM Sans"/>
              </a:rPr>
              <a:t>Una sola API y una sola base de datos conectan la aplicación web y Flutter con trazabilidad del despliegue.</a:t>
            </a:r>
          </a:p>
        </p:txBody>
      </p:sp>
    </p:spTree>
    <p:extLst>
      <p:ext uri="{BB962C8B-B14F-4D97-AF65-F5344CB8AC3E}">
        <p14:creationId xmlns:p14="http://schemas.microsoft.com/office/powerpoint/2010/main" val="294714087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34354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D198E9-D30C-4EE3-AF25-E04D943C7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714375"/>
            <a:ext cx="16097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defPPr>
            <a:lvl1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1pPr>
            <a:lvl2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2pPr>
            <a:lvl3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3pPr>
            <a:lvl4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4pPr>
            <a:lvl5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5pPr>
            <a:lvl6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6pPr>
            <a:lvl7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7pPr>
            <a:lvl8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8pPr>
            <a:lvl9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9pPr>
          </a:lstStyle>
          <a:p xmlns:a="http://schemas.openxmlformats.org/drawingml/2006/main">
            <a: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pPr>
            <a:r>
              <a: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rPr>
              <a:t>Revisión técnica trazable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508299D-68AE-44C1-A638-BFD479001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333625"/>
            <a:ext cx="15335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defPPr>
            <a:lvl1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1pPr>
            <a:lvl2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2pPr>
            <a:lvl3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3pPr>
            <a:lvl4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4pPr>
            <a:lvl5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5pPr>
            <a:lvl6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6pPr>
            <a:lvl7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7pPr>
            <a:lvl8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8pPr>
            <a:lvl9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pPr>
            <a:r>
              <a: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rPr>
              <a:t>CI Y REVISIONES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039892E-AC6B-4C21-A5E9-4BFA8C150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05125"/>
            <a:ext cx="153352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defPPr>
            <a:lvl1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1pPr>
            <a:lvl2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2pPr>
            <a:lvl3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3pPr>
            <a:lvl4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4pPr>
            <a:lvl5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5pPr>
            <a:lvl6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6pPr>
            <a:lvl7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7pPr>
            <a:lvl8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8pPr>
            <a:lvl9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pPr>
            <a:r>
              <a:rPr sz="2625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Últimas ejecuciones consultadas: cinco repositorios con resultado success. Los cuatro repositorios del producto coinciden con su commit local.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A69FDC0-A251-4D61-BA02-4B2D3E8DC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286250"/>
            <a:ext cx="15335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defPPr>
            <a:lvl1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1pPr>
            <a:lvl2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2pPr>
            <a:lvl3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3pPr>
            <a:lvl4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4pPr>
            <a:lvl5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5pPr>
            <a:lvl6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6pPr>
            <a:lvl7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7pPr>
            <a:lvl8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8pPr>
            <a:lvl9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pPr>
            <a:r>
              <a: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rPr>
              <a:t>HALLAZGOS CONCRETOS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DED08F-53D5-47FD-B114-777A37F9C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57750"/>
            <a:ext cx="153352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defPPr>
            <a:lvl1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1pPr>
            <a:lvl2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2pPr>
            <a:lvl3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3pPr>
            <a:lvl4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4pPr>
            <a:lvl5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5pPr>
            <a:lvl6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6pPr>
            <a:lvl7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7pPr>
            <a:lvl8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8pPr>
            <a:lvl9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pPr>
            <a:r>
              <a:rPr sz="2625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Producción conserva ddl-auto=update y un origen localhost en el CORS predeterminado. Son observaciones abiertas, no correcciones desplegadas.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0BEC28-8EAC-42AB-863B-E4E1687A0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6238875"/>
            <a:ext cx="15335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defPPr>
            <a:lvl1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1pPr>
            <a:lvl2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2pPr>
            <a:lvl3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3pPr>
            <a:lvl4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4pPr>
            <a:lvl5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5pPr>
            <a:lvl6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6pPr>
            <a:lvl7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7pPr>
            <a:lvl8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8pPr>
            <a:lvl9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pPr>
            <a:r>
              <a: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rPr>
              <a:t>ALCANCE DE LA REVISIÓN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7BF392-BD5D-433C-AD82-B321A337F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6810375"/>
            <a:ext cx="153352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defPPr>
            <a:lvl1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1pPr>
            <a:lvl2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2pPr>
            <a:lvl3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3pPr>
            <a:lvl4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4pPr>
            <a:lvl5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5pPr>
            <a:lvl6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6pPr>
            <a:lvl7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7pPr>
            <a:lvl8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8pPr>
            <a:lvl9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pPr>
            <a:r>
              <a:rPr sz="2625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Inspección automática del código. La aprobación humana por pares y la auditoría de otro grupo no se sustituyen con esta revisión.</a:t>
            </a:r>
          </a:p>
        </p:txBody>
      </p:sp>
    </p:spTree>
    <p:extLst>
      <p:ext uri="{BB962C8B-B14F-4D97-AF65-F5344CB8AC3E}">
        <p14:creationId xmlns:p14="http://schemas.microsoft.com/office/powerpoint/2010/main" val="865775723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34354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2EAB8D-C587-48D6-B33F-429AF8F8B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714375"/>
            <a:ext cx="16097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defPPr>
            <a:lvl1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1pPr>
            <a:lvl2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2pPr>
            <a:lvl3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3pPr>
            <a:lvl4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4pPr>
            <a:lvl5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5pPr>
            <a:lvl6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6pPr>
            <a:lvl7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7pPr>
            <a:lvl8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8pPr>
            <a:lvl9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9pPr>
          </a:lstStyle>
          <a:p xmlns:a="http://schemas.openxmlformats.org/drawingml/2006/main">
            <a: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pPr>
            <a:r>
              <a: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rPr>
              <a:t>Monitoreo reproducible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CC677B-B052-43DB-9A03-D4C2DD2B4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333625"/>
            <a:ext cx="15335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defPPr>
            <a:lvl1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1pPr>
            <a:lvl2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2pPr>
            <a:lvl3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3pPr>
            <a:lvl4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4pPr>
            <a:lvl5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5pPr>
            <a:lvl6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6pPr>
            <a:lvl7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7pPr>
            <a:lvl8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8pPr>
            <a:lvl9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pPr>
            <a:r>
              <a: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rPr>
              <a:t>COMPROBACIÓN PÚBLICA DEL 21/10/2026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1F446B-62C5-497A-8F09-EA5867BB2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05125"/>
            <a:ext cx="153352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defPPr>
            <a:lvl1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1pPr>
            <a:lvl2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2pPr>
            <a:lvl3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3pPr>
            <a:lvl4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4pPr>
            <a:lvl5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5pPr>
            <a:lvl6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6pPr>
            <a:lvl7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7pPr>
            <a:lvl8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8pPr>
            <a:lvl9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pPr>
            <a:r>
              <a:rPr sz="2625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API health: 200 · OpenAPI: 200 · Web Application: 200. Solo solicitudes de lectura, sin cuentas ni datos personales.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98EA7E-9CBE-4BC8-AB0B-317D36597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286250"/>
            <a:ext cx="15335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defPPr>
            <a:lvl1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1pPr>
            <a:lvl2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2pPr>
            <a:lvl3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3pPr>
            <a:lvl4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4pPr>
            <a:lvl5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5pPr>
            <a:lvl6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6pPr>
            <a:lvl7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7pPr>
            <a:lvl8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8pPr>
            <a:lvl9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pPr>
            <a:r>
              <a: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rPr>
              <a:t>DETECCIÓN Y EVIDENCIA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E13B14-4715-4EC8-883E-B533429E3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57750"/>
            <a:ext cx="153352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defPPr>
            <a:lvl1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1pPr>
            <a:lvl2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2pPr>
            <a:lvl3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3pPr>
            <a:lvl4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4pPr>
            <a:lvl5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5pPr>
            <a:lvl6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6pPr>
            <a:lvl7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7pPr>
            <a:lvl8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8pPr>
            <a:lvl9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pPr>
            <a:r>
              <a:rPr sz="2625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El monitor valida status UP, contrato OpenAPI y HTML; termina con fallo ante una respuesta incorrecta y guarda JSON.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4521E4-AEC3-4D2F-8CFE-5E08A8920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6238875"/>
            <a:ext cx="15335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defPPr>
            <a:lvl1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1pPr>
            <a:lvl2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2pPr>
            <a:lvl3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3pPr>
            <a:lvl4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4pPr>
            <a:lvl5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5pPr>
            <a:lvl6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6pPr>
            <a:lvl7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7pPr>
            <a:lvl8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8pPr>
            <a:lvl9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pPr>
            <a:r>
              <a: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rPr>
              <a:t>AUTOMATIZACIÓN ACTIVA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16887D-9C7C-4994-A802-E3B1AAC7B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6810375"/>
            <a:ext cx="153352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defPPr>
            <a:lvl1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1pPr>
            <a:lvl2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2pPr>
            <a:lvl3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3pPr>
            <a:lvl4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4pPr>
            <a:lvl5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5pPr>
            <a:lvl6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6pPr>
            <a:lvl7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7pPr>
            <a:lvl8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8pPr>
            <a:lvl9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pPr>
            <a:r>
              <a:rPr sz="2625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Workflow activo en main, programado cada 6 horas y con ejecución remota aprobada. No se afirma un SLA medido.</a:t>
            </a:r>
          </a:p>
        </p:txBody>
      </p:sp>
    </p:spTree>
    <p:extLst>
      <p:ext uri="{BB962C8B-B14F-4D97-AF65-F5344CB8AC3E}">
        <p14:creationId xmlns:p14="http://schemas.microsoft.com/office/powerpoint/2010/main" val="1367848320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34354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6AF8DA-2CEB-4A62-82A8-B96D8A154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714375"/>
            <a:ext cx="16097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defPPr>
            <a:lvl1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1pPr>
            <a:lvl2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2pPr>
            <a:lvl3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3pPr>
            <a:lvl4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4pPr>
            <a:lvl5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5pPr>
            <a:lvl6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6pPr>
            <a:lvl7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7pPr>
            <a:lvl8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8pPr>
            <a:lvl9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9pPr>
          </a:lstStyle>
          <a:p xmlns:a="http://schemas.openxmlformats.org/drawingml/2006/main">
            <a: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pPr>
            <a:r>
              <a: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rPr>
              <a:t>Pregunta e hipótesis experimental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8A15DD-0772-413F-A900-784D54D4D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333625"/>
            <a:ext cx="15335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defPPr>
            <a:lvl1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1pPr>
            <a:lvl2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2pPr>
            <a:lvl3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3pPr>
            <a:lvl4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4pPr>
            <a:lvl5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5pPr>
            <a:lvl6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6pPr>
            <a:lvl7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7pPr>
            <a:lvl8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8pPr>
            <a:lvl9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pPr>
            <a:r>
              <a: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rPr>
              <a:t>PREGUNTA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137632-F33D-4481-8EFB-FA7735B02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05125"/>
            <a:ext cx="153352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defPPr>
            <a:lvl1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1pPr>
            <a:lvl2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2pPr>
            <a:lvl3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3pPr>
            <a:lvl4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4pPr>
            <a:lvl5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5pPr>
            <a:lvl6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6pPr>
            <a:lvl7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7pPr>
            <a:lvl8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8pPr>
            <a:lvl9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pPr>
            <a:r>
              <a:rPr sz="2625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¿Una recomendación con causa y acción ayuda a identificar un consumo anómalo y decidir qué hacer?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51EC41-662E-4A31-87C8-AA3D71C1D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286250"/>
            <a:ext cx="15335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defPPr>
            <a:lvl1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1pPr>
            <a:lvl2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2pPr>
            <a:lvl3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3pPr>
            <a:lvl4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4pPr>
            <a:lvl5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5pPr>
            <a:lvl6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6pPr>
            <a:lvl7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7pPr>
            <a:lvl8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8pPr>
            <a:lvl9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pPr>
            <a:r>
              <a: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rPr>
              <a:t>COMPARACIÓN PROPUESTA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A14B34-CF2A-46DE-BE3E-3E058094A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57750"/>
            <a:ext cx="153352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defPPr>
            <a:lvl1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1pPr>
            <a:lvl2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2pPr>
            <a:lvl3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3pPr>
            <a:lvl4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4pPr>
            <a:lvl5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5pPr>
            <a:lvl6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6pPr>
            <a:lvl7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7pPr>
            <a:lvl8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8pPr>
            <a:lvl9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pPr>
            <a:r>
              <a:rPr sz="2625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Control: dashboard actual. Tratamiento: recomendación accionable con explicación, impacto y confirmación segura.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283741-2663-43A5-BFBE-956965CB8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6238875"/>
            <a:ext cx="15335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defPPr>
            <a:lvl1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1pPr>
            <a:lvl2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2pPr>
            <a:lvl3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3pPr>
            <a:lvl4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4pPr>
            <a:lvl5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5pPr>
            <a:lvl6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6pPr>
            <a:lvl7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7pPr>
            <a:lvl8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8pPr>
            <a:lvl9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pPr>
            <a:r>
              <a: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rPr>
              <a:t>HIPÓTESIS POR CONTRASTAR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23929B-FB1A-4332-8C2C-4160675AB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6810375"/>
            <a:ext cx="153352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defPPr>
            <a:lvl1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1pPr>
            <a:lvl2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2pPr>
            <a:lvl3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3pPr>
            <a:lvl4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4pPr>
            <a:lvl5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5pPr>
            <a:lvl6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6pPr>
            <a:lvl7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7pPr>
            <a:lvl8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8pPr>
            <a:lvl9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pPr>
            <a:r>
              <a:rPr sz="2625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El tratamiento reduce el tiempo de la tarea sin aumentar errores. No se afirma ahorro energético ni una mejora ya demostrada.</a:t>
            </a:r>
          </a:p>
        </p:txBody>
      </p:sp>
    </p:spTree>
    <p:extLst>
      <p:ext uri="{BB962C8B-B14F-4D97-AF65-F5344CB8AC3E}">
        <p14:creationId xmlns:p14="http://schemas.microsoft.com/office/powerpoint/2010/main" val="1148339532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34354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82DB20-C336-4272-8811-B56E2AEBE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714375"/>
            <a:ext cx="16097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defPPr>
            <a:lvl1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1pPr>
            <a:lvl2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2pPr>
            <a:lvl3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3pPr>
            <a:lvl4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4pPr>
            <a:lvl5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5pPr>
            <a:lvl6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6pPr>
            <a:lvl7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7pPr>
            <a:lvl8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8pPr>
            <a:lvl9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9pPr>
          </a:lstStyle>
          <a:p xmlns:a="http://schemas.openxmlformats.org/drawingml/2006/main">
            <a: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pPr>
            <a:r>
              <a: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rPr>
              <a:t>Diseño y medición propuestos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06B712D-EF1F-4B5F-B1CC-7ECFA0E8C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333625"/>
            <a:ext cx="15335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defPPr>
            <a:lvl1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1pPr>
            <a:lvl2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2pPr>
            <a:lvl3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3pPr>
            <a:lvl4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4pPr>
            <a:lvl5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5pPr>
            <a:lvl6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6pPr>
            <a:lvl7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7pPr>
            <a:lvl8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8pPr>
            <a:lvl9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pPr>
            <a:r>
              <a: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rPr>
              <a:t>VARIABLES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EF91C9-819E-41A2-AD11-8B72BD7E6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05125"/>
            <a:ext cx="153352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defPPr>
            <a:lvl1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1pPr>
            <a:lvl2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2pPr>
            <a:lvl3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3pPr>
            <a:lvl4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4pPr>
            <a:lvl5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5pPr>
            <a:lvl6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6pPr>
            <a:lvl7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7pPr>
            <a:lvl8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8pPr>
            <a:lvl9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pPr>
            <a:r>
              <a:rPr sz="2625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Tiempo de tarea, éxito y errores. Registrar variante, plataforma, segmento y experiencia previa sin identificar a la persona.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FB7D3A-3FB4-4B17-B65D-9A19DFD72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286250"/>
            <a:ext cx="15335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defPPr>
            <a:lvl1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1pPr>
            <a:lvl2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2pPr>
            <a:lvl3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3pPr>
            <a:lvl4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4pPr>
            <a:lvl5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5pPr>
            <a:lvl6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6pPr>
            <a:lvl7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7pPr>
            <a:lvl8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8pPr>
            <a:lvl9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pPr>
            <a:r>
              <a: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rPr>
              <a:t>PILOTO PROPUESTO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6B3284C-2EED-4DFA-9223-FA0ECAE53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57750"/>
            <a:ext cx="153352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defPPr>
            <a:lvl1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1pPr>
            <a:lvl2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2pPr>
            <a:lvl3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3pPr>
            <a:lvl4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4pPr>
            <a:lvl5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5pPr>
            <a:lvl6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6pPr>
            <a:lvl7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7pPr>
            <a:lvl8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8pPr>
            <a:lvl9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pPr>
            <a:r>
              <a:rPr sz="2625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24 participantes para depurar tareas y estimar parámetros. La muestra confirmatoria depende de variabilidad y efecto mínimo.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A2C42A-17B7-486C-B433-5FD9A831E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6238875"/>
            <a:ext cx="15335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defPPr>
            <a:lvl1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1pPr>
            <a:lvl2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2pPr>
            <a:lvl3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3pPr>
            <a:lvl4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4pPr>
            <a:lvl5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5pPr>
            <a:lvl6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6pPr>
            <a:lvl7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7pPr>
            <a:lvl8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8pPr>
            <a:lvl9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pPr>
            <a:r>
              <a: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rPr>
              <a:t>CONTROL Y ÉTICA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99F132-8A44-455F-BBAE-A2E29CB98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6810375"/>
            <a:ext cx="153352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defPPr>
            <a:lvl1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1pPr>
            <a:lvl2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2pPr>
            <a:lvl3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3pPr>
            <a:lvl4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4pPr>
            <a:lvl5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5pPr>
            <a:lvl6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6pPr>
            <a:lvl7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7pPr>
            <a:lvl8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8pPr>
            <a:lvl9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pPr>
            <a:r>
              <a:rPr sz="2625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Mismas tareas y datos semilla; asignación consistente; consentimiento, minimización de datos y detención ante riesgo.</a:t>
            </a:r>
          </a:p>
        </p:txBody>
      </p:sp>
    </p:spTree>
    <p:extLst>
      <p:ext uri="{BB962C8B-B14F-4D97-AF65-F5344CB8AC3E}">
        <p14:creationId xmlns:p14="http://schemas.microsoft.com/office/powerpoint/2010/main" val="1226654393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34354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0AB3DD-621A-4FB6-9994-8D9CCF59E9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714375"/>
            <a:ext cx="16097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defPPr>
            <a:lvl1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1pPr>
            <a:lvl2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2pPr>
            <a:lvl3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3pPr>
            <a:lvl4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4pPr>
            <a:lvl5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5pPr>
            <a:lvl6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6pPr>
            <a:lvl7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7pPr>
            <a:lvl8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8pPr>
            <a:lvl9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lvl9pPr>
          </a:lstStyle>
          <a:p xmlns:a="http://schemas.openxmlformats.org/drawingml/2006/main">
            <a:pPr>
              <a:def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defRPr>
            </a:pPr>
            <a:r>
              <a:rPr sz="5700">
                <a:solidFill>
                  <a:srgbClr val="FFFFFF"/>
                </a:solidFill>
                <a:latin typeface="Georgia Pro Light"/>
                <a:ea typeface="Georgia Pro Light"/>
                <a:cs typeface="Georgia Pro Light"/>
              </a:rPr>
              <a:t>To-Be Product Backlog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04E0258-E608-40E4-83E9-6C3F224BC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333625"/>
            <a:ext cx="15335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defPPr>
            <a:lvl1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1pPr>
            <a:lvl2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2pPr>
            <a:lvl3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3pPr>
            <a:lvl4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4pPr>
            <a:lvl5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5pPr>
            <a:lvl6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6pPr>
            <a:lvl7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7pPr>
            <a:lvl8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8pPr>
            <a:lvl9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pPr>
            <a:r>
              <a: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rPr>
              <a:t>13 HISTORIAS · 53 STORY POINTS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0D25A8C-B39B-4559-9DF1-F0F54C4C7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05125"/>
            <a:ext cx="153352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defPPr>
            <a:lvl1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1pPr>
            <a:lvl2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2pPr>
            <a:lvl3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3pPr>
            <a:lvl4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4pPr>
            <a:lvl5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5pPr>
            <a:lvl6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6pPr>
            <a:lvl7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7pPr>
            <a:lvl8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8pPr>
            <a:lvl9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pPr>
            <a:r>
              <a:rPr sz="2625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Historias de explicación, acción segura, alcance, recuperación, idempotencia y frescura; tareas técnicas de asignación y eventos.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CED7936-A78F-4649-ADEC-C32B45DC5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286250"/>
            <a:ext cx="15335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defPPr>
            <a:lvl1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1pPr>
            <a:lvl2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2pPr>
            <a:lvl3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3pPr>
            <a:lvl4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4pPr>
            <a:lvl5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5pPr>
            <a:lvl6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6pPr>
            <a:lvl7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7pPr>
            <a:lvl8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8pPr>
            <a:lvl9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pPr>
            <a:r>
              <a: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rPr>
              <a:t>CRITERIOS DE ACEPTACIÓN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639E5F-BC11-4B3E-8B45-344B700C7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857750"/>
            <a:ext cx="153352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defPPr>
            <a:lvl1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1pPr>
            <a:lvl2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2pPr>
            <a:lvl3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3pPr>
            <a:lvl4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4pPr>
            <a:lvl5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5pPr>
            <a:lvl6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6pPr>
            <a:lvl7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7pPr>
            <a:lvl8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8pPr>
            <a:lvl9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pPr>
            <a:r>
              <a:rPr sz="2625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Cada historia conserva su resultado verificable. Ninguna supera 5 SP; las estimaciones no equivalen a implementación terminada.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656821-570B-45FF-8AE4-9872B5EBF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6238875"/>
            <a:ext cx="15335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defPPr>
            <a:lvl1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1pPr>
            <a:lvl2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2pPr>
            <a:lvl3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3pPr>
            <a:lvl4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4pPr>
            <a:lvl5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5pPr>
            <a:lvl6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6pPr>
            <a:lvl7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7pPr>
            <a:lvl8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8pPr>
            <a:lvl9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>
              <a:def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defRPr>
            </a:pPr>
            <a:r>
              <a:rPr sz="2550">
                <a:solidFill>
                  <a:srgbClr val="99D7B7"/>
                </a:solidFill>
                <a:latin typeface="DM Sans Bold"/>
                <a:ea typeface="DM Sans Bold"/>
                <a:cs typeface="DM Sans Bold"/>
              </a:rPr>
              <a:t>PLANIFICACIÓN Y TRAZABILIDAD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AF3DD1-CC5D-4346-A498-A18856BE7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6810375"/>
            <a:ext cx="153352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defPPr>
            <a:lvl1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1pPr>
            <a:lvl2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2pPr>
            <a:lvl3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3pPr>
            <a:lvl4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4pPr>
            <a:lvl5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5pPr>
            <a:lvl6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6pPr>
            <a:lvl7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7pPr>
            <a:lvl8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8pPr>
            <a:lvl9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>
              <a:defRPr sz="2625">
                <a:solidFill>
                  <a:srgbClr val="FFFFFF"/>
                </a:solidFill>
                <a:latin typeface="DM Sans"/>
                <a:ea typeface="DM Sans"/>
                <a:cs typeface="DM Sans"/>
              </a:defRPr>
            </a:pPr>
            <a:r>
              <a:rPr sz="2625">
                <a:solidFill>
                  <a:srgbClr val="FFFFFF"/>
                </a:solidFill>
                <a:latin typeface="DM Sans"/>
                <a:ea typeface="DM Sans"/>
                <a:cs typeface="DM Sans"/>
              </a:rPr>
              <a:t>Trello: energycore-product-backlog-y-sprint-planning. Reporte: 8.3.1 User Stories y 8.3.2 Product Backlog.</a:t>
            </a:r>
          </a:p>
        </p:txBody>
      </p:sp>
    </p:spTree>
    <p:extLst>
      <p:ext uri="{BB962C8B-B14F-4D97-AF65-F5344CB8AC3E}">
        <p14:creationId xmlns:p14="http://schemas.microsoft.com/office/powerpoint/2010/main" val="105624598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33365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Freeform 3">
            <a:extLst xmlns:a="http://schemas.openxmlformats.org/drawingml/2006/main">
              <a:ext uri="{FF2B5EF4-FFF2-40B4-BE49-F238E27FC236}">
                <a16:creationId xmlns:a16="http://schemas.microsoft.com/office/drawing/2014/main" id="{BB54952D-7A72-4EDF-9003-013AA7DFB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10734675" y="0"/>
            <a:ext cx="7553325" cy="10287000"/>
          </a:xfrm>
          <a:custGeom xmlns:a="http://schemas.openxmlformats.org/drawingml/2006/main">
            <a:rect l="l" t="t" r="r" b="b"/>
            <a:pathLst>
              <a:path w="1170208" h="1593725">
                <a:moveTo>
                  <a:pt x="0" y="0"/>
                </a:moveTo>
                <a:lnTo>
                  <a:pt x="1170208" y="0"/>
                </a:lnTo>
                <a:lnTo>
                  <a:pt x="1170208" y="1593725"/>
                </a:lnTo>
                <a:lnTo>
                  <a:pt x="0" y="1593725"/>
                </a:lnTo>
                <a:close/>
              </a:path>
            </a:pathLst>
          </a:custGeom>
          <a:blipFill xmlns:a="http://schemas.openxmlformats.org/drawingml/2006/main">
            <a:blip xmlns:r="http://schemas.openxmlformats.org/officeDocument/2006/relationships" r:embed="R932c1d9ae30048b2"/>
            <a:stretch>
              <a:fillRect l="-75656" t="34" r="-75656" b="-12366"/>
            </a:stretch>
          </a:blipFill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5" name="Freeform 5">
            <a:extLst xmlns:a="http://schemas.openxmlformats.org/drawingml/2006/main">
              <a:ext uri="{FF2B5EF4-FFF2-40B4-BE49-F238E27FC236}">
                <a16:creationId xmlns:a16="http://schemas.microsoft.com/office/drawing/2014/main" id="{DD99A3B3-B2FD-42D5-B1CF-A376ADE49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105025" y="6038850"/>
            <a:ext cx="796706" cy="776050"/>
          </a:xfrm>
          <a:custGeom xmlns:a="http://schemas.openxmlformats.org/drawingml/2006/main">
            <a:rect l="l" t="t" r="r" b="b"/>
            <a:pathLst>
              <a:path w="685800" h="668020">
                <a:moveTo>
                  <a:pt x="342900" y="0"/>
                </a:moveTo>
                <a:lnTo>
                  <a:pt x="434340" y="162560"/>
                </a:lnTo>
                <a:lnTo>
                  <a:pt x="618490" y="132080"/>
                </a:lnTo>
                <a:lnTo>
                  <a:pt x="547370" y="304800"/>
                </a:lnTo>
                <a:lnTo>
                  <a:pt x="685800" y="430530"/>
                </a:lnTo>
                <a:lnTo>
                  <a:pt x="506730" y="482600"/>
                </a:lnTo>
                <a:lnTo>
                  <a:pt x="495300" y="668020"/>
                </a:lnTo>
                <a:lnTo>
                  <a:pt x="342900" y="561340"/>
                </a:lnTo>
                <a:lnTo>
                  <a:pt x="190500" y="668020"/>
                </a:lnTo>
                <a:lnTo>
                  <a:pt x="179070" y="482600"/>
                </a:lnTo>
                <a:lnTo>
                  <a:pt x="0" y="430530"/>
                </a:lnTo>
                <a:lnTo>
                  <a:pt x="138430" y="304800"/>
                </a:lnTo>
                <a:lnTo>
                  <a:pt x="67310" y="132080"/>
                </a:lnTo>
                <a:lnTo>
                  <a:pt x="251460" y="162560"/>
                </a:lnTo>
                <a:close/>
              </a:path>
            </a:pathLst>
          </a:custGeom>
          <a:solidFill xmlns:a="http://schemas.openxmlformats.org/drawingml/2006/main">
            <a:srgbClr val="FAD02C"/>
          </a:solidFill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6" name="TextBox 6">
            <a:extLst xmlns:a="http://schemas.openxmlformats.org/drawingml/2006/main">
              <a:ext uri="{FF2B5EF4-FFF2-40B4-BE49-F238E27FC236}">
                <a16:creationId xmlns:a16="http://schemas.microsoft.com/office/drawing/2014/main" id="{34A7BB91-785F-40BA-958F-BCB977D1F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267316" y="6175322"/>
            <a:ext cx="472122" cy="5126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algn="ctr">
              <a:lnSpc>
                <a:spcPts val="2940"/>
              </a:lnSpc>
              <a:buNone/>
            </a:pPr>
          </a:p>
        </p:txBody>
      </p:sp>
      <p:sp>
        <p:nvSpPr>
          <p:cNvPr id="8" name="Freeform 8">
            <a:extLst xmlns:a="http://schemas.openxmlformats.org/drawingml/2006/main">
              <a:ext uri="{FF2B5EF4-FFF2-40B4-BE49-F238E27FC236}">
                <a16:creationId xmlns:a16="http://schemas.microsoft.com/office/drawing/2014/main" id="{8FEF822E-ADA5-47D3-8ADF-5301D5733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105025" y="7829550"/>
            <a:ext cx="796706" cy="776050"/>
          </a:xfrm>
          <a:custGeom xmlns:a="http://schemas.openxmlformats.org/drawingml/2006/main">
            <a:rect l="l" t="t" r="r" b="b"/>
            <a:pathLst>
              <a:path w="685800" h="668020">
                <a:moveTo>
                  <a:pt x="342900" y="0"/>
                </a:moveTo>
                <a:lnTo>
                  <a:pt x="434340" y="162560"/>
                </a:lnTo>
                <a:lnTo>
                  <a:pt x="618490" y="132080"/>
                </a:lnTo>
                <a:lnTo>
                  <a:pt x="547370" y="304800"/>
                </a:lnTo>
                <a:lnTo>
                  <a:pt x="685800" y="430530"/>
                </a:lnTo>
                <a:lnTo>
                  <a:pt x="506730" y="482600"/>
                </a:lnTo>
                <a:lnTo>
                  <a:pt x="495300" y="668020"/>
                </a:lnTo>
                <a:lnTo>
                  <a:pt x="342900" y="561340"/>
                </a:lnTo>
                <a:lnTo>
                  <a:pt x="190500" y="668020"/>
                </a:lnTo>
                <a:lnTo>
                  <a:pt x="179070" y="482600"/>
                </a:lnTo>
                <a:lnTo>
                  <a:pt x="0" y="430530"/>
                </a:lnTo>
                <a:lnTo>
                  <a:pt x="138430" y="304800"/>
                </a:lnTo>
                <a:lnTo>
                  <a:pt x="67310" y="132080"/>
                </a:lnTo>
                <a:lnTo>
                  <a:pt x="251460" y="162560"/>
                </a:lnTo>
                <a:close/>
              </a:path>
            </a:pathLst>
          </a:custGeom>
          <a:solidFill xmlns:a="http://schemas.openxmlformats.org/drawingml/2006/main">
            <a:srgbClr val="FAD02C"/>
          </a:solidFill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9" name="TextBox 9">
            <a:extLst xmlns:a="http://schemas.openxmlformats.org/drawingml/2006/main">
              <a:ext uri="{FF2B5EF4-FFF2-40B4-BE49-F238E27FC236}">
                <a16:creationId xmlns:a16="http://schemas.microsoft.com/office/drawing/2014/main" id="{1C68099F-FF1B-4ABD-9DCB-A31238606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267316" y="7966022"/>
            <a:ext cx="472122" cy="5126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algn="ctr">
              <a:lnSpc>
                <a:spcPts val="2940"/>
              </a:lnSpc>
              <a:buNone/>
            </a:pPr>
          </a:p>
        </p:txBody>
      </p:sp>
      <p:sp>
        <p:nvSpPr>
          <p:cNvPr id="11" name="Freeform 11">
            <a:extLst xmlns:a="http://schemas.openxmlformats.org/drawingml/2006/main">
              <a:ext uri="{FF2B5EF4-FFF2-40B4-BE49-F238E27FC236}">
                <a16:creationId xmlns:a16="http://schemas.microsoft.com/office/drawing/2014/main" id="{4478C2A0-8AE0-4CD2-ADA3-25F635208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105025" y="4248150"/>
            <a:ext cx="796706" cy="776050"/>
          </a:xfrm>
          <a:custGeom xmlns:a="http://schemas.openxmlformats.org/drawingml/2006/main">
            <a:rect l="l" t="t" r="r" b="b"/>
            <a:pathLst>
              <a:path w="685800" h="668020">
                <a:moveTo>
                  <a:pt x="342900" y="0"/>
                </a:moveTo>
                <a:lnTo>
                  <a:pt x="434340" y="162560"/>
                </a:lnTo>
                <a:lnTo>
                  <a:pt x="618490" y="132080"/>
                </a:lnTo>
                <a:lnTo>
                  <a:pt x="547370" y="304800"/>
                </a:lnTo>
                <a:lnTo>
                  <a:pt x="685800" y="430530"/>
                </a:lnTo>
                <a:lnTo>
                  <a:pt x="506730" y="482600"/>
                </a:lnTo>
                <a:lnTo>
                  <a:pt x="495300" y="668020"/>
                </a:lnTo>
                <a:lnTo>
                  <a:pt x="342900" y="561340"/>
                </a:lnTo>
                <a:lnTo>
                  <a:pt x="190500" y="668020"/>
                </a:lnTo>
                <a:lnTo>
                  <a:pt x="179070" y="482600"/>
                </a:lnTo>
                <a:lnTo>
                  <a:pt x="0" y="430530"/>
                </a:lnTo>
                <a:lnTo>
                  <a:pt x="138430" y="304800"/>
                </a:lnTo>
                <a:lnTo>
                  <a:pt x="67310" y="132080"/>
                </a:lnTo>
                <a:lnTo>
                  <a:pt x="251460" y="162560"/>
                </a:lnTo>
                <a:close/>
              </a:path>
            </a:pathLst>
          </a:custGeom>
          <a:solidFill xmlns:a="http://schemas.openxmlformats.org/drawingml/2006/main">
            <a:srgbClr val="FAD02C"/>
          </a:solidFill>
        </p:spPr>
        <p:txBody>
          <a:bodyPr xmlns:a="http://schemas.openxmlformats.org/drawingml/2006/main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/>
        </p:txBody>
      </p:sp>
      <p:sp>
        <p:nvSpPr>
          <p:cNvPr id="12" name="TextBox 12">
            <a:extLst xmlns:a="http://schemas.openxmlformats.org/drawingml/2006/main">
              <a:ext uri="{FF2B5EF4-FFF2-40B4-BE49-F238E27FC236}">
                <a16:creationId xmlns:a16="http://schemas.microsoft.com/office/drawing/2014/main" id="{57FA8B6F-2F4D-4EB0-AEA5-253649914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267316" y="4384622"/>
            <a:ext cx="472122" cy="51269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50800" tIns="50800" rIns="50800" bIns="50800" anchor="ctr"/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algn="ctr">
              <a:lnSpc>
                <a:spcPts val="2940"/>
              </a:lnSpc>
              <a:buNone/>
            </a:pPr>
          </a:p>
        </p:txBody>
      </p:sp>
      <p:sp>
        <p:nvSpPr>
          <p:cNvPr id="14" name="TextBox 14">
            <a:extLst xmlns:a="http://schemas.openxmlformats.org/drawingml/2006/main">
              <a:ext uri="{FF2B5EF4-FFF2-40B4-BE49-F238E27FC236}">
                <a16:creationId xmlns:a16="http://schemas.microsoft.com/office/drawing/2014/main" id="{85A15307-1E55-41F0-92F3-5DB364975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543300" y="8378238"/>
            <a:ext cx="5448300" cy="37325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marL="0" lvl="0" indent="0" algn="l">
              <a:lnSpc>
                <a:spcPts val="2939"/>
              </a:lnSpc>
              <a:buNone/>
              <a:defRPr>
                <a:latin typeface="DM Sans"/>
                <a:ea typeface="DM Sans"/>
                <a:cs typeface="DM Sans"/>
              </a:defRPr>
            </a:pPr>
            <a:r>
              <a:rPr sz="2099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A</a:t>
            </a:r>
            <a:r>
              <a:rPr sz="2099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lex Humberto Sánchez Ponce</a:t>
            </a:r>
          </a:p>
        </p:txBody>
      </p:sp>
      <p:sp>
        <p:nvSpPr>
          <p:cNvPr id="15" name="TextBox 15">
            <a:extLst xmlns:a="http://schemas.openxmlformats.org/drawingml/2006/main">
              <a:ext uri="{FF2B5EF4-FFF2-40B4-BE49-F238E27FC236}">
                <a16:creationId xmlns:a16="http://schemas.microsoft.com/office/drawing/2014/main" id="{3AF3D843-D903-438F-B0CA-5B379EEF1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543300" y="7793832"/>
            <a:ext cx="5448300" cy="46215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 Bold"/>
                <a:ea typeface="DM Sans Bold"/>
                <a:cs typeface="DM Sans Bold"/>
              </a:defRPr>
            </a:defPPr>
            <a:lvl1pPr>
              <a:defRPr>
                <a:latin typeface="DM Sans Bold"/>
                <a:ea typeface="DM Sans Bold"/>
                <a:cs typeface="DM Sans Bold"/>
              </a:defRPr>
            </a:lvl1pPr>
            <a:lvl2pPr>
              <a:defRPr>
                <a:latin typeface="DM Sans Bold"/>
                <a:ea typeface="DM Sans Bold"/>
                <a:cs typeface="DM Sans Bold"/>
              </a:defRPr>
            </a:lvl2pPr>
            <a:lvl3pPr>
              <a:defRPr>
                <a:latin typeface="DM Sans Bold"/>
                <a:ea typeface="DM Sans Bold"/>
                <a:cs typeface="DM Sans Bold"/>
              </a:defRPr>
            </a:lvl3pPr>
            <a:lvl4pPr>
              <a:defRPr>
                <a:latin typeface="DM Sans Bold"/>
                <a:ea typeface="DM Sans Bold"/>
                <a:cs typeface="DM Sans Bold"/>
              </a:defRPr>
            </a:lvl4pPr>
            <a:lvl5pPr>
              <a:defRPr>
                <a:latin typeface="DM Sans Bold"/>
                <a:ea typeface="DM Sans Bold"/>
                <a:cs typeface="DM Sans Bold"/>
              </a:defRPr>
            </a:lvl5pPr>
            <a:lvl6pPr>
              <a:defRPr>
                <a:latin typeface="DM Sans Bold"/>
                <a:ea typeface="DM Sans Bold"/>
                <a:cs typeface="DM Sans Bold"/>
              </a:defRPr>
            </a:lvl6pPr>
            <a:lvl7pPr>
              <a:defRPr>
                <a:latin typeface="DM Sans Bold"/>
                <a:ea typeface="DM Sans Bold"/>
                <a:cs typeface="DM Sans Bold"/>
              </a:defRPr>
            </a:lvl7pPr>
            <a:lvl8pPr>
              <a:defRPr>
                <a:latin typeface="DM Sans Bold"/>
                <a:ea typeface="DM Sans Bold"/>
                <a:cs typeface="DM Sans Bold"/>
              </a:defRPr>
            </a:lvl8pPr>
            <a:lvl9pPr>
              <a:defRPr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 marL="0" lvl="0" indent="0" algn="l">
              <a:lnSpc>
                <a:spcPts val="3639"/>
              </a:lnSpc>
              <a:buNone/>
              <a:defRPr>
                <a:latin typeface="DM Sans Bold"/>
                <a:ea typeface="DM Sans Bold"/>
                <a:cs typeface="DM Sans Bold"/>
              </a:defRPr>
            </a:pPr>
            <a:r>
              <a:rPr sz="2599" b="1">
                <a:solidFill>
                  <a:srgbClr val="F5F6F7"/>
                </a:solidFill>
                <a:latin typeface="DM Sans Bold"/>
                <a:ea typeface="DM Sans Bold"/>
                <a:cs typeface="DM Sans Bold"/>
              </a:rPr>
              <a:t>D</a:t>
            </a:r>
            <a:r>
              <a:rPr sz="2599" b="1">
                <a:solidFill>
                  <a:srgbClr val="F5F6F7"/>
                </a:solidFill>
                <a:latin typeface="DM Sans Bold"/>
                <a:ea typeface="DM Sans Bold"/>
                <a:cs typeface="DM Sans Bold"/>
              </a:rPr>
              <a:t>OCENTE</a:t>
            </a:r>
          </a:p>
        </p:txBody>
      </p:sp>
      <p:sp>
        <p:nvSpPr>
          <p:cNvPr id="17" name="TextBox 17">
            <a:extLst xmlns:a="http://schemas.openxmlformats.org/drawingml/2006/main">
              <a:ext uri="{FF2B5EF4-FFF2-40B4-BE49-F238E27FC236}">
                <a16:creationId xmlns:a16="http://schemas.microsoft.com/office/drawing/2014/main" id="{2C9D776F-1A2D-4040-A89E-600BAED4C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543300" y="6587538"/>
            <a:ext cx="5448300" cy="37325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marL="0" lvl="0" indent="0" algn="l">
              <a:lnSpc>
                <a:spcPts val="2939"/>
              </a:lnSpc>
              <a:buNone/>
              <a:defRPr>
                <a:latin typeface="DM Sans"/>
                <a:ea typeface="DM Sans"/>
                <a:cs typeface="DM Sans"/>
              </a:defRPr>
            </a:pPr>
            <a:r>
              <a:rPr sz="2099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NRC </a:t>
            </a:r>
            <a:r>
              <a:rPr sz="2099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9100 · 7.º ciclo</a:t>
            </a:r>
          </a:p>
        </p:txBody>
      </p:sp>
      <p:sp>
        <p:nvSpPr>
          <p:cNvPr id="18" name="TextBox 18">
            <a:extLst xmlns:a="http://schemas.openxmlformats.org/drawingml/2006/main">
              <a:ext uri="{FF2B5EF4-FFF2-40B4-BE49-F238E27FC236}">
                <a16:creationId xmlns:a16="http://schemas.microsoft.com/office/drawing/2014/main" id="{31C25756-39B0-47FC-9217-9F4C53661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543300" y="6003132"/>
            <a:ext cx="5448300" cy="46215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 Bold"/>
                <a:ea typeface="DM Sans Bold"/>
                <a:cs typeface="DM Sans Bold"/>
              </a:defRPr>
            </a:defPPr>
            <a:lvl1pPr>
              <a:defRPr>
                <a:latin typeface="DM Sans Bold"/>
                <a:ea typeface="DM Sans Bold"/>
                <a:cs typeface="DM Sans Bold"/>
              </a:defRPr>
            </a:lvl1pPr>
            <a:lvl2pPr>
              <a:defRPr>
                <a:latin typeface="DM Sans Bold"/>
                <a:ea typeface="DM Sans Bold"/>
                <a:cs typeface="DM Sans Bold"/>
              </a:defRPr>
            </a:lvl2pPr>
            <a:lvl3pPr>
              <a:defRPr>
                <a:latin typeface="DM Sans Bold"/>
                <a:ea typeface="DM Sans Bold"/>
                <a:cs typeface="DM Sans Bold"/>
              </a:defRPr>
            </a:lvl3pPr>
            <a:lvl4pPr>
              <a:defRPr>
                <a:latin typeface="DM Sans Bold"/>
                <a:ea typeface="DM Sans Bold"/>
                <a:cs typeface="DM Sans Bold"/>
              </a:defRPr>
            </a:lvl4pPr>
            <a:lvl5pPr>
              <a:defRPr>
                <a:latin typeface="DM Sans Bold"/>
                <a:ea typeface="DM Sans Bold"/>
                <a:cs typeface="DM Sans Bold"/>
              </a:defRPr>
            </a:lvl5pPr>
            <a:lvl6pPr>
              <a:defRPr>
                <a:latin typeface="DM Sans Bold"/>
                <a:ea typeface="DM Sans Bold"/>
                <a:cs typeface="DM Sans Bold"/>
              </a:defRPr>
            </a:lvl6pPr>
            <a:lvl7pPr>
              <a:defRPr>
                <a:latin typeface="DM Sans Bold"/>
                <a:ea typeface="DM Sans Bold"/>
                <a:cs typeface="DM Sans Bold"/>
              </a:defRPr>
            </a:lvl7pPr>
            <a:lvl8pPr>
              <a:defRPr>
                <a:latin typeface="DM Sans Bold"/>
                <a:ea typeface="DM Sans Bold"/>
                <a:cs typeface="DM Sans Bold"/>
              </a:defRPr>
            </a:lvl8pPr>
            <a:lvl9pPr>
              <a:defRPr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 marL="0" lvl="0" indent="0" algn="l">
              <a:lnSpc>
                <a:spcPts val="3639"/>
              </a:lnSpc>
              <a:buNone/>
              <a:defRPr>
                <a:latin typeface="DM Sans Bold"/>
                <a:ea typeface="DM Sans Bold"/>
                <a:cs typeface="DM Sans Bold"/>
              </a:defRPr>
            </a:pPr>
            <a:r>
              <a:rPr sz="2599" b="1">
                <a:solidFill>
                  <a:srgbClr val="F5F6F7"/>
                </a:solidFill>
                <a:latin typeface="DM Sans Bold"/>
                <a:ea typeface="DM Sans Bold"/>
                <a:cs typeface="DM Sans Bold"/>
              </a:rPr>
              <a:t>CURSO</a:t>
            </a:r>
          </a:p>
        </p:txBody>
      </p:sp>
      <p:sp>
        <p:nvSpPr>
          <p:cNvPr id="20" name="TextBox 20">
            <a:extLst xmlns:a="http://schemas.openxmlformats.org/drawingml/2006/main">
              <a:ext uri="{FF2B5EF4-FFF2-40B4-BE49-F238E27FC236}">
                <a16:creationId xmlns:a16="http://schemas.microsoft.com/office/drawing/2014/main" id="{330109B0-E4A1-424A-B588-9333CE583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543300" y="5255564"/>
            <a:ext cx="5448300" cy="7465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"/>
                <a:ea typeface="DM Sans"/>
                <a:cs typeface="DM Sans"/>
              </a:defRPr>
            </a:defPPr>
            <a:lvl1pPr>
              <a:defRPr>
                <a:latin typeface="DM Sans"/>
                <a:ea typeface="DM Sans"/>
                <a:cs typeface="DM Sans"/>
              </a:defRPr>
            </a:lvl1pPr>
            <a:lvl2pPr>
              <a:defRPr>
                <a:latin typeface="DM Sans"/>
                <a:ea typeface="DM Sans"/>
                <a:cs typeface="DM Sans"/>
              </a:defRPr>
            </a:lvl2pPr>
            <a:lvl3pPr>
              <a:defRPr>
                <a:latin typeface="DM Sans"/>
                <a:ea typeface="DM Sans"/>
                <a:cs typeface="DM Sans"/>
              </a:defRPr>
            </a:lvl3pPr>
            <a:lvl4pPr>
              <a:defRPr>
                <a:latin typeface="DM Sans"/>
                <a:ea typeface="DM Sans"/>
                <a:cs typeface="DM Sans"/>
              </a:defRPr>
            </a:lvl4pPr>
            <a:lvl5pPr>
              <a:defRPr>
                <a:latin typeface="DM Sans"/>
                <a:ea typeface="DM Sans"/>
                <a:cs typeface="DM Sans"/>
              </a:defRPr>
            </a:lvl5pPr>
            <a:lvl6pPr>
              <a:defRPr>
                <a:latin typeface="DM Sans"/>
                <a:ea typeface="DM Sans"/>
                <a:cs typeface="DM Sans"/>
              </a:defRPr>
            </a:lvl6pPr>
            <a:lvl7pPr>
              <a:defRPr>
                <a:latin typeface="DM Sans"/>
                <a:ea typeface="DM Sans"/>
                <a:cs typeface="DM Sans"/>
              </a:defRPr>
            </a:lvl7pPr>
            <a:lvl8pPr>
              <a:defRPr>
                <a:latin typeface="DM Sans"/>
                <a:ea typeface="DM Sans"/>
                <a:cs typeface="DM Sans"/>
              </a:defRPr>
            </a:lvl8pPr>
            <a:lvl9pPr>
              <a:defRPr>
                <a:latin typeface="DM Sans"/>
                <a:ea typeface="DM Sans"/>
                <a:cs typeface="DM Sans"/>
              </a:defRPr>
            </a:lvl9pPr>
          </a:lstStyle>
          <a:p xmlns:a="http://schemas.openxmlformats.org/drawingml/2006/main">
            <a:pPr marL="0" lvl="0" indent="0" algn="l">
              <a:lnSpc>
                <a:spcPts val="2939"/>
              </a:lnSpc>
              <a:buNone/>
              <a:defRPr>
                <a:latin typeface="DM Sans"/>
                <a:ea typeface="DM Sans"/>
                <a:cs typeface="DM Sans"/>
              </a:defRPr>
            </a:pPr>
            <a:r>
              <a:rPr sz="2099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Dis</a:t>
            </a:r>
            <a:r>
              <a:rPr sz="2099">
                <a:solidFill>
                  <a:srgbClr val="F5F6F7"/>
                </a:solidFill>
                <a:latin typeface="DM Sans"/>
                <a:ea typeface="DM Sans"/>
                <a:cs typeface="DM Sans"/>
              </a:rPr>
              <a:t>eño de Experimentos de Ingeniería de Software</a:t>
            </a:r>
          </a:p>
        </p:txBody>
      </p:sp>
      <p:sp>
        <p:nvSpPr>
          <p:cNvPr id="21" name="TextBox 21">
            <a:extLst xmlns:a="http://schemas.openxmlformats.org/drawingml/2006/main">
              <a:ext uri="{FF2B5EF4-FFF2-40B4-BE49-F238E27FC236}">
                <a16:creationId xmlns:a16="http://schemas.microsoft.com/office/drawing/2014/main" id="{B072D0AC-E888-4BD7-89BB-6EE1EB4B8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3543300" y="4212432"/>
            <a:ext cx="5448300" cy="924306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DM Sans Bold"/>
                <a:ea typeface="DM Sans Bold"/>
                <a:cs typeface="DM Sans Bold"/>
              </a:defRPr>
            </a:defPPr>
            <a:lvl1pPr>
              <a:defRPr>
                <a:latin typeface="DM Sans Bold"/>
                <a:ea typeface="DM Sans Bold"/>
                <a:cs typeface="DM Sans Bold"/>
              </a:defRPr>
            </a:lvl1pPr>
            <a:lvl2pPr>
              <a:defRPr>
                <a:latin typeface="DM Sans Bold"/>
                <a:ea typeface="DM Sans Bold"/>
                <a:cs typeface="DM Sans Bold"/>
              </a:defRPr>
            </a:lvl2pPr>
            <a:lvl3pPr>
              <a:defRPr>
                <a:latin typeface="DM Sans Bold"/>
                <a:ea typeface="DM Sans Bold"/>
                <a:cs typeface="DM Sans Bold"/>
              </a:defRPr>
            </a:lvl3pPr>
            <a:lvl4pPr>
              <a:defRPr>
                <a:latin typeface="DM Sans Bold"/>
                <a:ea typeface="DM Sans Bold"/>
                <a:cs typeface="DM Sans Bold"/>
              </a:defRPr>
            </a:lvl4pPr>
            <a:lvl5pPr>
              <a:defRPr>
                <a:latin typeface="DM Sans Bold"/>
                <a:ea typeface="DM Sans Bold"/>
                <a:cs typeface="DM Sans Bold"/>
              </a:defRPr>
            </a:lvl5pPr>
            <a:lvl6pPr>
              <a:defRPr>
                <a:latin typeface="DM Sans Bold"/>
                <a:ea typeface="DM Sans Bold"/>
                <a:cs typeface="DM Sans Bold"/>
              </a:defRPr>
            </a:lvl6pPr>
            <a:lvl7pPr>
              <a:defRPr>
                <a:latin typeface="DM Sans Bold"/>
                <a:ea typeface="DM Sans Bold"/>
                <a:cs typeface="DM Sans Bold"/>
              </a:defRPr>
            </a:lvl7pPr>
            <a:lvl8pPr>
              <a:defRPr>
                <a:latin typeface="DM Sans Bold"/>
                <a:ea typeface="DM Sans Bold"/>
                <a:cs typeface="DM Sans Bold"/>
              </a:defRPr>
            </a:lvl8pPr>
            <a:lvl9pPr>
              <a:defRPr>
                <a:latin typeface="DM Sans Bold"/>
                <a:ea typeface="DM Sans Bold"/>
                <a:cs typeface="DM Sans Bold"/>
              </a:defRPr>
            </a:lvl9pPr>
          </a:lstStyle>
          <a:p xmlns:a="http://schemas.openxmlformats.org/drawingml/2006/main">
            <a:pPr marL="0" lvl="0" indent="0" algn="l">
              <a:lnSpc>
                <a:spcPts val="3639"/>
              </a:lnSpc>
              <a:buNone/>
              <a:defRPr>
                <a:latin typeface="DM Sans Bold"/>
                <a:ea typeface="DM Sans Bold"/>
                <a:cs typeface="DM Sans Bold"/>
              </a:defRPr>
            </a:pPr>
            <a:r>
              <a:rPr sz="2599" b="1">
                <a:solidFill>
                  <a:srgbClr val="F5F6F7"/>
                </a:solidFill>
                <a:latin typeface="DM Sans Bold"/>
                <a:ea typeface="DM Sans Bold"/>
                <a:cs typeface="DM Sans Bold"/>
              </a:rPr>
              <a:t>U</a:t>
            </a:r>
            <a:r>
              <a:rPr sz="2599" b="1">
                <a:solidFill>
                  <a:srgbClr val="F5F6F7"/>
                </a:solidFill>
                <a:latin typeface="DM Sans Bold"/>
                <a:ea typeface="DM Sans Bold"/>
                <a:cs typeface="DM Sans Bold"/>
              </a:rPr>
              <a:t>NIVERSIDAD PERUANA DE CIENCIAS APLICADAS</a:t>
            </a:r>
          </a:p>
        </p:txBody>
      </p:sp>
      <p:sp>
        <p:nvSpPr>
          <p:cNvPr id="22" name="TextBox 22">
            <a:extLst xmlns:a="http://schemas.openxmlformats.org/drawingml/2006/main">
              <a:ext uri="{FF2B5EF4-FFF2-40B4-BE49-F238E27FC236}">
                <a16:creationId xmlns:a16="http://schemas.microsoft.com/office/drawing/2014/main" id="{3314087B-D2B3-425C-9773-324E01885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>
            <a:off x="666750" y="851535"/>
            <a:ext cx="9763125" cy="1219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spAutoFit/>
          </a:bodyPr>
          <a:lstStyle xmlns:a="http://schemas.openxmlformats.org/drawingml/2006/main">
            <a:defPPr>
              <a:defRPr>
                <a:latin typeface="Georgia Pro Light"/>
                <a:ea typeface="Georgia Pro Light"/>
                <a:cs typeface="Georgia Pro Light"/>
              </a:defRPr>
            </a:defPPr>
            <a:lvl1pPr>
              <a:defRPr>
                <a:latin typeface="Georgia Pro Light"/>
                <a:ea typeface="Georgia Pro Light"/>
                <a:cs typeface="Georgia Pro Light"/>
              </a:defRPr>
            </a:lvl1pPr>
            <a:lvl2pPr>
              <a:defRPr>
                <a:latin typeface="Georgia Pro Light"/>
                <a:ea typeface="Georgia Pro Light"/>
                <a:cs typeface="Georgia Pro Light"/>
              </a:defRPr>
            </a:lvl2pPr>
            <a:lvl3pPr>
              <a:defRPr>
                <a:latin typeface="Georgia Pro Light"/>
                <a:ea typeface="Georgia Pro Light"/>
                <a:cs typeface="Georgia Pro Light"/>
              </a:defRPr>
            </a:lvl3pPr>
            <a:lvl4pPr>
              <a:defRPr>
                <a:latin typeface="Georgia Pro Light"/>
                <a:ea typeface="Georgia Pro Light"/>
                <a:cs typeface="Georgia Pro Light"/>
              </a:defRPr>
            </a:lvl4pPr>
            <a:lvl5pPr>
              <a:defRPr>
                <a:latin typeface="Georgia Pro Light"/>
                <a:ea typeface="Georgia Pro Light"/>
                <a:cs typeface="Georgia Pro Light"/>
              </a:defRPr>
            </a:lvl5pPr>
            <a:lvl6pPr>
              <a:defRPr>
                <a:latin typeface="Georgia Pro Light"/>
                <a:ea typeface="Georgia Pro Light"/>
                <a:cs typeface="Georgia Pro Light"/>
              </a:defRPr>
            </a:lvl6pPr>
            <a:lvl7pPr>
              <a:defRPr>
                <a:latin typeface="Georgia Pro Light"/>
                <a:ea typeface="Georgia Pro Light"/>
                <a:cs typeface="Georgia Pro Light"/>
              </a:defRPr>
            </a:lvl7pPr>
            <a:lvl8pPr>
              <a:defRPr>
                <a:latin typeface="Georgia Pro Light"/>
                <a:ea typeface="Georgia Pro Light"/>
                <a:cs typeface="Georgia Pro Light"/>
              </a:defRPr>
            </a:lvl8pPr>
            <a:lvl9pPr>
              <a:defRPr>
                <a:latin typeface="Georgia Pro Light"/>
                <a:ea typeface="Georgia Pro Light"/>
                <a:cs typeface="Georgia Pro Light"/>
              </a:defRPr>
            </a:lvl9pPr>
          </a:lstStyle>
          <a:p xmlns:a="http://schemas.openxmlformats.org/drawingml/2006/main">
            <a:pPr marL="0" lvl="0" indent="0" algn="l">
              <a:lnSpc>
                <a:spcPts val="9600"/>
              </a:lnSpc>
              <a:spcBef>
                <a:spcPct val="0"/>
              </a:spcBef>
              <a:buNone/>
              <a:defRPr>
                <a:latin typeface="Georgia Pro Light"/>
                <a:ea typeface="Georgia Pro Light"/>
                <a:cs typeface="Georgia Pro Light"/>
              </a:defRPr>
            </a:pPr>
            <a:r>
              <a:rPr sz="9600" u="none">
                <a:solidFill>
                  <a:srgbClr val="F5F6F7"/>
                </a:solidFill>
                <a:latin typeface="Georgia Pro Light"/>
                <a:ea typeface="Georgia Pro Light"/>
                <a:cs typeface="Georgia Pro Light"/>
              </a:rPr>
              <a:t>Contacto</a:t>
            </a:r>
          </a:p>
        </p:txBody>
      </p:sp>
    </p:spTree>
    <p:extLst>
      <p:ext uri="{BB962C8B-B14F-4D97-AF65-F5344CB8AC3E}">
        <p14:creationId xmlns:p14="http://schemas.microsoft.com/office/powerpoint/2010/main" val="995441301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2026-10-21T07:54:29.7730000Z</dcterms:created>
  <dcterms:modified xsi:type="dcterms:W3CDTF">2026-10-21T07:54:29.7730000Z</dcterms:modified>
</coreProperties>
</file>