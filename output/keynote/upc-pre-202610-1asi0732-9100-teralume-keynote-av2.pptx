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e677076204c8d" /><Relationship Type="http://schemas.openxmlformats.org/officeDocument/2006/relationships/extended-properties" Target="/docProps/app.xml" Id="R0b0555f4cd494d48" /><Relationship Type="http://schemas.openxmlformats.org/officeDocument/2006/relationships/officeDocument" Target="/ppt/presentation.xml" Id="R162e3f6847f645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3012b8bdf4e02"/>
  </p:sldMasterIdLst>
  <p:notesMasterIdLst>
    <p:notesMasterId xmlns:r="http://schemas.openxmlformats.org/officeDocument/2006/relationships" r:id="Rae44d7580c214626"/>
  </p:notesMasterIdLst>
  <p:sldIdLst>
    <p:sldId xmlns:r="http://schemas.openxmlformats.org/officeDocument/2006/relationships" id="256" r:id="Reb24fbdc1f764a36"/>
    <p:sldId xmlns:r="http://schemas.openxmlformats.org/officeDocument/2006/relationships" id="257" r:id="Rdc3c5709935448e0"/>
    <p:sldId xmlns:r="http://schemas.openxmlformats.org/officeDocument/2006/relationships" id="258" r:id="Rcb32e0dd541b4e4b"/>
    <p:sldId xmlns:r="http://schemas.openxmlformats.org/officeDocument/2006/relationships" id="259" r:id="R2abec00d541b4e58"/>
    <p:sldId xmlns:r="http://schemas.openxmlformats.org/officeDocument/2006/relationships" id="260" r:id="R67df86445db54d49"/>
    <p:sldId xmlns:r="http://schemas.openxmlformats.org/officeDocument/2006/relationships" id="261" r:id="Reecadd37b4e3481b"/>
    <p:sldId xmlns:r="http://schemas.openxmlformats.org/officeDocument/2006/relationships" id="262" r:id="R4f741c15450b487e"/>
    <p:sldId xmlns:r="http://schemas.openxmlformats.org/officeDocument/2006/relationships" id="263" r:id="R4fc5e421e9264756"/>
    <p:sldId xmlns:r="http://schemas.openxmlformats.org/officeDocument/2006/relationships" id="264" r:id="R205b42c6eba94679"/>
    <p:sldId xmlns:r="http://schemas.openxmlformats.org/officeDocument/2006/relationships" id="265" r:id="R544d153cbee74cd3"/>
    <p:sldId xmlns:r="http://schemas.openxmlformats.org/officeDocument/2006/relationships" id="266" r:id="R02692a612101417c"/>
    <p:sldId xmlns:r="http://schemas.openxmlformats.org/officeDocument/2006/relationships" id="267" r:id="R4a66114019ae405e"/>
    <p:sldId xmlns:r="http://schemas.openxmlformats.org/officeDocument/2006/relationships" id="268" r:id="R43a2ab79b4a34dac"/>
    <p:sldId xmlns:r="http://schemas.openxmlformats.org/officeDocument/2006/relationships" id="269" r:id="R32b1871d5c2d49e8"/>
    <p:sldId xmlns:r="http://schemas.openxmlformats.org/officeDocument/2006/relationships" id="270" r:id="R09da4f5318544ff9"/>
    <p:sldId xmlns:r="http://schemas.openxmlformats.org/officeDocument/2006/relationships" id="271" r:id="Rd48c4b95342d45d8"/>
    <p:sldId xmlns:r="http://schemas.openxmlformats.org/officeDocument/2006/relationships" id="272" r:id="R82ad36ff7e144a1c"/>
    <p:sldId xmlns:r="http://schemas.openxmlformats.org/officeDocument/2006/relationships" id="273" r:id="R1c91e32e9ab04536"/>
    <p:sldId xmlns:r="http://schemas.openxmlformats.org/officeDocument/2006/relationships" id="274" r:id="Rdb960ba367714629"/>
    <p:sldId xmlns:r="http://schemas.openxmlformats.org/officeDocument/2006/relationships" id="275" r:id="R29636c305bcd41e5"/>
    <p:sldId xmlns:r="http://schemas.openxmlformats.org/officeDocument/2006/relationships" id="276" r:id="Rf1382b0fe3c24d8c"/>
    <p:sldId xmlns:r="http://schemas.openxmlformats.org/officeDocument/2006/relationships" id="277" r:id="R97a8cee167b044cb"/>
    <p:sldId xmlns:r="http://schemas.openxmlformats.org/officeDocument/2006/relationships" id="278" r:id="Rf670db68b52642b2"/>
    <p:sldId xmlns:r="http://schemas.openxmlformats.org/officeDocument/2006/relationships" id="279" r:id="R1fe4ebda12e54fa9"/>
    <p:sldId xmlns:r="http://schemas.openxmlformats.org/officeDocument/2006/relationships" id="280" r:id="Rfc25d0e6917b450e"/>
    <p:sldId xmlns:r="http://schemas.openxmlformats.org/officeDocument/2006/relationships" id="281" r:id="Rfa8be02eab474f04"/>
    <p:sldId xmlns:r="http://schemas.openxmlformats.org/officeDocument/2006/relationships" id="282" r:id="R7e453277b54a488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e2caf32c14f47" /><Relationship Type="http://schemas.openxmlformats.org/officeDocument/2006/relationships/slideMaster" Target="/ppt/slideMasters/slideMaster1.xml" Id="R10f3012b8bdf4e02" /><Relationship Type="http://schemas.openxmlformats.org/officeDocument/2006/relationships/notesMaster" Target="/ppt/notesMasters/notesMaster1.xml" Id="Rae44d7580c214626" /><Relationship Type="http://schemas.openxmlformats.org/officeDocument/2006/relationships/presProps" Target="/ppt/presProps.xml" Id="Rae486d9823fb4e81" /><Relationship Type="http://schemas.openxmlformats.org/officeDocument/2006/relationships/tableStyles" Target="/ppt/tableStyles.xml" Id="R85ab24ac67e940bb" /><Relationship Type="http://schemas.openxmlformats.org/officeDocument/2006/relationships/slide" Target="/ppt/slides/slide1.xml" Id="Reb24fbdc1f764a36" /><Relationship Type="http://schemas.openxmlformats.org/officeDocument/2006/relationships/slide" Target="/ppt/slides/slide2.xml" Id="Rdc3c5709935448e0" /><Relationship Type="http://schemas.openxmlformats.org/officeDocument/2006/relationships/slide" Target="/ppt/slides/slide3.xml" Id="Rcb32e0dd541b4e4b" /><Relationship Type="http://schemas.openxmlformats.org/officeDocument/2006/relationships/slide" Target="/ppt/slides/slide4.xml" Id="R2abec00d541b4e58" /><Relationship Type="http://schemas.openxmlformats.org/officeDocument/2006/relationships/slide" Target="/ppt/slides/slide5.xml" Id="R67df86445db54d49" /><Relationship Type="http://schemas.openxmlformats.org/officeDocument/2006/relationships/slide" Target="/ppt/slides/slide6.xml" Id="Reecadd37b4e3481b" /><Relationship Type="http://schemas.openxmlformats.org/officeDocument/2006/relationships/slide" Target="/ppt/slides/slide7.xml" Id="R4f741c15450b487e" /><Relationship Type="http://schemas.openxmlformats.org/officeDocument/2006/relationships/slide" Target="/ppt/slides/slide8.xml" Id="R4fc5e421e9264756" /><Relationship Type="http://schemas.openxmlformats.org/officeDocument/2006/relationships/slide" Target="/ppt/slides/slide9.xml" Id="R205b42c6eba94679" /><Relationship Type="http://schemas.openxmlformats.org/officeDocument/2006/relationships/slide" Target="/ppt/slides/slide10.xml" Id="R544d153cbee74cd3" /><Relationship Type="http://schemas.openxmlformats.org/officeDocument/2006/relationships/slide" Target="/ppt/slides/slide11.xml" Id="R02692a612101417c" /><Relationship Type="http://schemas.openxmlformats.org/officeDocument/2006/relationships/slide" Target="/ppt/slides/slide12.xml" Id="R4a66114019ae405e" /><Relationship Type="http://schemas.openxmlformats.org/officeDocument/2006/relationships/slide" Target="/ppt/slides/slide13.xml" Id="R43a2ab79b4a34dac" /><Relationship Type="http://schemas.openxmlformats.org/officeDocument/2006/relationships/slide" Target="/ppt/slides/slide14.xml" Id="R32b1871d5c2d49e8" /><Relationship Type="http://schemas.openxmlformats.org/officeDocument/2006/relationships/slide" Target="/ppt/slides/slide15.xml" Id="R09da4f5318544ff9" /><Relationship Type="http://schemas.openxmlformats.org/officeDocument/2006/relationships/slide" Target="/ppt/slides/slide16.xml" Id="Rd48c4b95342d45d8" /><Relationship Type="http://schemas.openxmlformats.org/officeDocument/2006/relationships/slide" Target="/ppt/slides/slide17.xml" Id="R82ad36ff7e144a1c" /><Relationship Type="http://schemas.openxmlformats.org/officeDocument/2006/relationships/slide" Target="/ppt/slides/slide18.xml" Id="R1c91e32e9ab04536" /><Relationship Type="http://schemas.openxmlformats.org/officeDocument/2006/relationships/slide" Target="/ppt/slides/slide19.xml" Id="Rdb960ba367714629" /><Relationship Type="http://schemas.openxmlformats.org/officeDocument/2006/relationships/slide" Target="/ppt/slides/slide20.xml" Id="R29636c305bcd41e5" /><Relationship Type="http://schemas.openxmlformats.org/officeDocument/2006/relationships/slide" Target="/ppt/slides/slide21.xml" Id="Rf1382b0fe3c24d8c" /><Relationship Type="http://schemas.openxmlformats.org/officeDocument/2006/relationships/slide" Target="/ppt/slides/slide22.xml" Id="R97a8cee167b044cb" /><Relationship Type="http://schemas.openxmlformats.org/officeDocument/2006/relationships/slide" Target="/ppt/slides/slide23.xml" Id="Rf670db68b52642b2" /><Relationship Type="http://schemas.openxmlformats.org/officeDocument/2006/relationships/slide" Target="/ppt/slides/slide24.xml" Id="R1fe4ebda12e54fa9" /><Relationship Type="http://schemas.openxmlformats.org/officeDocument/2006/relationships/slide" Target="/ppt/slides/slide25.xml" Id="Rfc25d0e6917b450e" /><Relationship Type="http://schemas.openxmlformats.org/officeDocument/2006/relationships/slide" Target="/ppt/slides/slide26.xml" Id="Rfa8be02eab474f04" /><Relationship Type="http://schemas.openxmlformats.org/officeDocument/2006/relationships/slide" Target="/ppt/slides/slide27.xml" Id="R7e453277b54a48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9a249bcef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9d4a5783df4867" /><Relationship Type="http://schemas.openxmlformats.org/officeDocument/2006/relationships/notesMaster" Target="/ppt/notesMasters/notesMaster1.xml" Id="R0d8812f5e0fb4d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cc89ed8cea4045" /><Relationship Type="http://schemas.openxmlformats.org/officeDocument/2006/relationships/notesMaster" Target="/ppt/notesMasters/notesMaster1.xml" Id="Rda71192fad6e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5f31f6d1ae4c58" /><Relationship Type="http://schemas.openxmlformats.org/officeDocument/2006/relationships/notesMaster" Target="/ppt/notesMasters/notesMaster1.xml" Id="Rb7a9bd81e82b4b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e101bcce694094" /><Relationship Type="http://schemas.openxmlformats.org/officeDocument/2006/relationships/notesMaster" Target="/ppt/notesMasters/notesMaster1.xml" Id="Rf644cf52b3ad46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292dce1e9a4886" /><Relationship Type="http://schemas.openxmlformats.org/officeDocument/2006/relationships/notesMaster" Target="/ppt/notesMasters/notesMaster1.xml" Id="R853eec744a7e44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bf6090fac84eb9" /><Relationship Type="http://schemas.openxmlformats.org/officeDocument/2006/relationships/notesMaster" Target="/ppt/notesMasters/notesMaster1.xml" Id="R527968ffe34140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aa86b5f9ce4132" /><Relationship Type="http://schemas.openxmlformats.org/officeDocument/2006/relationships/notesMaster" Target="/ppt/notesMasters/notesMaster1.xml" Id="R2e5f3f914e8844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839ff103be47a3" /><Relationship Type="http://schemas.openxmlformats.org/officeDocument/2006/relationships/notesMaster" Target="/ppt/notesMasters/notesMaster1.xml" Id="R3fd252f23e474d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40b3621be455e" /><Relationship Type="http://schemas.openxmlformats.org/officeDocument/2006/relationships/notesMaster" Target="/ppt/notesMasters/notesMaster1.xml" Id="Rfabf7f3103cf45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37658e2b3b46f8" /><Relationship Type="http://schemas.openxmlformats.org/officeDocument/2006/relationships/notesMaster" Target="/ppt/notesMasters/notesMaster1.xml" Id="R71066aeabcae4f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47b1081c994dcf" /><Relationship Type="http://schemas.openxmlformats.org/officeDocument/2006/relationships/notesMaster" Target="/ppt/notesMasters/notesMaster1.xml" Id="Rcb9094f312cc47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144c201d1e743b7" /><Relationship Type="http://schemas.openxmlformats.org/officeDocument/2006/relationships/notesMaster" Target="/ppt/notesMasters/notesMaster1.xml" Id="R74c50e80149e48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8c62226da84d62" /><Relationship Type="http://schemas.openxmlformats.org/officeDocument/2006/relationships/notesMaster" Target="/ppt/notesMasters/notesMaster1.xml" Id="Rb8363a93af514a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74b42489ba4371" /><Relationship Type="http://schemas.openxmlformats.org/officeDocument/2006/relationships/notesMaster" Target="/ppt/notesMasters/notesMaster1.xml" Id="Reb6a4da484774a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35361f350f49dd" /><Relationship Type="http://schemas.openxmlformats.org/officeDocument/2006/relationships/notesMaster" Target="/ppt/notesMasters/notesMaster1.xml" Id="Rf5cf2125d2d14e0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569fddfb0e46b0" /><Relationship Type="http://schemas.openxmlformats.org/officeDocument/2006/relationships/notesMaster" Target="/ppt/notesMasters/notesMaster1.xml" Id="Ra4b529ca32764c4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f90ef4d0e345e7" /><Relationship Type="http://schemas.openxmlformats.org/officeDocument/2006/relationships/notesMaster" Target="/ppt/notesMasters/notesMaster1.xml" Id="R692d9a8f8ff84f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b3361b9b47f4cfc" /><Relationship Type="http://schemas.openxmlformats.org/officeDocument/2006/relationships/notesMaster" Target="/ppt/notesMasters/notesMaster1.xml" Id="Rba44e14b84d84e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ca3a1be4fa1450b" /><Relationship Type="http://schemas.openxmlformats.org/officeDocument/2006/relationships/notesMaster" Target="/ppt/notesMasters/notesMaster1.xml" Id="R1f8358e9a9a049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45b0719d6554923" /><Relationship Type="http://schemas.openxmlformats.org/officeDocument/2006/relationships/notesMaster" Target="/ppt/notesMasters/notesMaster1.xml" Id="R100b79b6080f49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1303c3f3a104c60" /><Relationship Type="http://schemas.openxmlformats.org/officeDocument/2006/relationships/notesMaster" Target="/ppt/notesMasters/notesMaster1.xml" Id="Rd5a371f5b4154e6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3b5d0428b84758" /><Relationship Type="http://schemas.openxmlformats.org/officeDocument/2006/relationships/notesMaster" Target="/ppt/notesMasters/notesMaster1.xml" Id="Ra021babde0f546f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78c02a2a831479d" /><Relationship Type="http://schemas.openxmlformats.org/officeDocument/2006/relationships/notesMaster" Target="/ppt/notesMasters/notesMaster1.xml" Id="R0b2cbdce0bb641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e9fcb9ceea14696" /><Relationship Type="http://schemas.openxmlformats.org/officeDocument/2006/relationships/notesMaster" Target="/ppt/notesMasters/notesMaster1.xml" Id="R836d3059e3554af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a706c29332e4427" /><Relationship Type="http://schemas.openxmlformats.org/officeDocument/2006/relationships/notesMaster" Target="/ppt/notesMasters/notesMaster1.xml" Id="R1552df41f8104a7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f7e60934fc14d3a" /><Relationship Type="http://schemas.openxmlformats.org/officeDocument/2006/relationships/notesMaster" Target="/ppt/notesMasters/notesMaster1.xml" Id="R763c2dc9b1c044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5e5338976bf433e" /><Relationship Type="http://schemas.openxmlformats.org/officeDocument/2006/relationships/notesMaster" Target="/ppt/notesMasters/notesMaster1.xml" Id="R1098b4c9c08a4b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EnergyCore</a:t>
            </a:r>
          </a:p>
          <a:p xmlns:a="http://schemas.openxmlformats.org/drawingml/2006/main">
            <a:r>
              <a:t>Monitoreo Inteligente</a:t>
            </a:r>
          </a:p>
          <a:p xmlns:a="http://schemas.openxmlformats.org/drawingml/2006/main">
            <a:r>
              <a:t>Automatización del Consumo Energético</a:t>
            </a:r>
          </a:p>
          <a:p xmlns:a="http://schemas.openxmlformats.org/drawingml/2006/main">
            <a:r>
              <a:t>Equipo Teralume · NRC 9100 · AV2</a:t>
            </a:r>
          </a:p>
          <a:p xmlns:a="http://schemas.openxmlformats.org/drawingml/2006/main">
            <a:r>
              <a:t>PRESENTADO POR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AVANCE 2 · EQUIPO TERALUME</a:t>
            </a:r>
          </a:p>
          <a:p xmlns:a="http://schemas.openxmlformats.org/drawingml/2006/main">
            <a:r>
              <a:t>Integrantes del equipo</a:t>
            </a:r>
          </a:p>
          <a:p xmlns:a="http://schemas.openxmlformats.org/drawingml/2006/main">
            <a:r>
              <a:t>Jean Franck</a:t>
            </a:r>
          </a:p>
          <a:p xmlns:a="http://schemas.openxmlformats.org/drawingml/2006/main">
            <a:r>
              <a:t>Loa Rojas</a:t>
            </a:r>
          </a:p>
          <a:p xmlns:a="http://schemas.openxmlformats.org/drawingml/2006/main">
            <a:r>
              <a:t>U20241E406</a:t>
            </a:r>
          </a:p>
          <a:p xmlns:a="http://schemas.openxmlformats.org/drawingml/2006/main">
            <a:r>
              <a:t>Ingeniería de Software</a:t>
            </a:r>
          </a:p>
          <a:p xmlns:a="http://schemas.openxmlformats.org/drawingml/2006/main">
            <a:r>
              <a:t>INTEGRANTE</a:t>
            </a:r>
          </a:p>
          <a:p xmlns:a="http://schemas.openxmlformats.org/drawingml/2006/main">
            <a:r>
              <a:t>Jairo Mathias</a:t>
            </a:r>
          </a:p>
          <a:p xmlns:a="http://schemas.openxmlformats.org/drawingml/2006/main">
            <a:r>
              <a:t>Santiago Atanacio</a:t>
            </a:r>
          </a:p>
          <a:p xmlns:a="http://schemas.openxmlformats.org/drawingml/2006/main">
            <a:r>
              <a:t>U202418755</a:t>
            </a:r>
          </a:p>
          <a:p xmlns:a="http://schemas.openxmlformats.org/drawingml/2006/main">
            <a:r>
              <a:t>Ingeniería de Software</a:t>
            </a:r>
          </a:p>
          <a:p xmlns:a="http://schemas.openxmlformats.org/drawingml/2006/main">
            <a:r>
              <a:t>INTEGRANTE</a:t>
            </a:r>
          </a:p>
          <a:p xmlns:a="http://schemas.openxmlformats.org/drawingml/2006/main">
            <a:r>
              <a:t>FR</a:t>
            </a:r>
          </a:p>
          <a:p xmlns:a="http://schemas.openxmlformats.org/drawingml/2006/main">
            <a:r>
              <a:t>Fabricio Jose</a:t>
            </a:r>
          </a:p>
          <a:p xmlns:a="http://schemas.openxmlformats.org/drawingml/2006/main">
            <a:r>
              <a:t>Rivera Rupay</a:t>
            </a:r>
          </a:p>
          <a:p xmlns:a="http://schemas.openxmlformats.org/drawingml/2006/main">
            <a:r>
              <a:t>U202423883</a:t>
            </a:r>
          </a:p>
          <a:p xmlns:a="http://schemas.openxmlformats.org/drawingml/2006/main">
            <a:r>
              <a:t>Ingeniería de Software</a:t>
            </a:r>
          </a:p>
          <a:p xmlns:a="http://schemas.openxmlformats.org/drawingml/2006/main">
            <a:r>
              <a:t>INTEGRANTE</a:t>
            </a:r>
          </a:p>
          <a:p xmlns:a="http://schemas.openxmlformats.org/drawingml/2006/main">
            <a:r>
              <a:t>RZ</a:t>
            </a:r>
          </a:p>
          <a:p xmlns:a="http://schemas.openxmlformats.org/drawingml/2006/main">
            <a:r>
              <a:t>Renzo Zamir</a:t>
            </a:r>
          </a:p>
          <a:p xmlns:a="http://schemas.openxmlformats.org/drawingml/2006/main">
            <a:r>
              <a:t>Revilla Quispe</a:t>
            </a:r>
          </a:p>
          <a:p xmlns:a="http://schemas.openxmlformats.org/drawingml/2006/main">
            <a:r>
              <a:t>U201717085</a:t>
            </a:r>
          </a:p>
          <a:p xmlns:a="http://schemas.openxmlformats.org/drawingml/2006/main">
            <a:r>
              <a:t>Ingeniería de Software</a:t>
            </a:r>
          </a:p>
          <a:p xmlns:a="http://schemas.openxmlformats.org/drawingml/2006/main">
            <a:r>
              <a:t>INTEGRANTE</a:t>
            </a:r>
          </a:p>
          <a:p xmlns:a="http://schemas.openxmlformats.org/drawingml/2006/main">
            <a:r>
              <a:t>Brayan Benjamin</a:t>
            </a:r>
          </a:p>
          <a:p xmlns:a="http://schemas.openxmlformats.org/drawingml/2006/main">
            <a:r>
              <a:t>Huerta Cardenas</a:t>
            </a:r>
          </a:p>
          <a:p xmlns:a="http://schemas.openxmlformats.org/drawingml/2006/main">
            <a:r>
              <a:t>U20241E550</a:t>
            </a:r>
          </a:p>
          <a:p xmlns:a="http://schemas.openxmlformats.org/drawingml/2006/main">
            <a:r>
              <a:t>Ingeniería de Software</a:t>
            </a:r>
          </a:p>
          <a:p xmlns:a="http://schemas.openxmlformats.org/drawingml/2006/main">
            <a:r>
              <a:t>INTEGRANTE</a:t>
            </a:r>
          </a:p>
          <a:p xmlns:a="http://schemas.openxmlformats.org/drawingml/2006/main">
            <a:r>
              <a:t>Fotografías originales: assets/team/.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Enunciado.pdf, pp. 42–44. La estructura detallada de AV2 termina en 8.3.2; se aplica ese límite ante la discrepancia con los objetivos generales.</a:t>
            </a:r>
          </a:p>
          <a:p xmlns:a="http://schemas.openxmlformats.org/drawingml/2006/main">
            <a:r>
              <a:t>Alcance AV2: el contenido experimental termina en 8.3.2. No se muestran resultados de experimentos ni validaciones no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Alcance de Avance 2</a:t>
            </a:r>
          </a:p>
          <a:p xmlns:a="http://schemas.openxmlformats.org/drawingml/2006/main">
            <a:r>
              <a:t>VERIFICACIÓN Y DEVOPS</a:t>
            </a:r>
          </a:p>
          <a:p xmlns:a="http://schemas.openxmlformats.org/drawingml/2006/main">
            <a:r>
              <a:t>Pruebas, revisión estática, auditorías UX y monitoreo; la evidencia técnica conserva su procedencia.</a:t>
            </a:r>
          </a:p>
          <a:p xmlns:a="http://schemas.openxmlformats.org/drawingml/2006/main">
            <a:r>
              <a:t>PLANIFICACIÓN EXPERIMENTAL</a:t>
            </a:r>
          </a:p>
          <a:p xmlns:a="http://schemas.openxmlformats.org/drawingml/2006/main">
            <a:r>
              <a:t>Preguntas, hipótesis, diseño de medición y backlog To-Be hasta 8.3.2.</a:t>
            </a:r>
          </a:p>
          <a:p xmlns:a="http://schemas.openxmlformats.org/drawingml/2006/main">
            <a:r>
              <a:t>LÍMITE DE ESTA PRESENTACIÓN</a:t>
            </a:r>
          </a:p>
          <a:p xmlns:a="http://schemas.openxmlformats.org/drawingml/2006/main">
            <a:r>
              <a:t>No incluye ejecución To-Be, análisis de resultados, shareback ni pre-launch de TB2.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Problema</a:t>
            </a:r>
          </a:p>
          <a:p xmlns:a="http://schemas.openxmlformats.org/drawingml/2006/main">
            <a:r>
              <a:t>El consumo energético poco visible lleva a decisiones reactivas y una gestión ineficiente. Los dispositivos dispersos complican la supervisión y dificultan la optimización del uso de la energía.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Oportunidad</a:t>
            </a:r>
          </a:p>
          <a:p xmlns:a="http://schemas.openxmlformats.org/drawingml/2006/main">
            <a:r>
              <a:t>La oportunidad radica en transformar las lecturas energéticas en información valiosa que permita a los usuarios tomar decisiones informadas y proactivas sobre su consumo.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Propuesta de Valor</a:t>
            </a:r>
          </a:p>
          <a:p xmlns:a="http://schemas.openxmlformats.org/drawingml/2006/main">
            <a:r>
              <a:t>La propuesta de valor de EnergyCore se centra en centralizar espacios y dispositivos para visualizar el consumo energético y automatizar decisiones, mejorando así la eficiencia en el uso de energía.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Público Objetivo</a:t>
            </a:r>
          </a:p>
          <a:p xmlns:a="http://schemas.openxmlformats.org/drawingml/2006/main">
            <a:r>
              <a:t>Energía eficiente</a:t>
            </a:r>
          </a:p>
          <a:p xmlns:a="http://schemas.openxmlformats.org/drawingml/2006/main">
            <a:r>
              <a:t>HOGARES MODERNOS</a:t>
            </a:r>
          </a:p>
          <a:p xmlns:a="http://schemas.openxmlformats.org/drawingml/2006/main">
            <a:r>
              <a:t>Ahorro energético</a:t>
            </a:r>
          </a:p>
          <a:p xmlns:a="http://schemas.openxmlformats.org/drawingml/2006/main">
            <a:r>
              <a:t>PEQUEÑOS NEGOCIOS</a:t>
            </a:r>
          </a:p>
          <a:p xmlns:a="http://schemas.openxmlformats.org/drawingml/2006/main">
            <a:r>
              <a:t>Gestión centralizada</a:t>
            </a:r>
          </a:p>
          <a:p xmlns:a="http://schemas.openxmlformats.org/drawingml/2006/main">
            <a:r>
              <a:t>ADMINISTRADORES DE ESPACIOS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dashboard proporcionará un resumen claro del consumo energético, mostrando indicadores claves y tendencias, lo que permitirá a los usuarios tomar decisiones informadas.</a:t>
            </a:r>
          </a:p>
          <a:p xmlns:a="http://schemas.openxmlformats.org/drawingml/2006/main">
            <a:r>
              <a:t>DASHBOARD</a:t>
            </a:r>
          </a:p>
          <a:p xmlns:a="http://schemas.openxmlformats.org/drawingml/2006/main">
            <a:r>
              <a:t>La API documentada ofrecerá un inventario detallado de todos los endpoints, facilitando la integración con sistemas externos y garantizando una comunicación eficiente entre componentes.</a:t>
            </a:r>
          </a:p>
          <a:p xmlns:a="http://schemas.openxmlformats.org/drawingml/2006/main">
            <a:r>
              <a:t>API DOCUMENTADA</a:t>
            </a:r>
          </a:p>
          <a:p xmlns:a="http://schemas.openxmlformats.org/drawingml/2006/main">
            <a:r>
              <a:t>La landing page se diseñará para captar la atención del usuario, enfatizando la importancia del consumo energético y facilitando el acceso inicial a la plataforma.</a:t>
            </a:r>
          </a:p>
          <a:p xmlns:a="http://schemas.openxmlformats.org/drawingml/2006/main">
            <a:r>
              <a:t>LANDING</a:t>
            </a:r>
          </a:p>
          <a:p xmlns:a="http://schemas.openxmlformats.org/drawingml/2006/main">
            <a:r>
              <a:t>El sistema de autenticación incluirá procesos de login, registro y recuperación de contraseñas, asegurando una experiencia de usuario fluida y segura desde el inicio.</a:t>
            </a:r>
          </a:p>
          <a:p xmlns:a="http://schemas.openxmlformats.org/drawingml/2006/main">
            <a:r>
              <a:t>AUTENTICACIÓN</a:t>
            </a:r>
          </a:p>
          <a:p xmlns:a="http://schemas.openxmlformats.org/drawingml/2006/main">
            <a:r>
              <a:t>Producto base para AV2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 sedes permiten organizar el consumo energético en diferentes ubicaciones físicas.</a:t>
            </a:r>
          </a:p>
          <a:p xmlns:a="http://schemas.openxmlformats.org/drawingml/2006/main">
            <a:r>
              <a:t>SEDES</a:t>
            </a:r>
          </a:p>
          <a:p xmlns:a="http://schemas.openxmlformats.org/drawingml/2006/main">
            <a:r>
              <a:t>Los grupos facilitan la gestión de dispositivos y usuarios bajo una misma categoría.</a:t>
            </a:r>
          </a:p>
          <a:p xmlns:a="http://schemas.openxmlformats.org/drawingml/2006/main">
            <a:r>
              <a:t>GRUPOS</a:t>
            </a:r>
          </a:p>
          <a:p xmlns:a="http://schemas.openxmlformats.org/drawingml/2006/main">
            <a:r>
              <a:t>Las alertas notifican a los usuarios sobre anomalías o cambios significativos en el consumo energético.</a:t>
            </a:r>
          </a:p>
          <a:p xmlns:a="http://schemas.openxmlformats.org/drawingml/2006/main">
            <a:r>
              <a:t>ALERTAS</a:t>
            </a:r>
          </a:p>
          <a:p xmlns:a="http://schemas.openxmlformats.org/drawingml/2006/main">
            <a:r>
              <a:t>Los ambientes son configuraciones específicas que optimizan el uso de energía en cada espacio.</a:t>
            </a:r>
          </a:p>
          <a:p xmlns:a="http://schemas.openxmlformats.org/drawingml/2006/main">
            <a:r>
              <a:t>AMBIENTES</a:t>
            </a:r>
          </a:p>
          <a:p xmlns:a="http://schemas.openxmlformats.org/drawingml/2006/main">
            <a:r>
              <a:t>Los dispositivos se integran para monitorear y controlar el consumo energético en tiempo real.</a:t>
            </a:r>
          </a:p>
          <a:p xmlns:a="http://schemas.openxmlformats.org/drawingml/2006/main">
            <a:r>
              <a:t>DISPOSITIVOS</a:t>
            </a:r>
          </a:p>
          <a:p xmlns:a="http://schemas.openxmlformats.org/drawingml/2006/main">
            <a:r>
              <a:t>Módulos de EnergyCore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REQUISITOS · LÍNEA BASE ACUMULATIVA</a:t>
            </a:r>
          </a:p>
          <a:p xmlns:a="http://schemas.openxmlformats.org/drawingml/2006/main">
            <a:r>
              <a:t>Product Backlog refinado</a:t>
            </a:r>
          </a:p>
          <a:p xmlns:a="http://schemas.openxmlformats.org/drawingml/2006/main">
            <a:r>
              <a:t>Historias divididas por resultado verificable · máximo 5 Story Points</a:t>
            </a:r>
          </a:p>
          <a:p xmlns:a="http://schemas.openxmlformats.org/drawingml/2006/main">
            <a:r>
              <a:t>IDENTIDAD Y ESPACIOS</a:t>
            </a:r>
          </a:p>
          <a:p xmlns:a="http://schemas.openxmlformats.org/drawingml/2006/main">
            <a:r>
              <a:t>US-02 · Registro/login  5</a:t>
            </a:r>
          </a:p>
          <a:p xmlns:a="http://schemas.openxmlformats.org/drawingml/2006/main">
            <a:r>
              <a:t>US-03 · Recuperación  3</a:t>
            </a:r>
          </a:p>
          <a:p xmlns:a="http://schemas.openxmlformats.org/drawingml/2006/main">
            <a:r>
              <a:t>US-04A · Sedes  5</a:t>
            </a:r>
          </a:p>
          <a:p xmlns:a="http://schemas.openxmlformats.org/drawingml/2006/main">
            <a:r>
              <a:t>US-04B · Habitaciones  3</a:t>
            </a:r>
          </a:p>
          <a:p xmlns:a="http://schemas.openxmlformats.org/drawingml/2006/main">
            <a:r>
              <a:t>CONTROL Y ENERGÍA</a:t>
            </a:r>
          </a:p>
          <a:p xmlns:a="http://schemas.openxmlformats.org/drawingml/2006/main">
            <a:r>
              <a:t>US-05 · Vinculación  5</a:t>
            </a:r>
          </a:p>
          <a:p xmlns:a="http://schemas.openxmlformats.org/drawingml/2006/main">
            <a:r>
              <a:t>US-06 · Control remoto  5</a:t>
            </a:r>
          </a:p>
          <a:p xmlns:a="http://schemas.openxmlformats.org/drawingml/2006/main">
            <a:r>
              <a:t>US-10A · Dashboard  5</a:t>
            </a:r>
          </a:p>
          <a:p xmlns:a="http://schemas.openxmlformats.org/drawingml/2006/main">
            <a:r>
              <a:t>US-10B · Histórico  3</a:t>
            </a:r>
          </a:p>
          <a:p xmlns:a="http://schemas.openxmlformats.org/drawingml/2006/main">
            <a:r>
              <a:t>AUTOMATIZACIÓN</a:t>
            </a:r>
          </a:p>
          <a:p xmlns:a="http://schemas.openxmlformats.org/drawingml/2006/main">
            <a:r>
              <a:t>US-07 · Grupos  5</a:t>
            </a:r>
          </a:p>
          <a:p xmlns:a="http://schemas.openxmlformats.org/drawingml/2006/main">
            <a:r>
              <a:t>US-08 · Rutinas  5</a:t>
            </a:r>
          </a:p>
          <a:p xmlns:a="http://schemas.openxmlformats.org/drawingml/2006/main">
            <a:r>
              <a:t>US-11A · Reglas  5</a:t>
            </a:r>
          </a:p>
          <a:p xmlns:a="http://schemas.openxmlformats.org/drawingml/2006/main">
            <a:r>
              <a:t>US-11B · Preferencias  3</a:t>
            </a:r>
          </a:p>
          <a:p xmlns:a="http://schemas.openxmlformats.org/drawingml/2006/main">
            <a:r>
              <a:t>VALOR Y SOPORTE</a:t>
            </a:r>
          </a:p>
          <a:p xmlns:a="http://schemas.openxmlformats.org/drawingml/2006/main">
            <a:r>
              <a:t>US-12A · Metas  5</a:t>
            </a:r>
          </a:p>
          <a:p xmlns:a="http://schemas.openxmlformats.org/drawingml/2006/main">
            <a:r>
              <a:t>US-12B · Reportes  5</a:t>
            </a:r>
          </a:p>
          <a:p xmlns:a="http://schemas.openxmlformats.org/drawingml/2006/main">
            <a:r>
              <a:t>US-16A · Planes  3</a:t>
            </a:r>
          </a:p>
          <a:p xmlns:a="http://schemas.openxmlformats.org/drawingml/2006/main">
            <a:r>
              <a:t>US-16B · Suscripción  5</a:t>
            </a:r>
          </a:p>
          <a:p xmlns:a="http://schemas.openxmlformats.org/drawingml/2006/main">
            <a:r>
              <a:t>Refinamiento aplicado: las historias grandes se dividieron por resultado verificable. El total se conserva como estimación relativa del alcance.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Website, WebApp y Mobile consumen una única API Spring Boot. La persistencia se centraliza en Neon PostgreSQL para mantener una sola fuente de datos del producto.</a:t>
            </a:r>
          </a:p>
          <a:p xmlns:a="http://schemas.openxmlformats.org/drawingml/2006/main">
            <a:r>
              <a:t>Arquitectura del Sistema</a:t>
            </a:r>
          </a:p>
          <a:p xmlns:a="http://schemas.openxmlformats.org/drawingml/2006/main">
            <a:r>
              <a:t>Integración efectiva de APIs y bases de datos para EnergyCore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POSTGRESQL · NEON · MODELO RELACIONAL</a:t>
            </a:r>
          </a:p>
          <a:p xmlns:a="http://schemas.openxmlformats.org/drawingml/2006/main">
            <a:r>
              <a:t>Base de datos visible y trazable</a:t>
            </a:r>
          </a:p>
          <a:p xmlns:a="http://schemas.openxmlformats.org/drawingml/2006/main">
            <a:r>
              <a:t>USER</a:t>
            </a:r>
          </a:p>
          <a:p xmlns:a="http://schemas.openxmlformats.org/drawingml/2006/main">
            <a:r>
              <a:t>id · email · password_hash</a:t>
            </a:r>
          </a:p>
          <a:p xmlns:a="http://schemas.openxmlformats.org/drawingml/2006/main">
            <a:r>
              <a:t>WORKPLACE</a:t>
            </a:r>
          </a:p>
          <a:p xmlns:a="http://schemas.openxmlformats.org/drawingml/2006/main">
            <a:r>
              <a:t>id · owner_id · name</a:t>
            </a:r>
          </a:p>
          <a:p xmlns:a="http://schemas.openxmlformats.org/drawingml/2006/main">
            <a:r>
              <a:t>ROOM</a:t>
            </a:r>
          </a:p>
          <a:p xmlns:a="http://schemas.openxmlformats.org/drawingml/2006/main">
            <a:r>
              <a:t>id · workplace_id · name</a:t>
            </a:r>
          </a:p>
          <a:p xmlns:a="http://schemas.openxmlformats.org/drawingml/2006/main">
            <a:r>
              <a:t>DEVICE</a:t>
            </a:r>
          </a:p>
          <a:p xmlns:a="http://schemas.openxmlformats.org/drawingml/2006/main">
            <a:r>
              <a:t>id · room_id · status</a:t>
            </a:r>
          </a:p>
          <a:p xmlns:a="http://schemas.openxmlformats.org/drawingml/2006/main">
            <a:r>
              <a:t>ENERGY_SAMPLE</a:t>
            </a:r>
          </a:p>
          <a:p xmlns:a="http://schemas.openxmlformats.org/drawingml/2006/main">
            <a:r>
              <a:t>id · device_id · watts · timestamp</a:t>
            </a:r>
          </a:p>
          <a:p xmlns:a="http://schemas.openxmlformats.org/drawingml/2006/main">
            <a:r>
              <a:t>ROUTINE</a:t>
            </a:r>
          </a:p>
          <a:p xmlns:a="http://schemas.openxmlformats.org/drawingml/2006/main">
            <a:r>
              <a:t>id · user_id · schedule</a:t>
            </a:r>
          </a:p>
          <a:p xmlns:a="http://schemas.openxmlformats.org/drawingml/2006/main">
            <a:r>
              <a:t>ALERT</a:t>
            </a:r>
          </a:p>
          <a:p xmlns:a="http://schemas.openxmlformats.org/drawingml/2006/main">
            <a:r>
              <a:t>id · user_id · severity</a:t>
            </a:r>
          </a:p>
          <a:p xmlns:a="http://schemas.openxmlformats.org/drawingml/2006/main">
            <a:r>
              <a:t>GOAL_REPORT</a:t>
            </a:r>
          </a:p>
          <a:p xmlns:a="http://schemas.openxmlformats.org/drawingml/2006/main">
            <a:r>
              <a:t>goal · report · period</a:t>
            </a:r>
          </a:p>
          <a:p xmlns:a="http://schemas.openxmlformats.org/drawingml/2006/main">
            <a:r>
              <a:t>1 → N</a:t>
            </a:r>
          </a:p>
          <a:p xmlns:a="http://schemas.openxmlformats.org/drawingml/2006/main">
            <a:r>
              <a:t>1 → N</a:t>
            </a:r>
          </a:p>
          <a:p xmlns:a="http://schemas.openxmlformats.org/drawingml/2006/main">
            <a:r>
              <a:t>1 → N</a:t>
            </a:r>
          </a:p>
          <a:p xmlns:a="http://schemas.openxmlformats.org/drawingml/2006/main">
            <a:r>
              <a:t>1 → N</a:t>
            </a:r>
          </a:p>
          <a:p xmlns:a="http://schemas.openxmlformats.org/drawingml/2006/main">
            <a:r>
              <a:t>Una sola fuente de datos para WebApp y Flutter mediante la API Spring Boot. La evidencia pública verifica persistencia entre revisiones.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Página de Aterrizaje</a:t>
            </a:r>
          </a:p>
          <a:p xmlns:a="http://schemas.openxmlformats.org/drawingml/2006/main">
            <a:r>
              <a:t>Fuente de la captura: assets/evidence/implemented/landing-desktop.png.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Flutter · Android real</a:t>
            </a:r>
          </a:p>
          <a:p xmlns:a="http://schemas.openxmlformats.org/drawingml/2006/main">
            <a:r>
              <a:t>Ejecución local con datos de demostración.</a:t>
            </a:r>
          </a:p>
          <a:p xmlns:a="http://schemas.openxmlformats.org/drawingml/2006/main">
            <a:r>
              <a:t>Acceso web y Android</a:t>
            </a:r>
          </a:p>
          <a:p xmlns:a="http://schemas.openxmlformats.org/drawingml/2006/main">
            <a:r>
              <a:t>Angular · navegador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Dashboard</a:t>
            </a:r>
          </a:p>
          <a:p xmlns:a="http://schemas.openxmlformats.org/drawingml/2006/main">
            <a:r>
              <a:t>energético</a:t>
            </a:r>
          </a:p>
          <a:p xmlns:a="http://schemas.openxmlformats.org/drawingml/2006/main">
            <a:r>
              <a:t>Consumo diario, tendencias e indicadores de la aplicación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Angular → Spring Boot →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 local real con datos de demostración; no son mediciones físicas ni evidencia de producción.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EnergyCore</a:t>
            </a:r>
          </a:p>
          <a:p xmlns:a="http://schemas.openxmlformats.org/drawingml/2006/main">
            <a:r>
              <a:t>en Android</a:t>
            </a:r>
          </a:p>
          <a:p xmlns:a="http://schemas.openxmlformats.org/drawingml/2006/main">
            <a:r>
              <a:t>Flutter conectado a la API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Potencia por habitación verificada: 1370 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Datos de demostración; no son mediciones físicas ni evidencia de producción.</a:t>
            </a:r>
          </a:p>
          <a:p xmlns:a="http://schemas.openxmlformats.org/drawingml/2006/main">
            <a:r>
              <a:t>Inicio → consumo → dispositivos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 real · Swagger / OpenAPI</a:t>
            </a:r>
          </a:p>
          <a:p xmlns:a="http://schemas.openxmlformats.org/drawingml/2006/main">
            <a:r>
              <a:t>Contrato OpenAPI 3.1.0 organizado por dominio.</a:t>
            </a:r>
          </a:p>
          <a:p xmlns:a="http://schemas.openxmlformats.org/drawingml/2006/main">
            <a:r>
              <a:t>100 OPERACIONES REST</a:t>
            </a:r>
          </a:p>
          <a:p xmlns:a="http://schemas.openxmlformats.org/drawingml/2006/main">
            <a:r>
              <a:t>Endpoints reales de consumo y monitoreo.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Spring Boot + PostgreSQL local.</a:t>
            </a:r>
          </a:p>
          <a:p xmlns:a="http://schemas.openxmlformats.org/drawingml/2006/main">
            <a:r>
              <a:t>Datos de demostración; sin evidencia de producción.</a:t>
            </a:r>
          </a:p>
          <a:p xmlns:a="http://schemas.openxmlformats.org/drawingml/2006/main">
            <a:r>
              <a:t>ENERGY MONITORING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capítulos VI–VIII; Enunciado.pdf, tercer hito, pp. 42–43. Registro técnico: assets/evidence/implemented/av2-review-2026-10-21.json. Los resultados históricos conservan su fecha; no se atribuye una nueva ejecución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GITHUB ACTIONS · CINCO REPOSITORIOS</a:t>
            </a:r>
          </a:p>
          <a:p xmlns:a="http://schemas.openxmlformats.org/drawingml/2006/main">
            <a:r>
              <a:t>Pruebas y CI/CD por cada commit</a:t>
            </a:r>
          </a:p>
          <a:p xmlns:a="http://schemas.openxmlformats.org/drawingml/2006/main">
            <a:r>
              <a:t>01</a:t>
            </a:r>
          </a:p>
          <a:p xmlns:a="http://schemas.openxmlformats.org/drawingml/2006/main">
            <a:r>
              <a:t>CHECKOUT</a:t>
            </a:r>
          </a:p>
          <a:p xmlns:a="http://schemas.openxmlformats.org/drawingml/2006/main">
            <a:r>
              <a:t>Código y lockfiles</a:t>
            </a:r>
          </a:p>
          <a:p xmlns:a="http://schemas.openxmlformats.org/drawingml/2006/main">
            <a:r>
              <a:t>02</a:t>
            </a:r>
          </a:p>
          <a:p xmlns:a="http://schemas.openxmlformats.org/drawingml/2006/main">
            <a:r>
              <a:t>ANÁLISIS</a:t>
            </a:r>
          </a:p>
          <a:p xmlns:a="http://schemas.openxmlformats.org/drawingml/2006/main">
            <a:r>
              <a:t>Java · TypeScript · Dart</a:t>
            </a:r>
          </a:p>
          <a:p xmlns:a="http://schemas.openxmlformats.org/drawingml/2006/main">
            <a:r>
              <a:t>03</a:t>
            </a:r>
          </a:p>
          <a:p xmlns:a="http://schemas.openxmlformats.org/drawingml/2006/main">
            <a:r>
              <a:t>PRUEBAS</a:t>
            </a:r>
          </a:p>
          <a:p xmlns:a="http://schemas.openxmlformats.org/drawingml/2006/main">
            <a:r>
              <a:t>Unitarias · integración · BDD</a:t>
            </a:r>
          </a:p>
          <a:p xmlns:a="http://schemas.openxmlformats.org/drawingml/2006/main">
            <a:r>
              <a:t>04</a:t>
            </a:r>
          </a:p>
          <a:p xmlns:a="http://schemas.openxmlformats.org/drawingml/2006/main">
            <a:r>
              <a:t>BUILD</a:t>
            </a:r>
          </a:p>
          <a:p xmlns:a="http://schemas.openxmlformats.org/drawingml/2006/main">
            <a:r>
              <a:t>JAR · dist · APK · documentos</a:t>
            </a:r>
          </a:p>
          <a:p xmlns:a="http://schemas.openxmlformats.org/drawingml/2006/main">
            <a:r>
              <a:t>05</a:t>
            </a:r>
          </a:p>
          <a:p xmlns:a="http://schemas.openxmlformats.org/drawingml/2006/main">
            <a:r>
              <a:t>ARTEFACTOS</a:t>
            </a:r>
          </a:p>
          <a:p xmlns:a="http://schemas.openxmlformats.org/drawingml/2006/main">
            <a:r>
              <a:t>SHA y reportes</a:t>
            </a:r>
          </a:p>
          <a:p xmlns:a="http://schemas.openxmlformats.org/drawingml/2006/main">
            <a:r>
              <a:t>28</a:t>
            </a:r>
          </a:p>
          <a:p xmlns:a="http://schemas.openxmlformats.org/drawingml/2006/main">
            <a:r>
              <a:t>pruebas JUnit aprobadas</a:t>
            </a:r>
          </a:p>
          <a:p xmlns:a="http://schemas.openxmlformats.org/drawingml/2006/main">
            <a:r>
              <a:t>60/60</a:t>
            </a:r>
          </a:p>
          <a:p xmlns:a="http://schemas.openxmlformats.org/drawingml/2006/main">
            <a:r>
              <a:t>escenarios BDD aprobados</a:t>
            </a:r>
          </a:p>
          <a:p xmlns:a="http://schemas.openxmlformats.org/drawingml/2006/main">
            <a:r>
              <a:t>5/5</a:t>
            </a:r>
          </a:p>
          <a:p xmlns:a="http://schemas.openxmlformats.org/drawingml/2006/main">
            <a:r>
              <a:t>workflows CI configurados</a:t>
            </a:r>
          </a:p>
          <a:p xmlns:a="http://schemas.openxmlformats.org/drawingml/2006/main">
            <a:r>
              <a:t>109</a:t>
            </a:r>
          </a:p>
          <a:p xmlns:a="http://schemas.openxmlformats.org/drawingml/2006/main">
            <a:r>
              <a:t>pruebas de producto aprobadas</a:t>
            </a:r>
          </a:p>
          <a:p xmlns:a="http://schemas.openxmlformats.org/drawingml/2006/main">
            <a:r>
              <a:t>Línea base del 05/10/2026: 88 backend + 5 web + 5 landing + 11 Flutter. CI consultado el 21/10/2026.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GitFlow y GitHub</a:t>
            </a:r>
          </a:p>
          <a:p xmlns:a="http://schemas.openxmlformats.org/drawingml/2006/main">
            <a:r>
              <a:t>La rama main es la base del proyecto, donde el código más estable se despliega y se mantiene. Es esencial para asegurar la calidad del producto final.</a:t>
            </a:r>
          </a:p>
          <a:p xmlns:a="http://schemas.openxmlformats.org/drawingml/2006/main">
            <a:r>
              <a:t>RAMIFICACIÓN MAIN</a:t>
            </a:r>
          </a:p>
          <a:p xmlns:a="http://schemas.openxmlformats.org/drawingml/2006/main">
            <a:r>
              <a:t>La rama develop permite la integración continua de nuevas características y correcciones. Facilita la colaboración entre los desarrolladores y el avance del proyecto de manera organizada.</a:t>
            </a:r>
          </a:p>
          <a:p xmlns:a="http://schemas.openxmlformats.org/drawingml/2006/main">
            <a:r>
              <a:t>DESARROLLO CONTINUO</a:t>
            </a:r>
          </a:p>
          <a:p xmlns:a="http://schemas.openxmlformats.org/drawingml/2006/main">
            <a:r>
              <a:t>Se han creado cinco repositorios públicos para el proyecto, lo que permite a otros usuarios acceder, contribuir y revisar el código, promoviendo la transparencia y la colaboración.</a:t>
            </a:r>
          </a:p>
          <a:p xmlns:a="http://schemas.openxmlformats.org/drawingml/2006/main">
            <a:r>
              <a:t>REPOSITORIOS PÚBLICOS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capítulos VI–VIII; Enunciado.pdf, tercer hito, pp. 42–43. Registro técnico: assets/evidence/implemented/av2-review-2026-10-21.json. Los resultados históricos conservan su fecha; no se atribuye una nueva ejecución completa.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Calidad y despliegue</a:t>
            </a:r>
          </a:p>
          <a:p xmlns:a="http://schemas.openxmlformats.org/drawingml/2006/main">
            <a:r>
              <a:t>88 pruebas backend aprobadas: 28 JUnit y 60 escenarios Cucumber.</a:t>
            </a:r>
          </a:p>
          <a:p xmlns:a="http://schemas.openxmlformats.org/drawingml/2006/main">
            <a:r>
              <a:t>CI del mismo commit consultado el 21/10/2026; no se presenta como una nueva ejecución local.</a:t>
            </a:r>
          </a:p>
          <a:p xmlns:a="http://schemas.openxmlformats.org/drawingml/2006/main">
            <a:r>
              <a:t>PRUEBAS BACKEND</a:t>
            </a:r>
          </a:p>
          <a:p xmlns:a="http://schemas.openxmlformats.org/drawingml/2006/main">
            <a:r>
              <a:t>Cloud Run, Firebase Hosting y Neon PostgreSQL están desplegados. Health, OpenAPI, registro, login, CORS y persistencia fueron verificados en el entorno público.</a:t>
            </a:r>
          </a:p>
          <a:p xmlns:a="http://schemas.openxmlformats.org/drawingml/2006/main">
            <a:r>
              <a:t>PREPARACIÓN EN LA NUBE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CLOUD RUN · FIREBASE HOSTING · NEON</a:t>
            </a:r>
          </a:p>
          <a:p xmlns:a="http://schemas.openxmlformats.org/drawingml/2006/main">
            <a:r>
              <a:t>Despliegue público verificado</a:t>
            </a:r>
          </a:p>
          <a:p xmlns:a="http://schemas.openxmlformats.org/drawingml/2006/main">
            <a:r>
              <a:t>WEB APPLICATION</a:t>
            </a:r>
          </a:p>
          <a:p xmlns:a="http://schemas.openxmlformats.org/drawingml/2006/main">
            <a:r>
              <a:t>Firebase Hosting</a:t>
            </a:r>
          </a:p>
          <a:p xmlns:a="http://schemas.openxmlformats.org/drawingml/2006/main">
            <a:r>
              <a:t>university-energycorp.web.app</a:t>
            </a:r>
          </a:p>
          <a:p xmlns:a="http://schemas.openxmlformats.org/drawingml/2006/main">
            <a:r>
              <a:t>Rutas SPA y acceso público</a:t>
            </a:r>
          </a:p>
          <a:p xmlns:a="http://schemas.openxmlformats.org/drawingml/2006/main">
            <a:r>
              <a:t>VERIFICADO</a:t>
            </a:r>
          </a:p>
          <a:p xmlns:a="http://schemas.openxmlformats.org/drawingml/2006/main">
            <a:r>
              <a:t>RESTFUL API</a:t>
            </a:r>
          </a:p>
          <a:p xmlns:a="http://schemas.openxmlformats.org/drawingml/2006/main">
            <a:r>
              <a:t>Google Cloud Run</a:t>
            </a:r>
          </a:p>
          <a:p xmlns:a="http://schemas.openxmlformats.org/drawingml/2006/main">
            <a:r>
              <a:t>energycore-platform-ujdgb2zcpq-ue.a.run.app</a:t>
            </a:r>
          </a:p>
          <a:p xmlns:a="http://schemas.openxmlformats.org/drawingml/2006/main">
            <a:r>
              <a:t>Health, OpenAPI, registro, login y CORS</a:t>
            </a:r>
          </a:p>
          <a:p xmlns:a="http://schemas.openxmlformats.org/drawingml/2006/main">
            <a:r>
              <a:t>VERIFICADO</a:t>
            </a:r>
          </a:p>
          <a:p xmlns:a="http://schemas.openxmlformats.org/drawingml/2006/main">
            <a:r>
              <a:t>BASE DE DATOS</a:t>
            </a:r>
          </a:p>
          <a:p xmlns:a="http://schemas.openxmlformats.org/drawingml/2006/main">
            <a:r>
              <a:t>Neon PostgreSQL</a:t>
            </a:r>
          </a:p>
          <a:p xmlns:a="http://schemas.openxmlformats.org/drawingml/2006/main">
            <a:r>
              <a:t>Persistencia entre revisiones</a:t>
            </a:r>
          </a:p>
          <a:p xmlns:a="http://schemas.openxmlformats.org/drawingml/2006/main">
            <a:r>
              <a:t>Mismo usuario y marcador recuperados</a:t>
            </a:r>
          </a:p>
          <a:p xmlns:a="http://schemas.openxmlformats.org/drawingml/2006/main">
            <a:r>
              <a:t>VERIFICADO</a:t>
            </a:r>
          </a:p>
          <a:p xmlns:a="http://schemas.openxmlformats.org/drawingml/2006/main">
            <a:r>
              <a:t>Una sola API y una sola base de datos conectan la aplicación web y Flutter con trazabilidad del despliegue.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assets/evidence/implemented/av2-review-2026-10-21.json; README.md, 6.2 y 6.4.</a:t>
            </a:r>
          </a:p>
          <a:p xmlns:a="http://schemas.openxmlformats.org/drawingml/2006/main">
            <a:r>
              <a:t>Alcance AV2: el contenido experimental termina en 8.3.2. No se muestran resultados de experimentos ni validaciones no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Revisión técnica trazable</a:t>
            </a:r>
          </a:p>
          <a:p xmlns:a="http://schemas.openxmlformats.org/drawingml/2006/main">
            <a:r>
              <a:t>CI Y REVISIONES</a:t>
            </a:r>
          </a:p>
          <a:p xmlns:a="http://schemas.openxmlformats.org/drawingml/2006/main">
            <a:r>
              <a:t>Últimas ejecuciones consultadas: cinco repositorios con resultado success. Los cuatro repositorios del producto coinciden con su commit local.</a:t>
            </a:r>
          </a:p>
          <a:p xmlns:a="http://schemas.openxmlformats.org/drawingml/2006/main">
            <a:r>
              <a:t>HALLAZGOS CONCRETOS</a:t>
            </a:r>
          </a:p>
          <a:p xmlns:a="http://schemas.openxmlformats.org/drawingml/2006/main">
            <a:r>
              <a:t>Producción conserva ddl-auto=update y un origen localhost en el CORS predeterminado. Son observaciones abiertas, no correcciones desplegadas.</a:t>
            </a:r>
          </a:p>
          <a:p xmlns:a="http://schemas.openxmlformats.org/drawingml/2006/main">
            <a:r>
              <a:t>ALCANCE DE LA REVISIÓN</a:t>
            </a:r>
          </a:p>
          <a:p xmlns:a="http://schemas.openxmlformats.org/drawingml/2006/main">
            <a:r>
              <a:t>Inspección automática del código. La aprobación humana por pares y la auditoría de otro grupo no se sustituyen con esta revisión.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assets/evidence/implemented/av2-monitoring-2026-10-21.json; scripts/monitor-public-surfaces.py; .github/workflows/monitoring.yml. Ejecución remota: https://github.com/teralume/energycore-report/actions/runs/39565142305</a:t>
            </a:r>
          </a:p>
          <a:p xmlns:a="http://schemas.openxmlformats.org/drawingml/2006/main">
            <a:r>
              <a:t>Alcance AV2: el contenido experimental termina en 8.3.2. No se muestran resultados de experimentos ni validaciones no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Monitoreo reproducible</a:t>
            </a:r>
          </a:p>
          <a:p xmlns:a="http://schemas.openxmlformats.org/drawingml/2006/main">
            <a:r>
              <a:t>COMPROBACIÓN PÚBLICA DEL 21/10/2026</a:t>
            </a:r>
          </a:p>
          <a:p xmlns:a="http://schemas.openxmlformats.org/drawingml/2006/main">
            <a:r>
              <a:t>API health: 200 · OpenAPI: 200 · Web Application: 200. Solo solicitudes de lectura, sin cuentas ni datos personales.</a:t>
            </a:r>
          </a:p>
          <a:p xmlns:a="http://schemas.openxmlformats.org/drawingml/2006/main">
            <a:r>
              <a:t>DETECCIÓN Y EVIDENCIA</a:t>
            </a:r>
          </a:p>
          <a:p xmlns:a="http://schemas.openxmlformats.org/drawingml/2006/main">
            <a:r>
              <a:t>El monitor valida status UP, contrato OpenAPI y HTML; termina con fallo ante una respuesta incorrecta y guarda JSON.</a:t>
            </a:r>
          </a:p>
          <a:p xmlns:a="http://schemas.openxmlformats.org/drawingml/2006/main">
            <a:r>
              <a:t>AUTOMATIZACIÓN ACTIVA</a:t>
            </a:r>
          </a:p>
          <a:p xmlns:a="http://schemas.openxmlformats.org/drawingml/2006/main">
            <a:r>
              <a:t>Workflow activo en main, programado cada 6 horas y con ejecución remota aprobada. No se afirma un SLA medido.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README.md, 8.1 y 8.2. Las hipótesis y la comparación son propuestas, no resultados.</a:t>
            </a:r>
          </a:p>
          <a:p xmlns:a="http://schemas.openxmlformats.org/drawingml/2006/main">
            <a:r>
              <a:t>Alcance AV2: el contenido experimental termina en 8.3.2. No se muestran resultados de experimentos ni validaciones no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e hipótesis experimental</a:t>
            </a:r>
          </a:p>
          <a:p xmlns:a="http://schemas.openxmlformats.org/drawingml/2006/main">
            <a:r>
              <a:t>PREGUNTA</a:t>
            </a:r>
          </a:p>
          <a:p xmlns:a="http://schemas.openxmlformats.org/drawingml/2006/main">
            <a:r>
              <a:t>¿Una recomendación con causa y acción ayuda a identificar un consumo anómalo y decidir qué hacer?</a:t>
            </a:r>
          </a:p>
          <a:p xmlns:a="http://schemas.openxmlformats.org/drawingml/2006/main">
            <a:r>
              <a:t>COMPARACIÓN PROPUESTA</a:t>
            </a:r>
          </a:p>
          <a:p xmlns:a="http://schemas.openxmlformats.org/drawingml/2006/main">
            <a:r>
              <a:t>Control: dashboard actual. Tratamiento: recomendación accionable con explicación, impacto y confirmación segura.</a:t>
            </a:r>
          </a:p>
          <a:p xmlns:a="http://schemas.openxmlformats.org/drawingml/2006/main">
            <a:r>
              <a:t>HIPÓTESIS POR CONTRASTAR</a:t>
            </a:r>
          </a:p>
          <a:p xmlns:a="http://schemas.openxmlformats.org/drawingml/2006/main">
            <a:r>
              <a:t>El tratamiento reduce el tiempo de la tarea sin aumentar errores. No se afirma ahorro energético ni una mejora ya demostrada.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README.md, 8.2. No se afirma reclutamiento, ejecución del piloto o resultado estadístico.</a:t>
            </a:r>
          </a:p>
          <a:p xmlns:a="http://schemas.openxmlformats.org/drawingml/2006/main">
            <a:r>
              <a:t>Alcance AV2: el contenido experimental termina en 8.3.2. No se muestran resultados de experimentos ni validaciones no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Diseño y medición propuestos</a:t>
            </a:r>
          </a:p>
          <a:p xmlns:a="http://schemas.openxmlformats.org/drawingml/2006/main">
            <a:r>
              <a:t>VARIABLES</a:t>
            </a:r>
          </a:p>
          <a:p xmlns:a="http://schemas.openxmlformats.org/drawingml/2006/main">
            <a:r>
              <a:t>Tiempo de tarea, éxito y errores. Registrar variante, plataforma, segmento y experiencia previa sin identificar a la persona.</a:t>
            </a:r>
          </a:p>
          <a:p xmlns:a="http://schemas.openxmlformats.org/drawingml/2006/main">
            <a:r>
              <a:t>PILOTO PROPUESTO</a:t>
            </a:r>
          </a:p>
          <a:p xmlns:a="http://schemas.openxmlformats.org/drawingml/2006/main">
            <a:r>
              <a:t>24 participantes para depurar tareas y estimar parámetros. La muestra confirmatoria depende de variabilidad y efecto mínimo.</a:t>
            </a:r>
          </a:p>
          <a:p xmlns:a="http://schemas.openxmlformats.org/drawingml/2006/main">
            <a:r>
              <a:t>CONTROL Y ÉTICA</a:t>
            </a:r>
          </a:p>
          <a:p xmlns:a="http://schemas.openxmlformats.org/drawingml/2006/main">
            <a:r>
              <a:t>Mismas tareas y datos semilla; asignación consistente; consentimiento, minimización de datos y detención ante riesgo.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README.md, 8.3.1 y 8.3.2; https://trello.com/b/kFru7uh2/energycore-product-backlog-y-sprint-planning</a:t>
            </a:r>
          </a:p>
          <a:p xmlns:a="http://schemas.openxmlformats.org/drawingml/2006/main">
            <a:r>
              <a:t>Alcance AV2: el contenido experimental termina en 8.3.2. No se muestran resultados de experimentos ni validaciones no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To-Be Product Backlog</a:t>
            </a:r>
          </a:p>
          <a:p xmlns:a="http://schemas.openxmlformats.org/drawingml/2006/main">
            <a:r>
              <a:t>13 HISTORIAS · 53 STORY POINTS</a:t>
            </a:r>
          </a:p>
          <a:p xmlns:a="http://schemas.openxmlformats.org/drawingml/2006/main">
            <a:r>
              <a:t>Historias de explicación, acción segura, alcance, recuperación, idempotencia y frescura; tareas técnicas de asignación y eventos.</a:t>
            </a:r>
          </a:p>
          <a:p xmlns:a="http://schemas.openxmlformats.org/drawingml/2006/main">
            <a:r>
              <a:t>CRITERIOS DE ACEPTACIÓN</a:t>
            </a:r>
          </a:p>
          <a:p xmlns:a="http://schemas.openxmlformats.org/drawingml/2006/main">
            <a:r>
              <a:t>Cada historia conserva su resultado verificable. Ninguna supera 5 SP; las estimaciones no equivalen a implementación terminada.</a:t>
            </a:r>
          </a:p>
          <a:p xmlns:a="http://schemas.openxmlformats.org/drawingml/2006/main">
            <a:r>
              <a:t>PLANIFICACIÓN Y TRAZABILIDAD</a:t>
            </a:r>
          </a:p>
          <a:p xmlns:a="http://schemas.openxmlformats.org/drawingml/2006/main">
            <a:r>
              <a:t>Trello: energycore-product-backlog-y-sprint-planning. Reporte: 8.3.1 User Stories y 8.3.2 Product Backlog.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Alex Humberto Sánchez Ponce</a:t>
            </a:r>
          </a:p>
          <a:p xmlns:a="http://schemas.openxmlformats.org/drawingml/2006/main">
            <a:r>
              <a:t>DOCENTE</a:t>
            </a:r>
          </a:p>
          <a:p xmlns:a="http://schemas.openxmlformats.org/drawingml/2006/main">
            <a:r>
              <a:t>NRC 9100 · 7.º ciclo</a:t>
            </a:r>
          </a:p>
          <a:p xmlns:a="http://schemas.openxmlformats.org/drawingml/2006/main">
            <a:r>
              <a:t>CURSO</a:t>
            </a:r>
          </a:p>
          <a:p xmlns:a="http://schemas.openxmlformats.org/drawingml/2006/main">
            <a:r>
              <a:t>Diseño de Experimentos de Ingeniería de Software</a:t>
            </a:r>
          </a:p>
          <a:p xmlns:a="http://schemas.openxmlformats.org/drawingml/2006/main">
            <a:r>
              <a:t>UNIVERSIDAD PERUANA DE CIENCIAS APLICADAS</a:t>
            </a:r>
          </a:p>
          <a:p xmlns:a="http://schemas.openxmlformats.org/drawingml/2006/main">
            <a:r>
              <a:t>Contacto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45379788d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9e031b8df342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a54a9faa5d4c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d48210d0246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6d61abe33427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5c594f86840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FC6F26-476D-4526-958B-C2FD09645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A3E35EE-7830-423F-B211-211226663A5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829069-A44E-4DD2-A960-1A2589D7F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23CE3A-5154-42CB-B58C-A6D78EAC6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CD8D86-42DA-497C-A82E-079401AC5C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07F89D-AA08-4857-B135-3D4FDE838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9F54685-0C6C-402B-BE0C-1BBC5BCE4F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121DC64-2F90-4B57-9800-D3A5DC1A2A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31E17A-2A78-4ECD-A704-BD2FFDA461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0D4911-1A3D-4CB4-ABEE-718CBC3E0C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8ae1a30124480f" /><Relationship Type="http://schemas.openxmlformats.org/officeDocument/2006/relationships/slideLayout" Target="/ppt/slideLayouts/slideLayout1.xml" Id="R9f7c07218cbe4019" /><Relationship Type="http://schemas.openxmlformats.org/officeDocument/2006/relationships/slideLayout" Target="/ppt/slideLayouts/slideLayout2.xml" Id="R808b38f11815413e" /><Relationship Type="http://schemas.openxmlformats.org/officeDocument/2006/relationships/slideLayout" Target="/ppt/slideLayouts/slideLayout3.xml" Id="R9a22f8899d854d80" /><Relationship Type="http://schemas.openxmlformats.org/officeDocument/2006/relationships/slideLayout" Target="/ppt/slideLayouts/slideLayout4.xml" Id="Ra2f63fa84b484290" /><Relationship Type="http://schemas.openxmlformats.org/officeDocument/2006/relationships/slideLayout" Target="/ppt/slideLayouts/slideLayout5.xml" Id="R53b96637ab7c4ed7" /><Relationship Type="http://schemas.openxmlformats.org/officeDocument/2006/relationships/slideLayout" Target="/ppt/slideLayouts/slideLayout6.xml" Id="Re5a4a112b90544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7c07218cbe4019"/>
    <p:sldLayoutId xmlns:r="http://schemas.openxmlformats.org/officeDocument/2006/relationships" id="2147483650" r:id="R808b38f11815413e"/>
    <p:sldLayoutId xmlns:r="http://schemas.openxmlformats.org/officeDocument/2006/relationships" id="2147483651" r:id="R9a22f8899d854d80"/>
    <p:sldLayoutId xmlns:r="http://schemas.openxmlformats.org/officeDocument/2006/relationships" id="2147483652" r:id="Ra2f63fa84b484290"/>
    <p:sldLayoutId xmlns:r="http://schemas.openxmlformats.org/officeDocument/2006/relationships" id="2147483653" r:id="R53b96637ab7c4ed7"/>
    <p:sldLayoutId xmlns:r="http://schemas.openxmlformats.org/officeDocument/2006/relationships" id="2147483654" r:id="Re5a4a112b90544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cf5246a475442c" /><Relationship Type="http://schemas.openxmlformats.org/officeDocument/2006/relationships/notesSlide" Target="/ppt/notesSlides/notesSlide1.xml" Id="Rbbe8f0e6d94148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4a108e98fd4263" /><Relationship Type="http://schemas.openxmlformats.org/officeDocument/2006/relationships/image" Target="/ppt/media/image.jpeg" Id="R8847cb8695e44645" /><Relationship Type="http://schemas.openxmlformats.org/officeDocument/2006/relationships/image" Target="/ppt/media/image.png" Id="R2809e54ce8da46ff" /><Relationship Type="http://schemas.openxmlformats.org/officeDocument/2006/relationships/image" Target="/ppt/media/image2.jpeg" Id="Rf920531b0b054d5c" /><Relationship Type="http://schemas.openxmlformats.org/officeDocument/2006/relationships/image" Target="/ppt/media/image2.png" Id="Rdd369cde106e4881" /><Relationship Type="http://schemas.openxmlformats.org/officeDocument/2006/relationships/image" Target="/ppt/media/image3.png" Id="Rc757f9551f144f90" /><Relationship Type="http://schemas.openxmlformats.org/officeDocument/2006/relationships/notesSlide" Target="/ppt/notesSlides/notesSlide2.xml" Id="R556fc286094d43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f26963f8d49a1" /><Relationship Type="http://schemas.openxmlformats.org/officeDocument/2006/relationships/notesSlide" Target="/ppt/notesSlides/notesSlide3.xml" Id="Rff75c566199549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79d53d70e4bd1" /><Relationship Type="http://schemas.openxmlformats.org/officeDocument/2006/relationships/image" Target="/ppt/media/image3.jpeg" Id="Red79d4ba22ab4396" /><Relationship Type="http://schemas.openxmlformats.org/officeDocument/2006/relationships/notesSlide" Target="/ppt/notesSlides/notesSlide4.xml" Id="R11a4ce79d59a46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6a5eb358d43af" /><Relationship Type="http://schemas.openxmlformats.org/officeDocument/2006/relationships/image" Target="/ppt/media/image4.jpeg" Id="R531c40dd5fb74a43" /><Relationship Type="http://schemas.openxmlformats.org/officeDocument/2006/relationships/notesSlide" Target="/ppt/notesSlides/notesSlide5.xml" Id="Rd54a8d9d558c48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156481c66f4553" /><Relationship Type="http://schemas.openxmlformats.org/officeDocument/2006/relationships/image" Target="/ppt/media/image5.jpeg" Id="R4c449409bfad46c2" /><Relationship Type="http://schemas.openxmlformats.org/officeDocument/2006/relationships/notesSlide" Target="/ppt/notesSlides/notesSlide6.xml" Id="R8f158445bc2e40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d5d655b4948d4" /><Relationship Type="http://schemas.openxmlformats.org/officeDocument/2006/relationships/image" Target="/ppt/media/image6.jpeg" Id="R6ee80599f5514a30" /><Relationship Type="http://schemas.openxmlformats.org/officeDocument/2006/relationships/image" Target="/ppt/media/image7.jpeg" Id="Rc517a5d1021d45bc" /><Relationship Type="http://schemas.openxmlformats.org/officeDocument/2006/relationships/image" Target="/ppt/media/image8.jpeg" Id="R60cb5e4d585549dd" /><Relationship Type="http://schemas.openxmlformats.org/officeDocument/2006/relationships/notesSlide" Target="/ppt/notesSlides/notesSlide7.xml" Id="R39e975a9e46a41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3e942719244de" /><Relationship Type="http://schemas.openxmlformats.org/officeDocument/2006/relationships/notesSlide" Target="/ppt/notesSlides/notesSlide8.xml" Id="R1606876fb65742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30e50e3ec94ab4" /><Relationship Type="http://schemas.openxmlformats.org/officeDocument/2006/relationships/notesSlide" Target="/ppt/notesSlides/notesSlide9.xml" Id="Rc71dcd44db754d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a13a1d070d41f1" /><Relationship Type="http://schemas.openxmlformats.org/officeDocument/2006/relationships/notesSlide" Target="/ppt/notesSlides/notesSlide10.xml" Id="R20e4e2d4819342b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a563c261548d8" /><Relationship Type="http://schemas.openxmlformats.org/officeDocument/2006/relationships/image" Target="/ppt/media/image9.jpeg" Id="R3a1916e24ebf496a" /><Relationship Type="http://schemas.openxmlformats.org/officeDocument/2006/relationships/image" Target="/ppt/media/image10.jpeg" Id="R01a905adcc4a49a8" /><Relationship Type="http://schemas.openxmlformats.org/officeDocument/2006/relationships/notesSlide" Target="/ppt/notesSlides/notesSlide11.xml" Id="R2981b5058f464d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4bf2a4c1a426b" /><Relationship Type="http://schemas.openxmlformats.org/officeDocument/2006/relationships/notesSlide" Target="/ppt/notesSlides/notesSlide12.xml" Id="R33d1af0e6a6a44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b468033d5487f" /><Relationship Type="http://schemas.openxmlformats.org/officeDocument/2006/relationships/image" Target="/ppt/media/image11.jpeg" Id="R9171d26dfb574fed" /><Relationship Type="http://schemas.openxmlformats.org/officeDocument/2006/relationships/notesSlide" Target="/ppt/notesSlides/notesSlide13.xml" Id="R38a66842ac5a4d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12569ca2874d14" /><Relationship Type="http://schemas.openxmlformats.org/officeDocument/2006/relationships/image" Target="/ppt/media/image4.png" Id="R61208990104e404b" /><Relationship Type="http://schemas.openxmlformats.org/officeDocument/2006/relationships/image" Target="/ppt/media/image5.png" Id="R5851737c9626483c" /><Relationship Type="http://schemas.openxmlformats.org/officeDocument/2006/relationships/notesSlide" Target="/ppt/notesSlides/notesSlide14.xml" Id="R3043b0a7f55848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eba2383ac24182" /><Relationship Type="http://schemas.openxmlformats.org/officeDocument/2006/relationships/image" Target="/ppt/media/image6.png" Id="Ra770439bde4c40c0" /><Relationship Type="http://schemas.openxmlformats.org/officeDocument/2006/relationships/image" Target="/ppt/media/image7.png" Id="R6952fa3450104642" /><Relationship Type="http://schemas.openxmlformats.org/officeDocument/2006/relationships/notesSlide" Target="/ppt/notesSlides/notesSlide15.xml" Id="Rb84281ff741746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df7a9bf6f46c2" /><Relationship Type="http://schemas.openxmlformats.org/officeDocument/2006/relationships/image" Target="/ppt/media/image8.png" Id="Rd1ecc0c8accb48fb" /><Relationship Type="http://schemas.openxmlformats.org/officeDocument/2006/relationships/image" Target="/ppt/media/image9.png" Id="R5728f433a02d448c" /><Relationship Type="http://schemas.openxmlformats.org/officeDocument/2006/relationships/image" Target="/ppt/media/image10.png" Id="R33bb2289bcad43f5" /><Relationship Type="http://schemas.openxmlformats.org/officeDocument/2006/relationships/notesSlide" Target="/ppt/notesSlides/notesSlide16.xml" Id="Rc461406c472847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380182d784b1d" /><Relationship Type="http://schemas.openxmlformats.org/officeDocument/2006/relationships/image" Target="/ppt/media/image11.png" Id="R3eed491044b64a6a" /><Relationship Type="http://schemas.openxmlformats.org/officeDocument/2006/relationships/image" Target="/ppt/media/image12.png" Id="R6c96771acc094b69" /><Relationship Type="http://schemas.openxmlformats.org/officeDocument/2006/relationships/notesSlide" Target="/ppt/notesSlides/notesSlide17.xml" Id="Rdb160186fe4246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5b6c1bd5574610" /><Relationship Type="http://schemas.openxmlformats.org/officeDocument/2006/relationships/notesSlide" Target="/ppt/notesSlides/notesSlide18.xml" Id="R957ffe0123d847e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d8e3aed9c44cf0" /><Relationship Type="http://schemas.openxmlformats.org/officeDocument/2006/relationships/notesSlide" Target="/ppt/notesSlides/notesSlide19.xml" Id="Rb4c2118bc0554f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dd560a719d4020" /><Relationship Type="http://schemas.openxmlformats.org/officeDocument/2006/relationships/notesSlide" Target="/ppt/notesSlides/notesSlide20.xml" Id="R85e47ea4ab3348f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124767f824396" /><Relationship Type="http://schemas.openxmlformats.org/officeDocument/2006/relationships/notesSlide" Target="/ppt/notesSlides/notesSlide21.xml" Id="Rfa2b946a5de94b5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84cc42195476b" /><Relationship Type="http://schemas.openxmlformats.org/officeDocument/2006/relationships/notesSlide" Target="/ppt/notesSlides/notesSlide22.xml" Id="Re89a4f1b911a44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19e5b6d9dd4e75" /><Relationship Type="http://schemas.openxmlformats.org/officeDocument/2006/relationships/notesSlide" Target="/ppt/notesSlides/notesSlide23.xml" Id="R858f93656be64e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ee86a6d174081" /><Relationship Type="http://schemas.openxmlformats.org/officeDocument/2006/relationships/notesSlide" Target="/ppt/notesSlides/notesSlide24.xml" Id="Rc4e0e1d0ea1443b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dd64cc15a41f3" /><Relationship Type="http://schemas.openxmlformats.org/officeDocument/2006/relationships/notesSlide" Target="/ppt/notesSlides/notesSlide25.xml" Id="Re61d24c5518c46b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f1ef96967f4aef" /><Relationship Type="http://schemas.openxmlformats.org/officeDocument/2006/relationships/notesSlide" Target="/ppt/notesSlides/notesSlide26.xml" Id="R4650dfaadbb448a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5d7afa52d44d92" /><Relationship Type="http://schemas.openxmlformats.org/officeDocument/2006/relationships/notesSlide" Target="/ppt/notesSlides/notesSlide27.xml" Id="R456f6426026b48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6969C-25EC-45C7-87EB-25E5D61C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A5C1AF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6654B-EBF5-4D71-A678-4094FFC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525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TERALUME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58806-3DD2-454C-94E5-042E2352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1590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11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1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EnergyCore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DE93E-3495-4367-9964-847CDC93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524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5100" b="0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Monitoreo Inteligente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B9A0D-C947-45EC-8AD8-A3374249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172200"/>
            <a:ext cx="1428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85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Automatización del Consumo Energético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9DF46-6756-4327-AE00-D4BFEE8E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343900"/>
            <a:ext cx="1609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16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D804BC-8799-4CA3-BD53-E213B956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76300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25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Equipo Teralume · NRC 9100 · AV2</a:t>
            </a:r>
          </a:p>
        </p:txBody>
      </p:sp>
    </p:spTree>
    <p:extLst>
      <p:ext uri="{BB962C8B-B14F-4D97-AF65-F5344CB8AC3E}">
        <p14:creationId xmlns:p14="http://schemas.microsoft.com/office/powerpoint/2010/main" val="1045635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13BBB-5AE5-46CD-A17F-3E05201A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Integrantes del equipo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DD20C-9FC2-4A1C-9F59-28E68DB8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Avance 2 · Teralume · Ingeniería de Software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00F68-605E-4D5C-89E1-171F3531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44A15-EA5B-40FF-A5D8-C7EE846779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7cb8695e44645"/>
          <a:srcRect xmlns:a="http://schemas.openxmlformats.org/drawingml/2006/main" l="8333" t="0" r="8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" y="3143250"/>
            <a:ext cx="28575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60BEC5-FB67-4B09-98FA-E9BFCB3B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913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Jean Franck</a:t>
            </a:r>
          </a:p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Loa Rojas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26639-6D7A-457A-BF73-40EF96C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8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U20241E406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C7D42-83DF-4AFB-BB4D-EAD9E2E52C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9e54ce8da46ff"/>
          <a:srcRect xmlns:a="http://schemas.openxmlformats.org/drawingml/2006/main" l="0" t="5497" r="0" b="5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3143250"/>
            <a:ext cx="28575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825FA-C4C8-4705-8738-80F7D7CE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9913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Jairo Mathias</a:t>
            </a:r>
          </a:p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Santiago Atanacio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925C6-E83D-4CC9-B45F-35E70C43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828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U202418755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41D5B-CE93-47CB-8961-651C60D753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0531b0b054d5c"/>
          <a:srcRect xmlns:a="http://schemas.openxmlformats.org/drawingml/2006/main" l="0" t="5562" r="0" b="55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3143250"/>
            <a:ext cx="2857500" cy="3429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FD4C5-8E46-48BF-BF16-131F2DDE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9913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Fabricio Jose</a:t>
            </a:r>
          </a:p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Rivera Rupay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DFEE2F-92F9-4F94-94A6-E1B0CBE9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28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U202423883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BCF6B-C69E-4A6B-B893-66E42A07F5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69cde106e4881"/>
          <a:srcRect xmlns:a="http://schemas.openxmlformats.org/drawingml/2006/main" l="0" t="800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96600" y="3143250"/>
            <a:ext cx="2857500" cy="34290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F3CA0-A053-40A8-8C91-EB13AF50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9913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Renzo Zamir</a:t>
            </a:r>
          </a:p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Revilla Quispe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00FB6-970A-4E02-A8A6-548C57DD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828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U201717085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C8C85-8CF6-4614-B68A-BC20516868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7f9551f144f90"/>
          <a:srcRect xmlns:a="http://schemas.openxmlformats.org/drawingml/2006/main" l="7993" t="0" r="79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73200" y="3143250"/>
            <a:ext cx="2857500" cy="34290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AADA4A-579F-4429-90B2-3AD507F2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6991350"/>
            <a:ext cx="295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Brayan Benjamin</a:t>
            </a:r>
          </a:p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Huerta Cardenas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359BC-739E-4DCD-A005-8E6EFBD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82867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U20241E550</a:t>
            </a:r>
          </a:p>
        </p:txBody>
      </p:sp>
    </p:spTree>
    <p:extLst>
      <p:ext uri="{BB962C8B-B14F-4D97-AF65-F5344CB8AC3E}">
        <p14:creationId xmlns:p14="http://schemas.microsoft.com/office/powerpoint/2010/main" val="456747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F3287-39CF-4ED4-8FF2-7066DE8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Alcance de Avance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E055F-9933-447D-B7C8-128E6279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066BF-3ED3-4E9B-8AD1-19BF9426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VERIFICACIÓN Y DEVOPS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30FAA-2692-4340-8EB2-7FC3F104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6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Pruebas, revisión estática, auditorías UX y monitoreo; la evidencia técnica conserva su procedencia.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75307-9A36-4904-84C6-20DC380E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81966-1BC6-45EC-A77A-FDB24D68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PLANIFICACIÓN EXPERIMENTAL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EFB58-4141-4053-8F88-03AD96A4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863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6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Preguntas, hipótesis, diseño de medición y backlog To-Be hasta 8.3.2.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A8DFB-C24B-45DB-BFF1-26524974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43675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762D3-6457-45CF-A905-1920582A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151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LÍMITE DE ESTA PRESENTACIÓN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966E0D-5D77-4B93-9152-84FAA9E0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9151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6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No incluye ejecución To-Be, análisis de resultados, shareback ni pre-launch de TB2.</a:t>
            </a:r>
          </a:p>
        </p:txBody>
      </p:sp>
    </p:spTree>
    <p:extLst>
      <p:ext uri="{BB962C8B-B14F-4D97-AF65-F5344CB8AC3E}">
        <p14:creationId xmlns:p14="http://schemas.microsoft.com/office/powerpoint/2010/main" val="3065107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82D44-BEB5-4C40-83D6-DC36B54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460D1-C10A-4510-840A-4A6D983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DAEAF-4C32-409E-A872-4D48A5E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1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Visibilidad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56430-E8CA-41CD-AFFF-CA06D675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7096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9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El consumo energético poco visible lleva a decisiones reactivas y una gestión ineficiente. Los dispositivos dispersos complican la supervisión y dificultan la optimización del uso de la energía.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0421D-4B31-4C70-8BF5-33D791AA6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9d4ba22ab4396"/>
          <a:srcRect xmlns:a="http://schemas.openxmlformats.org/drawingml/2006/main" l="10103" t="0" r="101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2714625"/>
            <a:ext cx="7410450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13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7B74D-576C-48CA-8068-43FB7D1D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Oportunidad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31AFF-BE0E-424B-ABFA-540067A6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077C9-4F5D-4822-B34C-17F82BED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1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Información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2449A-404E-4ECB-8F7E-2FE4FF9E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7096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9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La oportunidad radica en transformar las lecturas energéticas en información valiosa que permita a los usuarios tomar decisiones informadas y proactivas sobre su consumo.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D181A-AB05-4D41-B087-83B15F59F2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c40dd5fb74a43"/>
          <a:srcRect xmlns:a="http://schemas.openxmlformats.org/drawingml/2006/main" l="10103" t="0" r="101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2714625"/>
            <a:ext cx="7410450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30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3122D-088A-44F9-A971-21765295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Propuesta de 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F8EDF-BAA7-49A3-970F-BBD65989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A5C1AF"/>
                </a:solidFill>
                <a:latin typeface="DM Sans"/>
                <a:ea typeface="DM Sans"/>
                <a:cs typeface="DM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AD48D-F759-4831-89DB-0304639E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742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510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D91AB-98C2-41FF-B6D3-772745E7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14875"/>
            <a:ext cx="7096125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92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La propuesta de valor de EnergyCore se centra en centralizar espacios y dispositivos para visualizar el consumo energético y automatizar decisiones, mejorando así la eficiencia en el uso de energía.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42C8A-0DC8-48E6-B10B-0891AE544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49409bfad46c2"/>
          <a:srcRect xmlns:a="http://schemas.openxmlformats.org/drawingml/2006/main" l="10103" t="0" r="101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10750" y="2714625"/>
            <a:ext cx="7410450" cy="619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877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E2B11-0B0F-492E-98AD-B40F5980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Público 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3A89B-3FEE-49AF-AD0F-A5165107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DAAA3-90EB-4035-802B-B2B06E6380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80599f5514a30"/>
          <a:srcRect xmlns:a="http://schemas.openxmlformats.org/drawingml/2006/main" l="15465" t="0" r="154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" y="2762250"/>
            <a:ext cx="5029200" cy="4095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FBA66-144C-4DB8-A5C5-53E66CB1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3342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HOGARES MODERNOS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59CB0-0ACB-427C-9A45-6F80495F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Energía eficiente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DF327-1E2E-4AE6-B3EE-9D2A28F312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7a5d1021d45bc"/>
          <a:srcRect xmlns:a="http://schemas.openxmlformats.org/drawingml/2006/main" l="9070" t="0" r="90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400" y="2762250"/>
            <a:ext cx="5029200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FF1EE-97E3-4DA8-8EDA-7771EC1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3342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PEQUEÑOS NEGOCIOS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3A450-C9C1-46B8-91D1-B7775D30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8382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Ahorro energético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C327B-79AE-46F3-BD31-7383F458E5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b5e4d585549dd"/>
          <a:srcRect xmlns:a="http://schemas.openxmlformats.org/drawingml/2006/main" l="9036" t="0" r="90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0" y="2762250"/>
            <a:ext cx="5029200" cy="4095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EB16C-8B33-4D64-B969-D942354C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334250"/>
            <a:ext cx="5048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ADMINISTRADORES DE ESPACIOS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E1BDF-36C1-4D8C-BFE9-8F917C31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382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Gestión centralizada</a:t>
            </a:r>
          </a:p>
        </p:txBody>
      </p:sp>
    </p:spTree>
    <p:extLst>
      <p:ext uri="{BB962C8B-B14F-4D97-AF65-F5344CB8AC3E}">
        <p14:creationId xmlns:p14="http://schemas.microsoft.com/office/powerpoint/2010/main" val="15382700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B306A-9D21-4230-88D8-624B81CD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Producto base para AV2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5CB58D-049E-4C61-A47F-EF0CA3E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37D979-E69A-4823-A3DB-9E94674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DASHBOARD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D4663-E452-46EE-8947-287C7FE1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El dashboard proporcionará un resumen claro del consumo energético, mostrando indicadores claves y tendencias, lo que permitirá a los usuarios tomar decisiones informadas.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67ED6-90BF-4CE3-818E-20FA0E54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A6150-7B98-436C-8CB4-4FCB4852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AUTENTICACIÓN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531D1D-7821-4B4E-8B51-0861717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9975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El sistema de autenticación incluirá procesos de login, registro y recuperación de contraseñas, asegurando una experiencia de usuario fluida y segura desde el inicio.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2B290-B77C-43F2-85EE-71881FE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19750"/>
            <a:ext cx="752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14CC7-A3BD-4357-B4B3-B06A1A0B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1436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LANDING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BEF8B-9CD3-493D-AC42-1A490B66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9610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La landing page se diseñará para captar la atención del usuario, enfatizando la importancia del consumo energético y facilitando el acceso inicial a la plataforma.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DFD36A-8BB3-4DDF-BDBF-B2D278F9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43625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API DOCUMENTADA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5A406-FC2F-4363-99E7-D41D292D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896100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La API documentada ofrecerá un inventario detallado de todos los endpoints, facilitando la integración con sistemas externos y garantizando una comunicación eficiente entre componentes.</a:t>
            </a:r>
          </a:p>
        </p:txBody>
      </p:sp>
    </p:spTree>
    <p:extLst>
      <p:ext uri="{BB962C8B-B14F-4D97-AF65-F5344CB8AC3E}">
        <p14:creationId xmlns:p14="http://schemas.microsoft.com/office/powerpoint/2010/main" val="11205057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9F37C0-C997-42AF-B996-00A43471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Módulos de EnergyCore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74B443-B819-4343-AB4F-D20DEDE2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5423F-BA39-43E9-ADD6-E3B3FEAB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SEDES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E06EF-6DBC-41D5-B24D-73EDE1CC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Las sedes permiten organizar el consumo energético en diferentes ubicaciones físicas.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A86B9A-D41F-46F8-92BD-EEF779D5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962D1-4732-48C9-8AC2-E4F2A549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AMBIENTES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5651A-1DE0-4CED-94F1-27BE3379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Los ambientes son configuraciones específicas que optimizan el uso de energía en cada espacio.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1CD6FB-A829-4E16-932E-E1AA867F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95875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CCC00-7DC7-416E-B6F3-86FC3508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6257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DISPOSITIVOS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DE8F4-E0CA-442D-A1C9-E3E0CB8A9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62575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Los dispositivos se integran para monitorear y controlar el consumo energético en tiempo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FDCCB2-26ED-4622-975A-DFA2956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19850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A69D8-AED5-43A3-84EE-A8CC6233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86550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GRUPOS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5BBD4-4329-4EFA-97C2-BDD6E01B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686550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Los grupos facilitan la gestión de dispositivos y usuarios bajo una misma categoría.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87889-09AE-4F94-9AC9-C9B81920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743825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475E0A-3063-428E-9A2C-A4F9B35B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10525"/>
            <a:ext cx="4238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4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ALERTAS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C2E35-F58F-49FE-B896-317B2D0E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10525"/>
            <a:ext cx="1123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Las alertas notifican a los usuarios sobre anomalías o cambios significativos en el consumo energético.</a:t>
            </a:r>
          </a:p>
        </p:txBody>
      </p:sp>
    </p:spTree>
    <p:extLst>
      <p:ext uri="{BB962C8B-B14F-4D97-AF65-F5344CB8AC3E}">
        <p14:creationId xmlns:p14="http://schemas.microsoft.com/office/powerpoint/2010/main" val="2088240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9AF27-257C-4BF7-A490-7B6824C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Product Backlog refinado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B0EDA-E8F6-4A23-ABC5-0521825D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Historias divididas por resultado verificable · máximo 5 Story 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94AEF-D111-461C-9CAC-F62E62F6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B797-FEFE-46E9-BECA-EE47F43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IDENTIDAD Y ESPACIOS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2C330-0255-4C4F-ADC2-15DBED257A7A}"/>
              </a:ext>
            </a:extLst>
          </p:cNvPr>
          <p:cNvGraphicFramePr/>
          <p:nvPr/>
        </p:nvGraphicFramePr>
        <p:xfrm>
          <a:off xmlns:a="http://schemas.openxmlformats.org/drawingml/2006/main" x="1066800" y="4095750"/>
          <a:ext xmlns:a="http://schemas.openxmlformats.org/drawingml/2006/main" cx="3714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23875"/>
              </a:tblGrid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US-02 · Registro/login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US-03 · Recuperación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3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US-04A · Sedes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US-04B · Habitaciones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3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DF568-75A6-4AA2-9075-90266FF1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48000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CONTROL Y ENERGÍA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86860-0CA7-4540-B6DA-AD38D7274EEB}"/>
              </a:ext>
            </a:extLst>
          </p:cNvPr>
          <p:cNvGraphicFramePr/>
          <p:nvPr/>
        </p:nvGraphicFramePr>
        <p:xfrm>
          <a:off xmlns:a="http://schemas.openxmlformats.org/drawingml/2006/main" x="5162550" y="4095750"/>
          <a:ext xmlns:a="http://schemas.openxmlformats.org/drawingml/2006/main" cx="3714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23875"/>
              </a:tblGrid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US-05 · Vinculación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US-06 · Control remoto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US-10A · Dashboard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US-10B · Histórico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3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900783-FCB5-4EF0-916C-1FF2131E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48000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AUTOMATIZACIÓN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A2241-CAB7-4767-8A4B-0C9AE2668087}"/>
              </a:ext>
            </a:extLst>
          </p:cNvPr>
          <p:cNvGraphicFramePr/>
          <p:nvPr/>
        </p:nvGraphicFramePr>
        <p:xfrm>
          <a:off xmlns:a="http://schemas.openxmlformats.org/drawingml/2006/main" x="9258300" y="4095750"/>
          <a:ext xmlns:a="http://schemas.openxmlformats.org/drawingml/2006/main" cx="3714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23875"/>
              </a:tblGrid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US-07 · Grupos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US-08 · Rutinas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US-11A · Reglas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US-11B · Preferencias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3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3E5C7-B8E1-441E-9500-A59BE4C3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048000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VALOR Y SOPORTE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0280B-AA07-479E-B4B5-69E85C24D2DB}"/>
              </a:ext>
            </a:extLst>
          </p:cNvPr>
          <p:cNvGraphicFramePr/>
          <p:nvPr/>
        </p:nvGraphicFramePr>
        <p:xfrm>
          <a:off xmlns:a="http://schemas.openxmlformats.org/drawingml/2006/main" x="13354050" y="4095750"/>
          <a:ext xmlns:a="http://schemas.openxmlformats.org/drawingml/2006/main" cx="3714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523875"/>
              </a:tblGrid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US-12A · Metas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US-12B · Reportes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US-16A · Planes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3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  <a:tr h="833438">
                <a:tc>
                  <a:txBody>
                    <a:bodyPr lIns="76200" tIns="76200" rIns="76200" bIns="76200"/>
                    <a:lstStyle/>
                    <a:p>
                      <a:r>
                        <a:rPr sz="2175" b="0">
                          <a:solidFill>
                            <a:srgbClr val="50655B"/>
                          </a:solidFill>
                          <a:latin typeface="DM Sans"/>
                          <a:ea typeface="DM Sans"/>
                          <a:cs typeface="DM Sans"/>
                        </a:rPr>
                        <a:t>US-16B · Suscripción</a:t>
                      </a:r>
                    </a:p>
                  </a:txBody>
                  <a:tcPr marL="91440" marR="91440" marT="45720" marB="45720">
                    <a:lnL w="0">
                      <a:noFill/>
                    </a:lnL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2175" b="1">
                          <a:solidFill>
                            <a:srgbClr val="143F36"/>
                          </a:solidFill>
                          <a:latin typeface="DM Sans"/>
                          <a:ea typeface="DM Sans"/>
                          <a:cs typeface="DM Sans"/>
                        </a:rPr>
                        <a:t>5</a:t>
                      </a:r>
                    </a:p>
                  </a:txBody>
                  <a:tcPr marL="91440" marR="91440" marT="45720" marB="45720">
                    <a:lnR w="0">
                      <a:noFill/>
                    </a:lnR>
                    <a:lnB w="0">
                      <a:noFill/>
                    </a:lnB>
                    <a:solidFill>
                      <a:srgbClr val="F7F8F3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66C88-1001-4B04-9F8D-AA5A4C87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0"/>
            <a:ext cx="1581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Refinamiento aplicado: las historias grandes se dividieron por resultado verificable. El total se conserva como estimación relativa del alcance.</a:t>
            </a:r>
          </a:p>
        </p:txBody>
      </p:sp>
    </p:spTree>
    <p:extLst>
      <p:ext uri="{BB962C8B-B14F-4D97-AF65-F5344CB8AC3E}">
        <p14:creationId xmlns:p14="http://schemas.microsoft.com/office/powerpoint/2010/main" val="13237959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9779A-0595-450A-B344-35789356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Arquitectura del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D61E7-38BC-4518-8337-37F40EC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Integración efectiva de APIs y bases de datos para EnergyCore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D103F-D179-4F76-8D48-7DF8B03D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60DAC-38EB-4697-A6B2-2CC78814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7381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7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Spring Boot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FB165-A374-4DBA-91D5-32403014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7381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36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Neon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BA5C0-E181-485C-869A-9AEDFF54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7239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Website, WebApp y Mobile consumen una única API Spring Boot. La persistencia se centraliza en Neon PostgreSQL para mantener una sola fuente de datos del producto.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FA16F-2B63-443A-9A18-5C54C7343D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916e24ebf496a"/>
          <a:srcRect xmlns:a="http://schemas.openxmlformats.org/drawingml/2006/main" l="0" t="21842" r="0" b="218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857500"/>
            <a:ext cx="7600950" cy="28575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2D008-C14F-423D-A615-AB844E2077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905adcc4a49a8"/>
          <a:srcRect xmlns:a="http://schemas.openxmlformats.org/drawingml/2006/main" l="0" t="16585" r="0" b="16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6000750"/>
            <a:ext cx="760095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481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3EDEEA-EF52-4C4A-9D35-7F90B6E3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Base de datos visible y trazable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59FF8-577A-4C1B-BEA6-A9073FDA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PostgreSQL · Neon · Modelo relacional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3DA507-6853-4260-9F6C-3DC0AA55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5C845-AB94-4101-98B9-F98ACEFD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25915-E83F-4E43-8542-2439EE20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91D61-C8FE-42EB-9C96-41E42D6A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2912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id · email · password_hash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6C838-6D69-4190-B588-E1F3AA9E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05250"/>
            <a:ext cx="657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1 →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9D736-55D9-4F0F-A3AB-C5F84C61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7132F-E5CC-4A59-8128-BB37B791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338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WORKPLACE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896D8-8570-4588-A2F8-58E3DE15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2912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id · owner_id · name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2C9D7B-54EA-4FFE-84C8-7D7975A1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905250"/>
            <a:ext cx="657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1 → 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77F96-B63E-4D71-BB4F-160E2694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CA6CB-15DC-413A-BB1B-4E739045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ROOM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64A91-FB99-45FA-9DE5-4DDA42A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2912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id · workplace_id · name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626C3-B8FE-42AB-BFB6-A51CB9F2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905250"/>
            <a:ext cx="657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1 → 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0B444-5AD2-4436-9C3A-DB63B1B1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4290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F8AB7E-960B-4530-B903-5FD1CD28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7338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DEVICE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B2C16C-51A9-43FF-9A25-0119819C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2912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id · room_id ·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FDFFF-B408-4A47-AB83-175F3F38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3905250"/>
            <a:ext cx="6572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1 → 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11958-9AC9-4DF5-862F-79660B7B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429000"/>
            <a:ext cx="26670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38EAB-E7E4-46AE-9634-E4E24918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3733800"/>
            <a:ext cx="2266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ENERGY_SAMPLE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1F0ED-7947-478A-B00D-9573A854B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7550" y="4429125"/>
            <a:ext cx="2238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id · device_id · watts · timestamp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640C4F-2CD6-408A-8419-48C0A16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429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0BF6E-21F2-4CDD-942B-D1C0790C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7056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0EC46F-B98B-4DD3-A3C3-6901FDF6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73723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id · user_id · schedule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9D7E4E-9A86-4491-8D91-6E559239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429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BB0BE-8D9B-44EB-951A-0F977160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7056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ALERT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26418D-CA5C-438D-BD11-D6D0D971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3723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id · user_id · severity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377992-5819-41CB-97A7-4E3C35AA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429375"/>
            <a:ext cx="4000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8F22C-EC70-41CC-B518-A779CE4F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6705600"/>
            <a:ext cx="3524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GOAL_REPORT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556826-09C4-436B-9A86-7141C665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7372350"/>
            <a:ext cx="3476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goal · report · period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04F491-D5A5-42D8-9E22-5CA67DC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15375"/>
            <a:ext cx="1571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Una sola fuente de datos para WebApp y Flutter mediante la API Spring Boot. La evidencia pública verifica persistencia entre revisiones.</a:t>
            </a:r>
          </a:p>
        </p:txBody>
      </p:sp>
    </p:spTree>
    <p:extLst>
      <p:ext uri="{BB962C8B-B14F-4D97-AF65-F5344CB8AC3E}">
        <p14:creationId xmlns:p14="http://schemas.microsoft.com/office/powerpoint/2010/main" val="10126081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CDF63-E8F4-436D-9F89-69CA0DF4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Página de Aterrizaje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10D8B-0C33-49F1-B85C-B68A47F0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AB1DA-0F0A-48D8-BCBD-7E1B6607E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1d26dfb574fed"/>
          <a:stretch xmlns:a="http://schemas.openxmlformats.org/drawingml/2006/main"/>
        </p:blipFill>
        <p:spPr>
          <a:xfrm xmlns:a="http://schemas.openxmlformats.org/drawingml/2006/main">
            <a:off x="2905125" y="2651150"/>
            <a:ext cx="12477750" cy="7023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333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C0CBC-D1CC-469E-8F1D-9840491F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Acceso web y Android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5A289-E6A7-444A-A779-3923C2B0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ADA9B-EC48-49B3-BD5B-54CD1F03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Angular · navegador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9A9EA-15FA-42CC-A9E8-77C7DC192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08990104e404b"/>
          <a:stretch xmlns:a="http://schemas.openxmlformats.org/drawingml/2006/main"/>
        </p:blipFill>
        <p:spPr>
          <a:xfrm xmlns:a="http://schemas.openxmlformats.org/drawingml/2006/main">
            <a:off x="1769921" y="3286125"/>
            <a:ext cx="8880758" cy="57626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3D8BD-F292-478C-8538-AD9B28C84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1737c9626483c"/>
          <a:stretch xmlns:a="http://schemas.openxmlformats.org/drawingml/2006/main"/>
        </p:blipFill>
        <p:spPr>
          <a:xfrm xmlns:a="http://schemas.openxmlformats.org/drawingml/2006/main">
            <a:off x="12668250" y="2571750"/>
            <a:ext cx="3000375" cy="6667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A390B-8E35-4EED-825B-EFE1ED0B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002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Flutter · Android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B73A3-7E16-41C9-BD49-C89ADB52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9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Ejecución local con datos de demostración.</a:t>
            </a:r>
          </a:p>
        </p:txBody>
      </p:sp>
    </p:spTree>
    <p:extLst>
      <p:ext uri="{BB962C8B-B14F-4D97-AF65-F5344CB8AC3E}">
        <p14:creationId xmlns:p14="http://schemas.microsoft.com/office/powerpoint/2010/main" val="11486048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6E2DB-90B3-4BC5-9307-0621A0F1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Dashboard energético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033E4-000A-4237-B718-41B9E8CA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C47E8-C893-4EEC-A8FA-A3531A2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54292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Consumo diario, tendencias e indicadores de la aplicación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Angular → Spring Boot →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Ejecución local real con datos de demostración; no son mediciones físicas ni evidencia de producción.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F00D4-A39C-4BA3-98AB-96781D0DDC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70439bde4c40c0"/>
          <a:stretch xmlns:a="http://schemas.openxmlformats.org/drawingml/2006/main"/>
        </p:blipFill>
        <p:spPr>
          <a:xfrm xmlns:a="http://schemas.openxmlformats.org/drawingml/2006/main">
            <a:off x="8648700" y="2428890"/>
            <a:ext cx="8572500" cy="4438811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CBFEC-C1FB-4384-A562-13B4816D3F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2fa3450104642"/>
          <a:stretch xmlns:a="http://schemas.openxmlformats.org/drawingml/2006/main"/>
        </p:blipFill>
        <p:spPr>
          <a:xfrm xmlns:a="http://schemas.openxmlformats.org/drawingml/2006/main">
            <a:off x="8648700" y="7105666"/>
            <a:ext cx="8572500" cy="24555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882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1DF62-B439-4120-9F41-CE1EB85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EnergyCore en Android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D7302-13A8-448C-B47C-1A5271E6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5FBB5-AF26-4C1E-9ED1-9224414E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90875"/>
            <a:ext cx="5000625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Flutter conectado a la API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Potencia por habitación verificada: 1370 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Datos de demostración; no son mediciones físicas ni evidencia de producción.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021010-3EB8-46A6-A0F9-18036185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09625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Inicio → consumo → dispositivos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15F4B-F57A-4E6B-9DAC-F80F52EE3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cc0c8accb48fb"/>
          <a:stretch xmlns:a="http://schemas.openxmlformats.org/drawingml/2006/main"/>
        </p:blipFill>
        <p:spPr>
          <a:xfrm xmlns:a="http://schemas.openxmlformats.org/drawingml/2006/main">
            <a:off x="7001113" y="2667000"/>
            <a:ext cx="3047524" cy="6772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E8D75-F851-46AA-B0A6-D31B13B354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8f433a02d448c"/>
          <a:stretch xmlns:a="http://schemas.openxmlformats.org/drawingml/2006/main"/>
        </p:blipFill>
        <p:spPr>
          <a:xfrm xmlns:a="http://schemas.openxmlformats.org/drawingml/2006/main">
            <a:off x="10430113" y="2667000"/>
            <a:ext cx="3047524" cy="67722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333E2-1275-4B81-8043-B9C158D61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b2289bcad43f5"/>
          <a:stretch xmlns:a="http://schemas.openxmlformats.org/drawingml/2006/main"/>
        </p:blipFill>
        <p:spPr>
          <a:xfrm xmlns:a="http://schemas.openxmlformats.org/drawingml/2006/main">
            <a:off x="13859113" y="2667000"/>
            <a:ext cx="3047524" cy="6772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34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80E51-4F5D-4AAD-BE3C-D1DC5705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API real · Swagger / OpenAPI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618CE-4552-47E6-B0E9-4603472A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773F3-869D-49A4-953F-A4632C60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8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8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3C720-F885-469B-9D5B-0EA0EB57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OPERACIONES REST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41256-4BBF-4993-888B-5A8DB5BF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Contrato OpenAPI 3.1.0 organizado por dominio.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7BA99-B80A-4118-8DDA-B7353982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485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2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Endpoints reales de consumo y monitoreo.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2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Spring Boot + PostgreSQL local.</a:t>
            </a:r>
          </a:p>
          <a:p xmlns:a="http://schemas.openxmlformats.org/drawingml/2006/main">
            <a:pPr>
              <a:defRPr sz="22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2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Datos de demostración; sin evidencia de producción.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05411-9A64-4A0E-BA42-548383D61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d491044b64a6a"/>
          <a:stretch xmlns:a="http://schemas.openxmlformats.org/drawingml/2006/main"/>
        </p:blipFill>
        <p:spPr>
          <a:xfrm xmlns:a="http://schemas.openxmlformats.org/drawingml/2006/main">
            <a:off x="9601200" y="2381250"/>
            <a:ext cx="7620000" cy="4762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E72BE-AE77-4485-A2A5-AB75C6C1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3342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ENERGY MONITORING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BD21F-00ED-463E-884C-284D3DAFD7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6771acc094b69"/>
          <a:stretch xmlns:a="http://schemas.openxmlformats.org/drawingml/2006/main"/>
        </p:blipFill>
        <p:spPr>
          <a:xfrm xmlns:a="http://schemas.openxmlformats.org/drawingml/2006/main">
            <a:off x="9601266" y="7762875"/>
            <a:ext cx="7619867" cy="17866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2019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504DB5-EF2F-43F0-999A-A1E1DC21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Pruebas y CI/CD por cada commit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89317-C311-4E1C-BAF6-BE20B004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GitHub Actions · Cinco repositorios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87E7E-BDC5-4682-A60B-F73CA0C2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A5C1AF"/>
                </a:solidFill>
                <a:latin typeface="DM Sans"/>
                <a:ea typeface="DM Sans"/>
                <a:cs typeface="DM Sans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56DA2-08CD-4324-9036-F52A685F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DBF6A-94C4-4ADE-AE5F-BB35FB7C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CHECKOUT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2C3A2-80D1-4DAC-90A9-B4FCDC14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Código y lockfiles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FC15B0-CF46-4402-932F-52E6F4C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48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2EA16-AC2D-416B-B875-2C7E978C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9814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ANÁLISIS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B257C-DAAE-4789-BDF1-304366D0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01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Java · TypeScript · Dart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329FD-FD1C-4A26-8074-F16C1323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48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86DAC-50FC-4F97-853B-DE32B73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814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PRUEBAS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E6838-D7BB-4DDF-9D38-7A5EBF0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101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Unitarias · integración · BDD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74814-032D-41C6-B30A-FEDC17B8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48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FCA565-042A-4080-847C-559FD873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814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C206A-8B4F-48A9-A264-625BE68B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JAR · dist · APK · documentos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C28FF-038C-4BAD-869B-2FA2F85E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048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3D54A-0A28-471E-A3CA-61D8AF1B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981450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ARTEFACTOS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EC1FF-7CF9-496D-A889-FEC278BF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8101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SHA y reportes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E9C258-0AB2-4171-8235-DFD98911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477000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16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0A09D0-97EC-46F8-A26B-BCD70B1F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00875"/>
            <a:ext cx="366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630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6C0C7-9068-496F-832D-C2A6EED4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239125"/>
            <a:ext cx="366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pruebas JUnit aprobadas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A3E8C6-D654-45CB-B88B-09C74E1A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000875"/>
            <a:ext cx="366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630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60/60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6370D-8E92-479B-AF25-83E25DC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8239125"/>
            <a:ext cx="366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escenarios BDD aprobados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07071-D829-4B0E-A24C-E9B09E4A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000875"/>
            <a:ext cx="366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630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5/5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B433B7-B49F-4967-BE5E-4EA0CB81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8239125"/>
            <a:ext cx="366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workflows CI configurados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8A4D2-758E-4FC8-9B5D-24D25543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7000875"/>
            <a:ext cx="366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6300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109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8729F7-9034-4F74-BED9-12ED54CF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8239125"/>
            <a:ext cx="3667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pruebas de producto aprobadas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260489-9608-459E-9769-C4420ED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382125"/>
            <a:ext cx="1524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Línea base del 05/10/2026: 88 backend + 5 web + 5 landing + 11 Flutter. CI consultado el 21/10/2026.</a:t>
            </a:r>
          </a:p>
        </p:txBody>
      </p:sp>
    </p:spTree>
    <p:extLst>
      <p:ext uri="{BB962C8B-B14F-4D97-AF65-F5344CB8AC3E}">
        <p14:creationId xmlns:p14="http://schemas.microsoft.com/office/powerpoint/2010/main" val="12886708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DD21A-68EE-422E-B053-1C78021C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GitFlow y GitHub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74587-DA74-4CA1-A6DD-81970644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2AA80-BB14-46AF-9870-E631C5EA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main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F19C8-E519-4698-A444-012E6929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RAMIFICACIÓN 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2A1DE-44AD-446E-8C36-F5A30858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62625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La rama main es la base del proyecto, donde el código más estable se despliega y se mantiene. Es esencial para asegurar la calidad del producto final.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3FC9C-B609-45AE-90BE-1A916503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4325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develop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8EB30-DDF9-428D-93AA-402A943B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7675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DESARROLLO CONTINUO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B3A0BF-273C-432C-97A4-D85E5BE2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762625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La rama develop permite la integración continua de nuevas características y correcciones. Facilita la colaboración entre los desarrolladores y el avance del proyecto de manera organizada.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C5BEF-BB1E-41A7-9124-0A0CA29B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314325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0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0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5 repositorios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8C1A4-6A43-4B5E-B957-23CE4A0D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4476750"/>
            <a:ext cx="5048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025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REPOSITORIOS PÚBLICOS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92459-3E98-4FCA-AEC8-48DCFADA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762625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Se han creado cinco repositorios públicos para el proyecto, lo que permite a otros usuarios acceder, contribuir y revisar el código, promoviendo la transparencia y la colaboración.</a:t>
            </a:r>
          </a:p>
        </p:txBody>
      </p:sp>
    </p:spTree>
    <p:extLst>
      <p:ext uri="{BB962C8B-B14F-4D97-AF65-F5344CB8AC3E}">
        <p14:creationId xmlns:p14="http://schemas.microsoft.com/office/powerpoint/2010/main" val="8841549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A66DA-8CD3-4531-9BF7-BB278F51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Calidad y 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0D2B9-BE29-4F72-84C2-09C1B0E7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5463E-DA52-464E-99E1-E446D7E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PRUEBAS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798CDC-E8D2-41DB-A068-FA013F80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733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9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88 pruebas backend aprobadas: 28 JUnit y 60 escenarios Cucumber.</a:t>
            </a:r>
          </a:p>
          <a:p xmlns:a="http://schemas.openxmlformats.org/drawingml/2006/main">
            <a: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9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CI del mismo commit consultado el 21/10/2026; no se presenta como una nueva ejecución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44042-130B-45B1-BD7F-C5E55DE0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733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PREPARACIÓN EN LA NUBE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80603-D21E-44FA-9C1B-4FE625D3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71975"/>
            <a:ext cx="733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9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Cloud Run, Firebase Hosting y Neon PostgreSQL están desplegados. Health, OpenAPI, registro, login, CORS y persistencia fueron verificados en el entorno público.</a:t>
            </a:r>
          </a:p>
        </p:txBody>
      </p:sp>
    </p:spTree>
    <p:extLst>
      <p:ext uri="{BB962C8B-B14F-4D97-AF65-F5344CB8AC3E}">
        <p14:creationId xmlns:p14="http://schemas.microsoft.com/office/powerpoint/2010/main" val="9891168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EF57D-F1B8-4810-A971-324EF886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Despliegue público verificado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AC4F8-8B35-406B-8452-98CCAD52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52625"/>
            <a:ext cx="1609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CLOUD RUN · FIREBASE HOSTING · NEON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91A02-7E4A-4AF4-BA5F-0EF8BEA1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67B14-3385-45CA-B3B5-4DF4B5FD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WEB 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F037A-1314-4411-861E-A90CED8C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9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Firebase Hosting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5F24C-CE96-4F78-8112-B5AF5831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52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850" b="0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university-energycorp.web.app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2A131-2F79-41E2-94CD-AFBF02B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3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Rutas SPA y acceso público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EA7F7-3C17-4E75-9265-03ED43C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41433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VERIFICADO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D88FA-4B86-4C22-AAAD-3FBF0097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3A30A-053B-4080-9D64-BF4E6AD8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RESTFUL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A608F-D803-46B7-BB82-0AD87B2A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626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9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Google Cloud Run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0D535-E95C-4AD4-8316-1B001AAE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energycore-platform-ujdgb2zcpq-ue.a.run.app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83529D-EBB7-44C7-B4CD-14EA4A6A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3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Health, OpenAPI, registro, login y CORS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C011B-B187-4A10-8BCF-CAEABF5D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609600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VERIFICADO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D1F64-142C-4DCB-98E8-04D854F7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600825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D66CC-23C7-4FA6-90B9-17E56FC0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0"/>
            <a:ext cx="433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BASE DE DATOS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85DDB-D714-470B-AF1E-AED69DE1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515225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92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Neon 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77AEDC-A761-461D-B16A-AC3B5AC3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8580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850" b="0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Persistencia entre revisiones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143602-ACA1-4BF3-8A58-D95A80F1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667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3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Mismo usuario y marcador recuperados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E5F38-25FA-46BB-822D-078A8E1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0" y="80486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1875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VERIFICADO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D73EF-3F5F-4AA9-B2C2-11DA707B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05900"/>
            <a:ext cx="1524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0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Una sola API y una sola base de datos conectan la aplicación web y Flutter con trazabilidad del despliegue.</a:t>
            </a:r>
          </a:p>
        </p:txBody>
      </p:sp>
    </p:spTree>
    <p:extLst>
      <p:ext uri="{BB962C8B-B14F-4D97-AF65-F5344CB8AC3E}">
        <p14:creationId xmlns:p14="http://schemas.microsoft.com/office/powerpoint/2010/main" val="16807706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051D6-0668-4CEE-8CEF-485D28D7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Revisión técnica trazable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D90B8-7E8A-4959-8AE0-ABAD5A6C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A57A1-C2AC-4476-83C7-AD53713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CI Y REVISIONES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0C067-E864-4F34-BBE2-E5CAB89F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5750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6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Últimas ejecuciones consultadas: cinco repositorios con resultado success. Los cuatro repositorios del producto coinciden con su commit local.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C95F40-B9DB-4FAC-9E0F-A250218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175FE-8030-4E16-8E06-63BC24EB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86325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HALLAZGOS CONCRETOS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E848C-2322-4789-9C81-07E33CC9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86325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6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Producción conserva ddl-auto=update y un origen localhost en el CORS predeterminado. Son observaciones abiertas, no correcciones desplegadas.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C926E-854D-4E15-B665-A373EA74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43675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3C040-E499-420A-9AAC-2E682312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151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ALCANCE DE LA REVISIÓN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4770F-7527-4E9A-8695-783D948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915150"/>
            <a:ext cx="10477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6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Inspección automática del código. La aprobación humana por pares y la auditoría de otro grupo no se sustituyen con esta revisión.</a:t>
            </a:r>
          </a:p>
        </p:txBody>
      </p:sp>
    </p:spTree>
    <p:extLst>
      <p:ext uri="{BB962C8B-B14F-4D97-AF65-F5344CB8AC3E}">
        <p14:creationId xmlns:p14="http://schemas.microsoft.com/office/powerpoint/2010/main" val="165136733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1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C66E1-3D98-490C-86FB-03C98ECC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Monitoreo reproducible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CC836-4285-4F6C-8A88-9E705A46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A5C1AF"/>
                </a:solidFill>
                <a:latin typeface="DM Sans"/>
                <a:ea typeface="DM Sans"/>
                <a:cs typeface="DM San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01E12-D745-40C2-9181-1A727DB8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5810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08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10875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200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1DD21-3207-4B3C-803C-469E2ED4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8577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0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API health, OpenAPI y Web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A02CA-CF9A-4402-9C48-B05F750B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2865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Comprobación pública del 21/10/2026.</a:t>
            </a:r>
          </a:p>
          <a:p xmlns:a="http://schemas.openxmlformats.org/drawingml/2006/main">
            <a:pPr>
              <a:defRPr sz="24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4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Solo solicitudes de lectura, sin cuentas ni datos personales.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88913-7C18-4DB1-8D45-C4240787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48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DETECCIÓN Y EVIDENCIA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98866-5A26-4361-A29B-805B7D0E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00475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El monitor valida status UP, contrato OpenAPI y HTML; termina con fallo ante una respuesta incorrecta y guarda JSON.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6A265-0FD7-4E4F-8E5A-E6A0C107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6477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AUTOMATIZACIÓN ACTIVA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6D00D-FD8F-46B9-881B-3436291F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7229475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Workflow activo en main, programado cada 6 horas y con ejecución remota aprobada. No se afirma un SLA medido.</a:t>
            </a:r>
          </a:p>
        </p:txBody>
      </p:sp>
    </p:spTree>
    <p:extLst>
      <p:ext uri="{BB962C8B-B14F-4D97-AF65-F5344CB8AC3E}">
        <p14:creationId xmlns:p14="http://schemas.microsoft.com/office/powerpoint/2010/main" val="6907795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E8A8C-BB32-47B8-9133-34B92B86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48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Pregunta e hipótesis experimental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24C160-BF22-4D78-9B49-34143380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26463-7382-437E-9BA4-56C49EC3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609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¿Una recomendación con causa y acción ayuda a identificar un consumo anómalo y decidir qué hacer?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DDC6E-36F8-49F9-B048-8E78BDE1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615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AD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EBDC3-C840-4871-8D74-D612B75D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86500"/>
            <a:ext cx="747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COMPARACIÓN PROPUESTA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F8CDF-31E3-475F-9BDD-D41F3A20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038975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Control: dashboard actual. Tratamiento: recomendación accionable con explicación, impacto y confirmación segura.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EEB40-CDC8-4F98-9096-DBD25AEF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747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HIPÓTESIS POR CONTRASTAR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A7EB1-C0B7-4C1D-A451-47DB20C2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038975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El tratamiento reduce el tiempo de la tarea sin aumentar errores. No se afirma ahorro energético ni una mejora ya demostrada.</a:t>
            </a:r>
          </a:p>
        </p:txBody>
      </p:sp>
    </p:spTree>
    <p:extLst>
      <p:ext uri="{BB962C8B-B14F-4D97-AF65-F5344CB8AC3E}">
        <p14:creationId xmlns:p14="http://schemas.microsoft.com/office/powerpoint/2010/main" val="152504733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8E4F2-5C0A-4DAE-A262-ED00335E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Diseño y medición propuestos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4CBDD1-9416-4449-8D21-FE1C6D8A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5F133-F9B5-403F-80A9-3CF92AD8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08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108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A54C2-9A57-42B0-8953-7C7F34E4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530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8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38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participantes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92229-A5DD-4817-8990-1C6252D3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048375"/>
            <a:ext cx="533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0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PILOTO PROPUESTO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3EF44-8896-4323-B779-C56EF02B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7000875"/>
            <a:ext cx="5334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325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24 participantes para depurar tareas y estimar parámetros. La muestra confirmatoria depende de variabilidad y efecto mínimo.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86186-B2C8-4320-B9DF-76F9B20D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8B3D1C-2142-4DE0-A995-3093F008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00475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Tiempo de tarea, éxito y errores. Registrar variante, plataforma, segmento y experiencia previa sin identificar a la persona.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2825D-CBE2-4929-9258-6EC4C0D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77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CONTROL Y ÉTICA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B7260-D482-43C0-AAA0-29C01D30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229475"/>
            <a:ext cx="857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Mismas tareas y datos semilla; asignación consistente; consentimiento, minimización de datos y detención ante riesgo.</a:t>
            </a:r>
          </a:p>
        </p:txBody>
      </p:sp>
    </p:spTree>
    <p:extLst>
      <p:ext uri="{BB962C8B-B14F-4D97-AF65-F5344CB8AC3E}">
        <p14:creationId xmlns:p14="http://schemas.microsoft.com/office/powerpoint/2010/main" val="11275065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76EB1-7650-48AF-BA97-60B5741B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To-Be Product 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C1B3F-26B9-4064-B335-A275CE6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B7B72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6B7B72"/>
                </a:solidFill>
                <a:latin typeface="DM Sans"/>
                <a:ea typeface="DM Sans"/>
                <a:cs typeface="DM San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03178-9AB1-4F6A-9DD1-14AA902A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352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79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48391-9402-4DB3-9AF9-F4A5B0BB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HISTORIAS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73479-9FC0-4161-9F63-34106312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3524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7950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7950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F4F19-A731-44EC-AEE6-8F8200FD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0530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250" b="1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STORY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C7B01-4B2B-4C52-B4AB-8AFEAED3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72125"/>
            <a:ext cx="733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Historias de explicación, acción segura, alcance, recuperación, idempotencia y frescura; tareas técnicas de asignación y eventos.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41F1B-5E76-4DC9-9C10-C30CEAAA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CRITERIOS DE ACEPTACIÓN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5C578-370C-4BD7-B0B6-FB10690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00475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Cada historia conserva su resultado verificable. Ninguna supera 5 SP; las estimaciones no equivalen a implementación terminada.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2734B-36EA-4CF4-AA61-59FC7C94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7700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defPPr>
            <a:lvl1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1pPr>
            <a:lvl2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2pPr>
            <a:lvl3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3pPr>
            <a:lvl4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4pPr>
            <a:lvl5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5pPr>
            <a:lvl6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6pPr>
            <a:lvl7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7pPr>
            <a:lvl8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8pPr>
            <a:lvl9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43F36"/>
                </a:solidFill>
                <a:latin typeface="DM Sans"/>
                <a:ea typeface="DM Sans"/>
                <a:cs typeface="DM Sans"/>
              </a:defRPr>
            </a:pPr>
            <a:r>
              <a:rPr sz="2175" b="1">
                <a:solidFill>
                  <a:srgbClr val="143F36"/>
                </a:solidFill>
                <a:latin typeface="DM Sans"/>
                <a:ea typeface="DM Sans"/>
                <a:cs typeface="DM Sans"/>
              </a:rPr>
              <a:t>PLANIFICACIÓN Y TRAZABILIDAD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92E1F-3316-4E82-9DD4-057825C3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229475"/>
            <a:ext cx="7620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defPPr>
            <a:lvl1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1pPr>
            <a:lvl2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2pPr>
            <a:lvl3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3pPr>
            <a:lvl4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4pPr>
            <a:lvl5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5pPr>
            <a:lvl6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6pPr>
            <a:lvl7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7pPr>
            <a:lvl8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8pPr>
            <a:lvl9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50655B"/>
                </a:solidFill>
                <a:latin typeface="DM Sans"/>
                <a:ea typeface="DM Sans"/>
                <a:cs typeface="DM Sans"/>
              </a:defRPr>
            </a:pPr>
            <a:r>
              <a:rPr sz="2400" b="0">
                <a:solidFill>
                  <a:srgbClr val="50655B"/>
                </a:solidFill>
                <a:latin typeface="DM Sans"/>
                <a:ea typeface="DM Sans"/>
                <a:cs typeface="DM Sans"/>
              </a:rPr>
              <a:t>Trello: energycore-product-backlog-y-sprint-planning. Reporte: 8.3.1 User Stories y 8.3.2 Product Backlog.</a:t>
            </a:r>
          </a:p>
        </p:txBody>
      </p:sp>
    </p:spTree>
    <p:extLst>
      <p:ext uri="{BB962C8B-B14F-4D97-AF65-F5344CB8AC3E}">
        <p14:creationId xmlns:p14="http://schemas.microsoft.com/office/powerpoint/2010/main" val="11348008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13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C4C19-5FCE-4D6E-A21F-2A5D2AA5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19150"/>
            <a:ext cx="1600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52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Contacto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8AF84-C4CA-47BA-8AA5-62242AEE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012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defPPr>
            <a:lvl1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1pPr>
            <a:lvl2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2pPr>
            <a:lvl3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3pPr>
            <a:lvl4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4pPr>
            <a:lvl5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5pPr>
            <a:lvl6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6pPr>
            <a:lvl7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7pPr>
            <a:lvl8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8pPr>
            <a:lvl9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C1AF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A5C1AF"/>
                </a:solidFill>
                <a:latin typeface="DM Sans"/>
                <a:ea typeface="DM Sans"/>
                <a:cs typeface="DM San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8890D-6074-4102-B189-2C0CDC66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1524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defPPr>
            <a:lvl1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1pPr>
            <a:lvl2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2pPr>
            <a:lvl3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3pPr>
            <a:lvl4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4pPr>
            <a:lvl5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5pPr>
            <a:lvl6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6pPr>
            <a:lvl7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7pPr>
            <a:lvl8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8pPr>
            <a:lvl9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87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87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EnergyCore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5B73E-897A-443E-9BF1-A495DB66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4668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352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352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Diseño de Experimentos de Ingeniería de Software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2DA36-3362-4A42-90AD-15E3AE4B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00875"/>
            <a:ext cx="1609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716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EF86F-A1D7-4702-9237-4207ECFC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6581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defPPr>
            <a:lvl1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1pPr>
            <a:lvl2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2pPr>
            <a:lvl3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3pPr>
            <a:lvl4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4pPr>
            <a:lvl5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5pPr>
            <a:lvl6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6pPr>
            <a:lvl7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7pPr>
            <a:lvl8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8pPr>
            <a:lvl9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C4E789"/>
                </a:solidFill>
                <a:latin typeface="DM Sans"/>
                <a:ea typeface="DM Sans"/>
                <a:cs typeface="DM Sans"/>
              </a:defRPr>
            </a:pPr>
            <a:r>
              <a:rPr sz="2925" b="1">
                <a:solidFill>
                  <a:srgbClr val="C4E789"/>
                </a:solidFill>
                <a:latin typeface="DM Sans"/>
                <a:ea typeface="DM Sans"/>
                <a:cs typeface="DM Sans"/>
              </a:rPr>
              <a:t>Alex Humberto Sánchez Ponce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DD12D-25C7-4505-A9FF-17FD774A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852487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DOCENTE · NRC 9100 · 7.º ciclo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111B32-E595-4408-9544-B87F3F7C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334500"/>
            <a:ext cx="1466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defPPr>
            <a:lvl1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1pPr>
            <a:lvl2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2pPr>
            <a:lvl3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3pPr>
            <a:lvl4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4pPr>
            <a:lvl5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5pPr>
            <a:lvl6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6pPr>
            <a:lvl7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7pPr>
            <a:lvl8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8pPr>
            <a:lvl9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AF0E4"/>
                </a:solidFill>
                <a:latin typeface="DM Sans"/>
                <a:ea typeface="DM Sans"/>
                <a:cs typeface="DM Sans"/>
              </a:defRPr>
            </a:pPr>
            <a:r>
              <a:rPr sz="1875" b="0">
                <a:solidFill>
                  <a:srgbClr val="EAF0E4"/>
                </a:solidFill>
                <a:latin typeface="DM Sans"/>
                <a:ea typeface="DM Sans"/>
                <a:cs typeface="DM Sans"/>
              </a:rPr>
              <a:t>UNIVERSIDAD PERUANA DE CIENCIAS APLICADAS</a:t>
            </a:r>
          </a:p>
        </p:txBody>
      </p:sp>
    </p:spTree>
    <p:extLst>
      <p:ext uri="{BB962C8B-B14F-4D97-AF65-F5344CB8AC3E}">
        <p14:creationId xmlns:p14="http://schemas.microsoft.com/office/powerpoint/2010/main" val="16258961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2026-10-21T08:19:33.9810000Z</dcterms:created>
  <dcterms:modified xsi:type="dcterms:W3CDTF">2026-10-21T08:19:33.9810000Z</dcterms:modified>
</coreProperties>
</file>