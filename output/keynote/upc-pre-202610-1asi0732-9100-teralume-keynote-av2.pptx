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c2bada74d8463b" /><Relationship Type="http://schemas.openxmlformats.org/officeDocument/2006/relationships/extended-properties" Target="/docProps/app.xml" Id="Rdf4b124b79ff4aac" /><Relationship Type="http://schemas.openxmlformats.org/officeDocument/2006/relationships/officeDocument" Target="/ppt/presentation.xml" Id="R19b7370db1e0429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9ef01697f144d0e"/>
  </p:sldMasterIdLst>
  <p:notesMasterIdLst>
    <p:notesMasterId xmlns:r="http://schemas.openxmlformats.org/officeDocument/2006/relationships" r:id="R3b10eb2405c442c2"/>
  </p:notesMasterIdLst>
  <p:sldIdLst>
    <p:sldId xmlns:r="http://schemas.openxmlformats.org/officeDocument/2006/relationships" id="256" r:id="Rdb7ae4c40ed44e66"/>
    <p:sldId xmlns:r="http://schemas.openxmlformats.org/officeDocument/2006/relationships" id="257" r:id="Re7a4181d6e074409"/>
    <p:sldId xmlns:r="http://schemas.openxmlformats.org/officeDocument/2006/relationships" id="258" r:id="Rff52307da6a94f69"/>
    <p:sldId xmlns:r="http://schemas.openxmlformats.org/officeDocument/2006/relationships" id="259" r:id="R12fb2e0be3a442ea"/>
    <p:sldId xmlns:r="http://schemas.openxmlformats.org/officeDocument/2006/relationships" id="260" r:id="R1bab7e85b8504262"/>
    <p:sldId xmlns:r="http://schemas.openxmlformats.org/officeDocument/2006/relationships" id="261" r:id="R5f91107e718d4edf"/>
    <p:sldId xmlns:r="http://schemas.openxmlformats.org/officeDocument/2006/relationships" id="262" r:id="R58eeb38848be4e9e"/>
    <p:sldId xmlns:r="http://schemas.openxmlformats.org/officeDocument/2006/relationships" id="263" r:id="R8e758a44737541b1"/>
    <p:sldId xmlns:r="http://schemas.openxmlformats.org/officeDocument/2006/relationships" id="264" r:id="Re14b34e7c03f4951"/>
    <p:sldId xmlns:r="http://schemas.openxmlformats.org/officeDocument/2006/relationships" id="265" r:id="Rd2990dc3b35e4215"/>
    <p:sldId xmlns:r="http://schemas.openxmlformats.org/officeDocument/2006/relationships" id="266" r:id="R8506d86a887246fc"/>
    <p:sldId xmlns:r="http://schemas.openxmlformats.org/officeDocument/2006/relationships" id="267" r:id="Re051fd86125f44bf"/>
    <p:sldId xmlns:r="http://schemas.openxmlformats.org/officeDocument/2006/relationships" id="268" r:id="Rc629d51ba9814359"/>
    <p:sldId xmlns:r="http://schemas.openxmlformats.org/officeDocument/2006/relationships" id="269" r:id="Rce679d28cafb47dd"/>
    <p:sldId xmlns:r="http://schemas.openxmlformats.org/officeDocument/2006/relationships" id="270" r:id="R3e177236977f4ef0"/>
    <p:sldId xmlns:r="http://schemas.openxmlformats.org/officeDocument/2006/relationships" id="271" r:id="R849ed92f889b42fc"/>
    <p:sldId xmlns:r="http://schemas.openxmlformats.org/officeDocument/2006/relationships" id="272" r:id="Rf4cee54084504db7"/>
    <p:sldId xmlns:r="http://schemas.openxmlformats.org/officeDocument/2006/relationships" id="273" r:id="R8710812e4a1346fe"/>
    <p:sldId xmlns:r="http://schemas.openxmlformats.org/officeDocument/2006/relationships" id="274" r:id="R8bda1f6672634262"/>
    <p:sldId xmlns:r="http://schemas.openxmlformats.org/officeDocument/2006/relationships" id="275" r:id="R385d65f1a4bc49c6"/>
    <p:sldId xmlns:r="http://schemas.openxmlformats.org/officeDocument/2006/relationships" id="276" r:id="Rd384791e04294725"/>
    <p:sldId xmlns:r="http://schemas.openxmlformats.org/officeDocument/2006/relationships" id="277" r:id="R7c71a3dad4374dbc"/>
    <p:sldId xmlns:r="http://schemas.openxmlformats.org/officeDocument/2006/relationships" id="278" r:id="R5bd503b04b124d99"/>
    <p:sldId xmlns:r="http://schemas.openxmlformats.org/officeDocument/2006/relationships" id="279" r:id="Rac7ba046102e4b40"/>
    <p:sldId xmlns:r="http://schemas.openxmlformats.org/officeDocument/2006/relationships" id="280" r:id="R0a4e91b0dedd432b"/>
    <p:sldId xmlns:r="http://schemas.openxmlformats.org/officeDocument/2006/relationships" id="281" r:id="Rd7ba54fc26ce40d7"/>
    <p:sldId xmlns:r="http://schemas.openxmlformats.org/officeDocument/2006/relationships" id="282" r:id="R793b98591b334d50"/>
  </p:sldIdLst>
  <p:sldSz cx="18288000" cy="10287000"/>
  <p:notesSz cx="6858000" cy="9144000"/>
  <p:embeddedFontLst>
    <p:embeddedFont>
      <p:font typeface="Georgia Pro Light"/>
      <p:regular xmlns:r="http://schemas.openxmlformats.org/officeDocument/2006/relationships" r:id="Rff64a81fc7544801"/>
    </p:embeddedFont>
    <p:embeddedFont>
      <p:font typeface="DM Sans"/>
      <p:regular xmlns:r="http://schemas.openxmlformats.org/officeDocument/2006/relationships" r:id="Raa8232182a694e06"/>
    </p:embeddedFont>
    <p:embeddedFont>
      <p:font typeface="DM Sans Bold"/>
      <p:regular xmlns:r="http://schemas.openxmlformats.org/officeDocument/2006/relationships" r:id="Refd5323fa1c34c0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01fec2fb8547b7" /><Relationship Type="http://schemas.openxmlformats.org/officeDocument/2006/relationships/slideMaster" Target="/ppt/slideMasters/slideMaster1.xml" Id="R09ef01697f144d0e" /><Relationship Type="http://schemas.openxmlformats.org/officeDocument/2006/relationships/notesMaster" Target="/ppt/notesMasters/notesMaster1.xml" Id="R3b10eb2405c442c2" /><Relationship Type="http://schemas.openxmlformats.org/officeDocument/2006/relationships/presProps" Target="/ppt/presProps.xml" Id="R3c84fcb5fddf4343" /><Relationship Type="http://schemas.openxmlformats.org/officeDocument/2006/relationships/viewProps" Target="/ppt/viewProps.xml" Id="Rddd21d368e4c45e8" /><Relationship Type="http://schemas.openxmlformats.org/officeDocument/2006/relationships/tableStyles" Target="/ppt/tableStyles.xml" Id="R1e816fe8ccc94db7" /><Relationship Type="http://schemas.openxmlformats.org/officeDocument/2006/relationships/font" Target="/ppt/fonts/font.dat" Id="Rff64a81fc7544801" /><Relationship Type="http://schemas.openxmlformats.org/officeDocument/2006/relationships/font" Target="/ppt/fonts/font2.dat" Id="Raa8232182a694e06" /><Relationship Type="http://schemas.openxmlformats.org/officeDocument/2006/relationships/font" Target="/ppt/fonts/font3.dat" Id="Refd5323fa1c34c0c" /><Relationship Type="http://schemas.openxmlformats.org/officeDocument/2006/relationships/slide" Target="/ppt/slides/slide1.xml" Id="Rdb7ae4c40ed44e66" /><Relationship Type="http://schemas.openxmlformats.org/officeDocument/2006/relationships/slide" Target="/ppt/slides/slide2.xml" Id="Re7a4181d6e074409" /><Relationship Type="http://schemas.openxmlformats.org/officeDocument/2006/relationships/slide" Target="/ppt/slides/slide3.xml" Id="Rff52307da6a94f69" /><Relationship Type="http://schemas.openxmlformats.org/officeDocument/2006/relationships/slide" Target="/ppt/slides/slide4.xml" Id="R12fb2e0be3a442ea" /><Relationship Type="http://schemas.openxmlformats.org/officeDocument/2006/relationships/slide" Target="/ppt/slides/slide5.xml" Id="R1bab7e85b8504262" /><Relationship Type="http://schemas.openxmlformats.org/officeDocument/2006/relationships/slide" Target="/ppt/slides/slide6.xml" Id="R5f91107e718d4edf" /><Relationship Type="http://schemas.openxmlformats.org/officeDocument/2006/relationships/slide" Target="/ppt/slides/slide7.xml" Id="R58eeb38848be4e9e" /><Relationship Type="http://schemas.openxmlformats.org/officeDocument/2006/relationships/slide" Target="/ppt/slides/slide8.xml" Id="R8e758a44737541b1" /><Relationship Type="http://schemas.openxmlformats.org/officeDocument/2006/relationships/slide" Target="/ppt/slides/slide9.xml" Id="Re14b34e7c03f4951" /><Relationship Type="http://schemas.openxmlformats.org/officeDocument/2006/relationships/slide" Target="/ppt/slides/slide10.xml" Id="Rd2990dc3b35e4215" /><Relationship Type="http://schemas.openxmlformats.org/officeDocument/2006/relationships/slide" Target="/ppt/slides/slide11.xml" Id="R8506d86a887246fc" /><Relationship Type="http://schemas.openxmlformats.org/officeDocument/2006/relationships/slide" Target="/ppt/slides/slide12.xml" Id="Re051fd86125f44bf" /><Relationship Type="http://schemas.openxmlformats.org/officeDocument/2006/relationships/slide" Target="/ppt/slides/slide13.xml" Id="Rc629d51ba9814359" /><Relationship Type="http://schemas.openxmlformats.org/officeDocument/2006/relationships/slide" Target="/ppt/slides/slide14.xml" Id="Rce679d28cafb47dd" /><Relationship Type="http://schemas.openxmlformats.org/officeDocument/2006/relationships/slide" Target="/ppt/slides/slide15.xml" Id="R3e177236977f4ef0" /><Relationship Type="http://schemas.openxmlformats.org/officeDocument/2006/relationships/slide" Target="/ppt/slides/slide16.xml" Id="R849ed92f889b42fc" /><Relationship Type="http://schemas.openxmlformats.org/officeDocument/2006/relationships/slide" Target="/ppt/slides/slide17.xml" Id="Rf4cee54084504db7" /><Relationship Type="http://schemas.openxmlformats.org/officeDocument/2006/relationships/slide" Target="/ppt/slides/slide18.xml" Id="R8710812e4a1346fe" /><Relationship Type="http://schemas.openxmlformats.org/officeDocument/2006/relationships/slide" Target="/ppt/slides/slide19.xml" Id="R8bda1f6672634262" /><Relationship Type="http://schemas.openxmlformats.org/officeDocument/2006/relationships/slide" Target="/ppt/slides/slide20.xml" Id="R385d65f1a4bc49c6" /><Relationship Type="http://schemas.openxmlformats.org/officeDocument/2006/relationships/slide" Target="/ppt/slides/slide21.xml" Id="Rd384791e04294725" /><Relationship Type="http://schemas.openxmlformats.org/officeDocument/2006/relationships/slide" Target="/ppt/slides/slide22.xml" Id="R7c71a3dad4374dbc" /><Relationship Type="http://schemas.openxmlformats.org/officeDocument/2006/relationships/slide" Target="/ppt/slides/slide23.xml" Id="R5bd503b04b124d99" /><Relationship Type="http://schemas.openxmlformats.org/officeDocument/2006/relationships/slide" Target="/ppt/slides/slide24.xml" Id="Rac7ba046102e4b40" /><Relationship Type="http://schemas.openxmlformats.org/officeDocument/2006/relationships/slide" Target="/ppt/slides/slide25.xml" Id="R0a4e91b0dedd432b" /><Relationship Type="http://schemas.openxmlformats.org/officeDocument/2006/relationships/slide" Target="/ppt/slides/slide26.xml" Id="Rd7ba54fc26ce40d7" /><Relationship Type="http://schemas.openxmlformats.org/officeDocument/2006/relationships/slide" Target="/ppt/slides/slide27.xml" Id="R793b98591b334d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d3d013f7c041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6b96953bfc4aac" /><Relationship Type="http://schemas.openxmlformats.org/officeDocument/2006/relationships/notesMaster" Target="/ppt/notesMasters/notesMaster1.xml" Id="Rcccb8eb9172244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51e6dd0f8a4753" /><Relationship Type="http://schemas.openxmlformats.org/officeDocument/2006/relationships/notesMaster" Target="/ppt/notesMasters/notesMaster1.xml" Id="R52f3f365f8ce4a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89674ad0e64691" /><Relationship Type="http://schemas.openxmlformats.org/officeDocument/2006/relationships/notesMaster" Target="/ppt/notesMasters/notesMaster1.xml" Id="R4accd1165dc046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9525a415ef4d8d" /><Relationship Type="http://schemas.openxmlformats.org/officeDocument/2006/relationships/notesMaster" Target="/ppt/notesMasters/notesMaster1.xml" Id="Rd72edf8665164a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0e8fddf712476c" /><Relationship Type="http://schemas.openxmlformats.org/officeDocument/2006/relationships/notesMaster" Target="/ppt/notesMasters/notesMaster1.xml" Id="R5c1b377f7e7146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40d3709e9b422e" /><Relationship Type="http://schemas.openxmlformats.org/officeDocument/2006/relationships/notesMaster" Target="/ppt/notesMasters/notesMaster1.xml" Id="R25e558b6aed540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93751de297470e" /><Relationship Type="http://schemas.openxmlformats.org/officeDocument/2006/relationships/notesMaster" Target="/ppt/notesMasters/notesMaster1.xml" Id="R06c9c491611e41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365f4a895641ed" /><Relationship Type="http://schemas.openxmlformats.org/officeDocument/2006/relationships/notesMaster" Target="/ppt/notesMasters/notesMaster1.xml" Id="Rba4157eca0b747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49894f29ab4d89" /><Relationship Type="http://schemas.openxmlformats.org/officeDocument/2006/relationships/notesMaster" Target="/ppt/notesMasters/notesMaster1.xml" Id="Rcdb693f5110448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26818491f4245" /><Relationship Type="http://schemas.openxmlformats.org/officeDocument/2006/relationships/notesMaster" Target="/ppt/notesMasters/notesMaster1.xml" Id="R9b203abab1ab4d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1d9f4cc6c245f4" /><Relationship Type="http://schemas.openxmlformats.org/officeDocument/2006/relationships/notesMaster" Target="/ppt/notesMasters/notesMaster1.xml" Id="R9bdeb33e505b4a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fa1d1b299a49d5" /><Relationship Type="http://schemas.openxmlformats.org/officeDocument/2006/relationships/notesMaster" Target="/ppt/notesMasters/notesMaster1.xml" Id="R7b93068088d548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c52fd93357476b" /><Relationship Type="http://schemas.openxmlformats.org/officeDocument/2006/relationships/notesMaster" Target="/ppt/notesMasters/notesMaster1.xml" Id="R123051a070c643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7fe45ebe164b9e" /><Relationship Type="http://schemas.openxmlformats.org/officeDocument/2006/relationships/notesMaster" Target="/ppt/notesMasters/notesMaster1.xml" Id="Rc362b6ae1f2a42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c207559c8ee4492" /><Relationship Type="http://schemas.openxmlformats.org/officeDocument/2006/relationships/notesMaster" Target="/ppt/notesMasters/notesMaster1.xml" Id="R191d2b6ff1c044b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2d5a3635be94516" /><Relationship Type="http://schemas.openxmlformats.org/officeDocument/2006/relationships/notesMaster" Target="/ppt/notesMasters/notesMaster1.xml" Id="R00f06b825afd410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9d2717eff7f42af" /><Relationship Type="http://schemas.openxmlformats.org/officeDocument/2006/relationships/notesMaster" Target="/ppt/notesMasters/notesMaster1.xml" Id="R6bcc1e6e818b4f3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08449d1cdfc4abb" /><Relationship Type="http://schemas.openxmlformats.org/officeDocument/2006/relationships/notesMaster" Target="/ppt/notesMasters/notesMaster1.xml" Id="R3fed90bdc21a444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e913acdc1bd4e82" /><Relationship Type="http://schemas.openxmlformats.org/officeDocument/2006/relationships/notesMaster" Target="/ppt/notesMasters/notesMaster1.xml" Id="R349ff7fdea344c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cf87908d0741ef" /><Relationship Type="http://schemas.openxmlformats.org/officeDocument/2006/relationships/notesMaster" Target="/ppt/notesMasters/notesMaster1.xml" Id="R7e7e14abf09042c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2c12f9010b4660" /><Relationship Type="http://schemas.openxmlformats.org/officeDocument/2006/relationships/notesMaster" Target="/ppt/notesMasters/notesMaster1.xml" Id="Ra30847c8da9d416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82f1ad5ebd6498e" /><Relationship Type="http://schemas.openxmlformats.org/officeDocument/2006/relationships/notesMaster" Target="/ppt/notesMasters/notesMaster1.xml" Id="R8af92a74fa5c4ab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831a6abeb6e4d3e" /><Relationship Type="http://schemas.openxmlformats.org/officeDocument/2006/relationships/notesMaster" Target="/ppt/notesMasters/notesMaster1.xml" Id="Rc96aea6adbfa40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4820f39d3b44bd3" /><Relationship Type="http://schemas.openxmlformats.org/officeDocument/2006/relationships/notesMaster" Target="/ppt/notesMasters/notesMaster1.xml" Id="R21f905d7bc804f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426c204f91049c2" /><Relationship Type="http://schemas.openxmlformats.org/officeDocument/2006/relationships/notesMaster" Target="/ppt/notesMasters/notesMaster1.xml" Id="R9efbdec683194e5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b7a8105f45d4cc4" /><Relationship Type="http://schemas.openxmlformats.org/officeDocument/2006/relationships/notesMaster" Target="/ppt/notesMasters/notesMaster1.xml" Id="R38e01766c77c422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80b09579cd647b2" /><Relationship Type="http://schemas.openxmlformats.org/officeDocument/2006/relationships/notesMaster" Target="/ppt/notesMasters/notesMaster1.xml" Id="Ra5072cdc1d9a42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Enunciado.pdf, pp. 42–44. La estructura detallada de AV2 termina en 8.3.2; se aplica ese límite ante la discrepancia con los objetivos generales.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capítulos VI–VIII; Enunciado.pdf, tercer hito, pp. 42–43. Registro técnico: assets/evidence/implemented/av2-review-2026-10-21.json. Los resultados históricos conservan su fecha; no se atribuye una nueva ejecución completa.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capítulos VI–VIII; Enunciado.pdf, tercer hito, pp. 42–43. Registro técnico: assets/evidence/implemented/av2-review-2026-10-21.json. Los resultados históricos conservan su fecha; no se atribuye una nueva ejecución completa.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assets/evidence/implemented/av2-review-2026-10-21.json; README.md, 6.2 y 6.4.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assets/evidence/implemented/av2-monitoring-2026-10-21.json; scripts/monitor-public-surfaces.py; .github/workflows/monitoring.yml.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8.1 y 8.2. Las hipótesis y la comparación son propuestas, no resultados.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8.2. No se afirma reclutamiento, ejecución del piloto o resultado estadístico.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8.3.1 y 8.3.2; https://trello.com/b/kFru7uh2/energycore-product-backlog-y-sprint-planning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bf6119ff6149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6bc11645964b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0a6da5e6048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e89f526c14a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a11b942da54e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b9e2ed999b4b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cece5d7c65420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07ab604004a3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d3fe2f6239464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61825f55e437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69445e55a243c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4B67E0-3816-48E5-AD98-B338F642A62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5E58B6B-97C3-44CF-962A-EA1F06E862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7FB713-3F48-4620-9127-7FA46D3DBB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DDB796-8003-4611-ABD2-CB90CD6C3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90055D-8D9B-403D-8A26-BC4162F3D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F03AE8-C1F5-49CB-8D38-127120D744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2C66EC7-A8E1-4A77-A4C2-E424418569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2FC3A7-7F7E-442D-AAE7-7E973964F5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65A222-6D34-422B-A274-F2F6F55CF6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F5C07A-EEA1-413A-9DFA-2EF034BCA9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1412BF-46EA-4422-B62D-6F7EFD3F21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AC07FA-7CE5-4CCD-97EF-F7A76A8AC1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DD6CA2-2DCA-439C-84C7-07C5D114CD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AB4124-1FFA-4B9D-85FE-87B21F986C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788C70-587F-4054-B711-E86ECD907C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955D99-8ADA-493F-BEF7-4B347B7789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F297838-4BC6-41C9-80AA-1A7D200CC6A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C63636-018D-4169-ABE1-F06ECEC5E37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D16C6E-D52A-422A-ABE8-3ABA9B3EA7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F09F7-43C6-49BE-B94A-72C4350B98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238449-A4B9-4537-9E72-107BFEE41C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22396-6F5D-4854-8FB3-0CC9B4BF4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656515-F971-49A9-8A1E-8CB15D8D3D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240DA82-5356-4DC3-928A-C1EB1AA254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62F58E4-A574-40A8-96B6-53273163A55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4B3D903-ED3D-496A-950D-7ADFED43AB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C6C531-DDD3-4C2B-96B7-2545896092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BCC3084-B7C7-4051-BD2E-BD5FBB4AB9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07B738A-1896-4A55-9B11-1F4D3492EC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FA4D6F-8B51-48F5-B40E-02D832B5CF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EB986EE-4B42-43CC-9120-26E95F319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9D49497-B7D5-41D3-A4B9-4AC5EB5C9C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CAD7CC2-8658-4DF1-A778-0470A9A0CB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B93B7C2-9635-493B-9F0F-689C3C875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000E08D-FDBB-4A97-87B3-CF6BFB5AB9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935D35D-9A16-4297-B39E-5C2CAFE721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BB3A58-7D08-4270-ADA4-A67D44C461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1D0DCD4-ADC9-4A91-AA79-D8D7BD87A46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BB7D6E5-B42B-4B4A-B791-5FB63587BE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78A83B8-F3DE-4DAF-B270-6C5C9E22ED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2F2B6A-7B63-455A-98D2-82960EA9B9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D41748-F503-48EA-B0BF-9A787F51EC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4A05A2-DC8A-4A9B-B55C-C3E7701C8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E510655-9E29-4D5E-BEE1-0ECCB58949C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5E4D50-1AB4-4117-97AA-609A43787B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7856777-6DC9-4AF9-B44F-29535F1DF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0F74B8A-11B1-4B76-956B-703060A18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8BC74C-CD6C-4953-A018-D8938EC15C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CCDFF2-7AC6-4B6D-B14B-DDD9846DC2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B85D8-8081-4386-8D5A-429139AE98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E79B1F-991C-4C51-B703-0C9CDB37BF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423CA7-FF6B-4B17-9633-3EDB6BEB69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3E9928-B6CC-47E3-BDCE-E83B83C320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C89FA16-B88D-49E8-BD61-333288D10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D71ACF-1CB3-4264-9DC2-EBFD472B97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FB3315-8E0D-44B2-B17C-390D16ABB5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7C6C9D-D124-48AF-A2CD-B20BCEF40D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DDE8BB-CAD5-42A7-AB3B-2C7F1C6E3A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26d39b96fc4503" /><Relationship Type="http://schemas.openxmlformats.org/officeDocument/2006/relationships/slideLayout" Target="/ppt/slideLayouts/slideLayout1.xml" Id="R8346ed38ee0b4cd8" /><Relationship Type="http://schemas.openxmlformats.org/officeDocument/2006/relationships/slideLayout" Target="/ppt/slideLayouts/slideLayout2.xml" Id="R391f3ccfb1a24a41" /><Relationship Type="http://schemas.openxmlformats.org/officeDocument/2006/relationships/slideLayout" Target="/ppt/slideLayouts/slideLayout3.xml" Id="Rb1846cd80f784e3e" /><Relationship Type="http://schemas.openxmlformats.org/officeDocument/2006/relationships/slideLayout" Target="/ppt/slideLayouts/slideLayout4.xml" Id="Ra5e6da66e98c4085" /><Relationship Type="http://schemas.openxmlformats.org/officeDocument/2006/relationships/slideLayout" Target="/ppt/slideLayouts/slideLayout5.xml" Id="R63a9f125d4a544db" /><Relationship Type="http://schemas.openxmlformats.org/officeDocument/2006/relationships/slideLayout" Target="/ppt/slideLayouts/slideLayout6.xml" Id="R35db745383b04ad3" /><Relationship Type="http://schemas.openxmlformats.org/officeDocument/2006/relationships/slideLayout" Target="/ppt/slideLayouts/slideLayout7.xml" Id="Rf7a3bc54496343cd" /><Relationship Type="http://schemas.openxmlformats.org/officeDocument/2006/relationships/slideLayout" Target="/ppt/slideLayouts/slideLayout8.xml" Id="R9e2cc9ffe94d44d5" /><Relationship Type="http://schemas.openxmlformats.org/officeDocument/2006/relationships/slideLayout" Target="/ppt/slideLayouts/slideLayout9.xml" Id="R34c6dbf7c5a74ae1" /><Relationship Type="http://schemas.openxmlformats.org/officeDocument/2006/relationships/slideLayout" Target="/ppt/slideLayouts/slideLayout10.xml" Id="R095a3d42b66746cc" /><Relationship Type="http://schemas.openxmlformats.org/officeDocument/2006/relationships/slideLayout" Target="/ppt/slideLayouts/slideLayout11.xml" Id="R12079ebfa50842b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6DFE57B-63B4-4D7C-994B-995A3248FE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31B26A-9EF1-42B3-BB99-512A8CC0D4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F2E01E-4188-43D0-A1CC-0AA6720BFCC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2EE00B-14CC-4BBC-8558-5D14BC15679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BC6687-3DE2-4D34-80BA-74C5BDA9056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46ed38ee0b4cd8"/>
    <p:sldLayoutId xmlns:r="http://schemas.openxmlformats.org/officeDocument/2006/relationships" id="2147483650" r:id="R391f3ccfb1a24a41"/>
    <p:sldLayoutId xmlns:r="http://schemas.openxmlformats.org/officeDocument/2006/relationships" id="2147483651" r:id="Rb1846cd80f784e3e"/>
    <p:sldLayoutId xmlns:r="http://schemas.openxmlformats.org/officeDocument/2006/relationships" id="2147483652" r:id="Ra5e6da66e98c4085"/>
    <p:sldLayoutId xmlns:r="http://schemas.openxmlformats.org/officeDocument/2006/relationships" id="2147483653" r:id="R63a9f125d4a544db"/>
    <p:sldLayoutId xmlns:r="http://schemas.openxmlformats.org/officeDocument/2006/relationships" id="2147483654" r:id="R35db745383b04ad3"/>
    <p:sldLayoutId xmlns:r="http://schemas.openxmlformats.org/officeDocument/2006/relationships" id="2147483655" r:id="Rf7a3bc54496343cd"/>
    <p:sldLayoutId xmlns:r="http://schemas.openxmlformats.org/officeDocument/2006/relationships" id="2147483656" r:id="R9e2cc9ffe94d44d5"/>
    <p:sldLayoutId xmlns:r="http://schemas.openxmlformats.org/officeDocument/2006/relationships" id="2147483657" r:id="R34c6dbf7c5a74ae1"/>
    <p:sldLayoutId xmlns:r="http://schemas.openxmlformats.org/officeDocument/2006/relationships" id="2147483658" r:id="R095a3d42b66746cc"/>
    <p:sldLayoutId xmlns:r="http://schemas.openxmlformats.org/officeDocument/2006/relationships" id="2147483659" r:id="R12079ebfa50842b6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fb1baf6d8945f1" /><Relationship Type="http://schemas.openxmlformats.org/officeDocument/2006/relationships/image" Target="/ppt/media/image.jpeg" Id="R4750c1ad1025407e" /><Relationship Type="http://schemas.openxmlformats.org/officeDocument/2006/relationships/notesSlide" Target="/ppt/notesSlides/notesSlide1.xml" Id="R9f22def093244a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a01bfd8394fac" /><Relationship Type="http://schemas.openxmlformats.org/officeDocument/2006/relationships/image" Target="/ppt/media/image2.jpeg" Id="Rff75f6ded5ad47a2" /><Relationship Type="http://schemas.openxmlformats.org/officeDocument/2006/relationships/image" Target="/ppt/media/image.png" Id="R15f8f77497014a90" /><Relationship Type="http://schemas.openxmlformats.org/officeDocument/2006/relationships/image" Target="/ppt/media/image2.png" Id="R1f6c59ca953d42a2" /><Relationship Type="http://schemas.openxmlformats.org/officeDocument/2006/relationships/notesSlide" Target="/ppt/notesSlides/notesSlide2.xml" Id="Re8fb6036eaf447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b5283a59384bc9" /><Relationship Type="http://schemas.openxmlformats.org/officeDocument/2006/relationships/notesSlide" Target="/ppt/notesSlides/notesSlide3.xml" Id="R3c174c0931714f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699e59a29f40af" /><Relationship Type="http://schemas.openxmlformats.org/officeDocument/2006/relationships/image" Target="/ppt/media/image3.jpeg" Id="R3b2dde5803b443ff" /><Relationship Type="http://schemas.openxmlformats.org/officeDocument/2006/relationships/notesSlide" Target="/ppt/notesSlides/notesSlide4.xml" Id="Rbbb66c41ea65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9d9cc2cbf74857" /><Relationship Type="http://schemas.openxmlformats.org/officeDocument/2006/relationships/image" Target="/ppt/media/image4.jpeg" Id="R634552b290884faa" /><Relationship Type="http://schemas.openxmlformats.org/officeDocument/2006/relationships/notesSlide" Target="/ppt/notesSlides/notesSlide5.xml" Id="Rfe35d3a95e214a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199974ca24202" /><Relationship Type="http://schemas.openxmlformats.org/officeDocument/2006/relationships/image" Target="/ppt/media/image5.jpeg" Id="R9244806a6b554130" /><Relationship Type="http://schemas.openxmlformats.org/officeDocument/2006/relationships/notesSlide" Target="/ppt/notesSlides/notesSlide6.xml" Id="R8a47a709a2fe4a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30d00f92b0484e" /><Relationship Type="http://schemas.openxmlformats.org/officeDocument/2006/relationships/image" Target="/ppt/media/image6.jpeg" Id="R2ab0e81e67ee4ec8" /><Relationship Type="http://schemas.openxmlformats.org/officeDocument/2006/relationships/image" Target="/ppt/media/image7.jpeg" Id="R88d2291f6d6845d3" /><Relationship Type="http://schemas.openxmlformats.org/officeDocument/2006/relationships/image" Target="/ppt/media/image8.jpeg" Id="R2515fc3796eb4302" /><Relationship Type="http://schemas.openxmlformats.org/officeDocument/2006/relationships/notesSlide" Target="/ppt/notesSlides/notesSlide7.xml" Id="R0462a4a2ab0a45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2f2eb994c940e5" /><Relationship Type="http://schemas.openxmlformats.org/officeDocument/2006/relationships/notesSlide" Target="/ppt/notesSlides/notesSlide8.xml" Id="Rd32272fb76ef4f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742fb3f9a54a75" /><Relationship Type="http://schemas.openxmlformats.org/officeDocument/2006/relationships/notesSlide" Target="/ppt/notesSlides/notesSlide9.xml" Id="R37f2a272760742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ed4c53ffd45c6" /><Relationship Type="http://schemas.openxmlformats.org/officeDocument/2006/relationships/notesSlide" Target="/ppt/notesSlides/notesSlide10.xml" Id="R91df882ed42549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262ac94a4b4282" /><Relationship Type="http://schemas.openxmlformats.org/officeDocument/2006/relationships/image" Target="/ppt/media/image9.jpeg" Id="R27c6e317ded148c1" /><Relationship Type="http://schemas.openxmlformats.org/officeDocument/2006/relationships/image" Target="/ppt/media/image10.jpeg" Id="Rf2b04ad2d69c46d1" /><Relationship Type="http://schemas.openxmlformats.org/officeDocument/2006/relationships/notesSlide" Target="/ppt/notesSlides/notesSlide11.xml" Id="Rccbb9e6551bf48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5f8c66c994fc4" /><Relationship Type="http://schemas.openxmlformats.org/officeDocument/2006/relationships/notesSlide" Target="/ppt/notesSlides/notesSlide12.xml" Id="Rb4e6ac5b19714e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00fc11e68e436d" /><Relationship Type="http://schemas.openxmlformats.org/officeDocument/2006/relationships/image" Target="/ppt/media/image11.jpeg" Id="R5977e278304644f4" /><Relationship Type="http://schemas.openxmlformats.org/officeDocument/2006/relationships/notesSlide" Target="/ppt/notesSlides/notesSlide13.xml" Id="R4f6b0338d13044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95b07545f84170" /><Relationship Type="http://schemas.openxmlformats.org/officeDocument/2006/relationships/image" Target="/ppt/media/image3.png" Id="R6dbdb481b5934210" /><Relationship Type="http://schemas.openxmlformats.org/officeDocument/2006/relationships/image" Target="/ppt/media/image4.png" Id="R059d2a0a5a204058" /><Relationship Type="http://schemas.openxmlformats.org/officeDocument/2006/relationships/notesSlide" Target="/ppt/notesSlides/notesSlide14.xml" Id="R0764f383f457420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55105c788549f8" /><Relationship Type="http://schemas.openxmlformats.org/officeDocument/2006/relationships/image" Target="/ppt/media/image5.png" Id="R7fae30eaa4354c24" /><Relationship Type="http://schemas.openxmlformats.org/officeDocument/2006/relationships/image" Target="/ppt/media/image6.png" Id="Rfbe2763ba9224c61" /><Relationship Type="http://schemas.openxmlformats.org/officeDocument/2006/relationships/notesSlide" Target="/ppt/notesSlides/notesSlide15.xml" Id="Raae414438fde45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fee1e002de453a" /><Relationship Type="http://schemas.openxmlformats.org/officeDocument/2006/relationships/image" Target="/ppt/media/image7.png" Id="R010e8ebaa7f64271" /><Relationship Type="http://schemas.openxmlformats.org/officeDocument/2006/relationships/image" Target="/ppt/media/image8.png" Id="Rcc806450e7434093" /><Relationship Type="http://schemas.openxmlformats.org/officeDocument/2006/relationships/image" Target="/ppt/media/image9.png" Id="Rf37ee7ec6ee74d96" /><Relationship Type="http://schemas.openxmlformats.org/officeDocument/2006/relationships/notesSlide" Target="/ppt/notesSlides/notesSlide16.xml" Id="Rf9692b457b274f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f99bdd50cc4a53" /><Relationship Type="http://schemas.openxmlformats.org/officeDocument/2006/relationships/image" Target="/ppt/media/image10.png" Id="R3c4ef2a21c8a4155" /><Relationship Type="http://schemas.openxmlformats.org/officeDocument/2006/relationships/image" Target="/ppt/media/image11.png" Id="Rc4f62f15711e414c" /><Relationship Type="http://schemas.openxmlformats.org/officeDocument/2006/relationships/notesSlide" Target="/ppt/notesSlides/notesSlide17.xml" Id="R1e478516a4884f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7b9f82c9d4a7c" /><Relationship Type="http://schemas.openxmlformats.org/officeDocument/2006/relationships/notesSlide" Target="/ppt/notesSlides/notesSlide18.xml" Id="R191835c57c4a4cd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155e239c9646c3" /><Relationship Type="http://schemas.openxmlformats.org/officeDocument/2006/relationships/notesSlide" Target="/ppt/notesSlides/notesSlide19.xml" Id="R72aea863650b4d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e569e907484f8f" /><Relationship Type="http://schemas.openxmlformats.org/officeDocument/2006/relationships/image" Target="/ppt/media/image12.png" Id="R44e2f21a6f744226" /><Relationship Type="http://schemas.openxmlformats.org/officeDocument/2006/relationships/image" Target="/ppt/media/image.svg" Id="R30d67ba62f6b4f2c" /><Relationship Type="http://schemas.openxmlformats.org/officeDocument/2006/relationships/notesSlide" Target="/ppt/notesSlides/notesSlide20.xml" Id="R5702b87003d14a7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193e75b7e4256" /><Relationship Type="http://schemas.openxmlformats.org/officeDocument/2006/relationships/notesSlide" Target="/ppt/notesSlides/notesSlide21.xml" Id="R2be6c6e8f40942c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4def653b994eef" /><Relationship Type="http://schemas.openxmlformats.org/officeDocument/2006/relationships/notesSlide" Target="/ppt/notesSlides/notesSlide22.xml" Id="Re38d0a74bbd540c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090e45b24b4c7a" /><Relationship Type="http://schemas.openxmlformats.org/officeDocument/2006/relationships/notesSlide" Target="/ppt/notesSlides/notesSlide23.xml" Id="R46ceaa4789f64a7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16642aa11d49df" /><Relationship Type="http://schemas.openxmlformats.org/officeDocument/2006/relationships/notesSlide" Target="/ppt/notesSlides/notesSlide24.xml" Id="R872f1c9491c04f5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2cabb4b07d4478" /><Relationship Type="http://schemas.openxmlformats.org/officeDocument/2006/relationships/notesSlide" Target="/ppt/notesSlides/notesSlide25.xml" Id="Rf59852b9059d487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7ed4d737144edc" /><Relationship Type="http://schemas.openxmlformats.org/officeDocument/2006/relationships/notesSlide" Target="/ppt/notesSlides/notesSlide26.xml" Id="R7374394d38f040b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11bf9e29664da0" /><Relationship Type="http://schemas.openxmlformats.org/officeDocument/2006/relationships/image" Target="/ppt/media/image12.jpeg" Id="R9823ab42b6a44035" /><Relationship Type="http://schemas.openxmlformats.org/officeDocument/2006/relationships/notesSlide" Target="/ppt/notesSlides/notesSlide27.xml" Id="R3cebc9b1bff94b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62C4EDE-B97E-4448-8D4F-14764759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8991600" cy="10287000"/>
          </a:xfrm>
          <a:custGeom xmlns:a="http://schemas.openxmlformats.org/drawingml/2006/main">
            <a:rect l="l" t="t" r="r" b="b"/>
            <a:pathLst>
              <a:path w="1035548" h="1184737">
                <a:moveTo>
                  <a:pt x="0" y="0"/>
                </a:moveTo>
                <a:lnTo>
                  <a:pt x="1035548" y="0"/>
                </a:lnTo>
                <a:lnTo>
                  <a:pt x="1035548" y="1184737"/>
                </a:lnTo>
                <a:lnTo>
                  <a:pt x="0" y="1184737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750c1ad1025407e"/>
            <a:stretch>
              <a:fillRect l="-88629" t="31" r="-4191" b="-1232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1306ABC0-AD75-40BD-826D-AB11A67B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1" flipV="0">
            <a:off x="10771614" y="722895"/>
            <a:ext cx="416357" cy="471186"/>
          </a:xfrm>
          <a:custGeom xmlns:a="http://schemas.openxmlformats.org/drawingml/2006/main">
            <a:rect l="l" t="t" r="r" b="b"/>
            <a:pathLst>
              <a:path w="555143" h="628248">
                <a:moveTo>
                  <a:pt x="555143" y="0"/>
                </a:moveTo>
                <a:lnTo>
                  <a:pt x="0" y="0"/>
                </a:lnTo>
                <a:lnTo>
                  <a:pt x="0" y="628248"/>
                </a:lnTo>
                <a:lnTo>
                  <a:pt x="555143" y="628248"/>
                </a:lnTo>
                <a:lnTo>
                  <a:pt x="55514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C827E98-E448-4229-A638-F637852D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40678" y="738187"/>
            <a:ext cx="6280572" cy="4514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3555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3864" spc="-77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EnergyCore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8FE0824-F56C-44BD-AA98-C0EB82B9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1712118"/>
            <a:ext cx="6886575" cy="26667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10499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10499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Monitoreo Inteligente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D7D18C97-8BC1-49AA-A114-493DA3C9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4664936"/>
            <a:ext cx="6879502" cy="12799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50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35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Automatización del Consumo Energético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A42FE7D-D540-48FD-90D0-48C84D9C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4200" y="9259411"/>
            <a:ext cx="5743575" cy="391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08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Equipo Teralume · NRC 9100 · AV2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B39D45-CA4F-4CED-8AFE-11D1052B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4200" y="8705185"/>
            <a:ext cx="57435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PRESENTADO POR</a:t>
            </a:r>
          </a:p>
        </p:txBody>
      </p:sp>
    </p:spTree>
    <p:extLst>
      <p:ext uri="{BB962C8B-B14F-4D97-AF65-F5344CB8AC3E}">
        <p14:creationId xmlns:p14="http://schemas.microsoft.com/office/powerpoint/2010/main" val="6235696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B8385C-1A1E-419B-BE4D-B0AC156D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5D7AA-0F3E-4BE6-8945-0F2317A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AVANCE 2 · EQUIPO TERALUME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6FFBA-30A9-4F4F-B380-1229EB76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Integrantes del equipo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A8139-62A3-4283-9CB9-EEC11D98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D46C9-C25C-495B-8E8C-F005F682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D33A69-D2E2-4565-A510-72441822B7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5f6ded5ad47a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6825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ABB60-D53B-49AD-B5C0-6BABB6B3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Jean Franck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Loa Rojas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90015-6543-479B-9320-C11C871C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U20241E406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DD9EE-CA89-49CF-87D6-678F32EF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F9E9D-C6BE-45A4-A338-0C5C0522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02843-A415-4498-A5EB-10713A46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BF1AE-4B6D-4086-ACFF-DB67D20A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0CA537E-72EF-486E-A57E-4C6FF5F7EC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8f77497014a90"/>
          <a:srcRect xmlns:a="http://schemas.openxmlformats.org/drawingml/2006/main" l="0" t="12914" r="0" b="12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B82A5-E110-4989-9DA9-793482F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Jairo Mathias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Santiago Atanacio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1E612-28EE-4DFF-993D-76A58362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U202418755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412D3-1BC0-45E8-9666-13DE0E0E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EF628-55AC-444D-A331-5ED96A19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FDFA18-E821-4314-89AC-F9552456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5DF732-78EB-41AA-8EF2-886874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2D05DA-36EF-4802-90D7-DF08325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714625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F5B9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CAB422-D9EB-41A2-AB82-1B59FE28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3375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25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FR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5D669-930E-478F-848D-8029896B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Fabricio Jose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Rivera Rupay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85F4B-F95B-4E78-A721-140D5408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U202423883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87D70-0DC5-4D9F-9F74-DE16B638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7E28D8-F80D-43E4-BF2E-DA3992E8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E386DE-B16A-4E3B-882C-E62F4254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F553B2-1B15-4F74-B884-AF8D3E4E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263B07-373E-4119-8869-8827D87A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714625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F5B9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06DCB0-F5CD-4AB3-AF00-81840E29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33375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25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RZ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65E14D-952C-4804-B80B-95121C94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Renzo Zamir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Revilla Quispe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2316E4-C92E-473F-B660-AD0E099B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U201717085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C2221-17FD-456A-8950-71770816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FA7DEE-5187-4949-ACE0-7CACF235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B1A02-E7C3-483A-8369-9C0D34C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40ADB9-B97D-46C5-9071-830E8A99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D9E0E3-3042-4AEF-A63C-649FC5FA1C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c59ca953d42a2"/>
          <a:srcRect xmlns:a="http://schemas.openxmlformats.org/drawingml/2006/main" l="0" t="405" r="0" b="4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87525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06CC50-7FF5-40D9-AE5E-CDFD1FF9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Brayan Benjamin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Huerta Cardenas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45470D-4DFA-4FEE-9FAB-22A9941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U20241E550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26F0B8-8ADB-4717-AF90-02970061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40C5D-8D9C-4EAD-ACBE-5FC0A25B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035862-5800-4BA2-B19E-30C39559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417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</p:spTree>
    <p:extLst>
      <p:ext uri="{BB962C8B-B14F-4D97-AF65-F5344CB8AC3E}">
        <p14:creationId xmlns:p14="http://schemas.microsoft.com/office/powerpoint/2010/main" val="1978910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09FEB-13A6-4078-8B62-5DDEF521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Alcance de Avance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BDFC8-6AE8-4850-BD24-F371FFC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VERIFICACIÓN Y DEVOPS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18CB0-F230-4A19-B8BD-84AE3DFD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Pruebas, revisión estática, auditorías UX y monitoreo; la evidencia técnica conserva su procedencia.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B48E9-E83F-422B-B1EC-C408EA78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PLANIFICACIÓN EXPERIMENTAL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C1270-EC88-4379-A4E0-08B60EE2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Preguntas, hipótesis, diseño de medición y backlog To-Be hasta 8.3.2.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1BFAC-0619-4572-9618-B11E768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LÍMITE DE ESTA PRESENTACIÓN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4423B-3C61-412D-AE5A-EF3FB2A7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No incluye ejecución To-Be, análisis de resultados, shareback ni pre-launch de TB2.</a:t>
            </a:r>
          </a:p>
        </p:txBody>
      </p:sp>
    </p:spTree>
    <p:extLst>
      <p:ext uri="{BB962C8B-B14F-4D97-AF65-F5344CB8AC3E}">
        <p14:creationId xmlns:p14="http://schemas.microsoft.com/office/powerpoint/2010/main" val="5639042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FB1933F-CA80-4D9F-BAE2-C0C75A9C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912" y="0"/>
            <a:ext cx="7774088" cy="10287000"/>
          </a:xfrm>
          <a:custGeom xmlns:a="http://schemas.openxmlformats.org/drawingml/2006/main">
            <a:rect l="l" t="t" r="r" b="b"/>
            <a:pathLst>
              <a:path w="1238611" h="1643252">
                <a:moveTo>
                  <a:pt x="69518" y="0"/>
                </a:moveTo>
                <a:lnTo>
                  <a:pt x="1238612" y="51043"/>
                </a:lnTo>
                <a:lnTo>
                  <a:pt x="1169094" y="1643252"/>
                </a:lnTo>
                <a:lnTo>
                  <a:pt x="0" y="1592208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b2dde5803b443ff"/>
            <a:stretch>
              <a:fillRect l="-43782" t="-1386" r="-68457" b="-5198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90F1AC6-FF3E-4EA4-BEDA-3531266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877178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Problema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488123D0-0173-4D0B-96D8-E39B9077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363024"/>
            <a:ext cx="8324850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consumo energético poco visible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lleva a decisiones reactivas y una gestión ineficiente. Los dispositivos dispersos complican la supervisión y dificultan la optimización del uso de la energía.</a:t>
            </a:r>
          </a:p>
        </p:txBody>
      </p:sp>
    </p:spTree>
    <p:extLst>
      <p:ext uri="{BB962C8B-B14F-4D97-AF65-F5344CB8AC3E}">
        <p14:creationId xmlns:p14="http://schemas.microsoft.com/office/powerpoint/2010/main" val="16553668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05A9699-04D0-4A8B-8643-27973B7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0"/>
            <a:ext cx="7553325" cy="10287000"/>
          </a:xfrm>
          <a:custGeom xmlns:a="http://schemas.openxmlformats.org/drawingml/2006/main">
            <a:rect l="l" t="t" r="r" b="b"/>
            <a:pathLst>
              <a:path w="1170208" h="1593725">
                <a:moveTo>
                  <a:pt x="0" y="0"/>
                </a:moveTo>
                <a:lnTo>
                  <a:pt x="1170208" y="0"/>
                </a:lnTo>
                <a:lnTo>
                  <a:pt x="1170208" y="1593725"/>
                </a:lnTo>
                <a:lnTo>
                  <a:pt x="0" y="159372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34552b290884faa"/>
            <a:stretch>
              <a:fillRect l="-58398" t="31" r="-56641" b="-5228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1D14EE4B-929D-458A-9ECF-1F564C26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877178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Oportunidad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22ECE5B3-7CB8-4BEF-A401-4086F545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363024"/>
            <a:ext cx="8324850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oportunidad radica en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transformar las lecturas energéticas en información valiosa que permita a los usuarios tomar decisiones informadas y proactivas sobre su consumo.</a:t>
            </a:r>
          </a:p>
        </p:txBody>
      </p:sp>
    </p:spTree>
    <p:extLst>
      <p:ext uri="{BB962C8B-B14F-4D97-AF65-F5344CB8AC3E}">
        <p14:creationId xmlns:p14="http://schemas.microsoft.com/office/powerpoint/2010/main" val="12461555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A8B99DD3-ED20-44D1-A3CA-2E6A279C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09137" y="0"/>
            <a:ext cx="7978863" cy="10287000"/>
          </a:xfrm>
          <a:custGeom xmlns:a="http://schemas.openxmlformats.org/drawingml/2006/main">
            <a:rect l="l" t="t" r="r" b="b"/>
            <a:pathLst>
              <a:path w="1302062" h="1687856">
                <a:moveTo>
                  <a:pt x="0" y="99955"/>
                </a:moveTo>
                <a:lnTo>
                  <a:pt x="1165931" y="0"/>
                </a:lnTo>
                <a:lnTo>
                  <a:pt x="1302062" y="1587900"/>
                </a:lnTo>
                <a:lnTo>
                  <a:pt x="136131" y="1687856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244806a6b554130"/>
            <a:stretch>
              <a:fillRect l="-81835" t="-2701" r="-42292" b="-12492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A2D60516-556D-4E61-8343-AF51D207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691441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Propuesta de Valor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BF466496-540B-4194-83AC-55A03FA3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177287"/>
            <a:ext cx="8324850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propuesta de valor de EnergyCore se centra en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centralizar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espacios y dispositivos para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visualizar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consumo energético y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automatizar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decisiones, mejorando así la eficiencia en el uso de energía.</a:t>
            </a:r>
          </a:p>
        </p:txBody>
      </p:sp>
    </p:spTree>
    <p:extLst>
      <p:ext uri="{BB962C8B-B14F-4D97-AF65-F5344CB8AC3E}">
        <p14:creationId xmlns:p14="http://schemas.microsoft.com/office/powerpoint/2010/main" val="21079487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BAAC75BC-DE60-4375-B0AA-2855266A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07346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3B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BC91768D-D80D-4A8B-BCCF-ECE6E93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97631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Público Objetivo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18EACD3-C212-4708-9B06-4CCF587C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750490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Energía eficiente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231D5E11-1760-4A15-A972-631E7A7F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212432"/>
            <a:ext cx="40100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HOGARES MODERNOS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9F8D6FC-12D4-4FC8-A722-04D8ED8D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6551788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Ahorro energético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0A00916-124F-4686-8AEF-9302BB14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6013730"/>
            <a:ext cx="40100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PEQUEÑOS NEGOCIOS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2C2D726-13B2-4947-810F-EF27CD59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8789090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Gestión centralizada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0E780B-9A8D-41DE-BF20-40E802CC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7793832"/>
            <a:ext cx="4010025" cy="924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ADMINISTRADORES DE ESPACIOS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B19E2C9D-DD44-4B78-81AC-FA8925B5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" flipH="0" flipV="0">
            <a:off x="13583954" y="3335424"/>
            <a:ext cx="4064567" cy="6302202"/>
          </a:xfrm>
          <a:custGeom xmlns:a="http://schemas.openxmlformats.org/drawingml/2006/main">
            <a:rect l="l" t="t" r="r" b="b"/>
            <a:pathLst>
              <a:path w="629708" h="976376">
                <a:moveTo>
                  <a:pt x="8474" y="0"/>
                </a:moveTo>
                <a:lnTo>
                  <a:pt x="629708" y="5421"/>
                </a:lnTo>
                <a:lnTo>
                  <a:pt x="621234" y="976376"/>
                </a:lnTo>
                <a:lnTo>
                  <a:pt x="0" y="97095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b0e81e67ee4ec8"/>
            <a:stretch>
              <a:fillRect l="-100963" t="-3313" r="-68259" b="-12369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73CA31F7-0918-454E-8A6B-D5AF2E25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3352800"/>
            <a:ext cx="4010025" cy="6267450"/>
          </a:xfrm>
          <a:custGeom xmlns:a="http://schemas.openxmlformats.org/drawingml/2006/main">
            <a:rect l="l" t="t" r="r" b="b"/>
            <a:pathLst>
              <a:path w="621258" h="970992">
                <a:moveTo>
                  <a:pt x="0" y="0"/>
                </a:moveTo>
                <a:lnTo>
                  <a:pt x="621258" y="0"/>
                </a:lnTo>
                <a:lnTo>
                  <a:pt x="621258" y="970992"/>
                </a:lnTo>
                <a:lnTo>
                  <a:pt x="0" y="970992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8d2291f6d6845d3"/>
            <a:stretch>
              <a:fillRect l="-32748" t="-31" r="-108943" b="-319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87B1CC02-9C6C-4BC6-8227-3F68972B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" flipH="0" flipV="0">
            <a:off x="4916390" y="3311497"/>
            <a:ext cx="4140396" cy="6350057"/>
          </a:xfrm>
          <a:custGeom xmlns:a="http://schemas.openxmlformats.org/drawingml/2006/main">
            <a:rect l="l" t="t" r="r" b="b"/>
            <a:pathLst>
              <a:path w="641456" h="983790">
                <a:moveTo>
                  <a:pt x="0" y="13011"/>
                </a:moveTo>
                <a:lnTo>
                  <a:pt x="621121" y="0"/>
                </a:lnTo>
                <a:lnTo>
                  <a:pt x="641456" y="970779"/>
                </a:lnTo>
                <a:lnTo>
                  <a:pt x="20335" y="98379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515fc3796eb4302"/>
            <a:stretch>
              <a:fillRect l="-110555" t="-10646" r="-110734" b="-719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84993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DCEF3118-99D2-4AD9-9079-0F8D0FF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2205322"/>
            <a:ext cx="1428750" cy="1428750"/>
          </a:xfrm>
          <a:custGeom xmlns:a="http://schemas.openxmlformats.org/drawingml/2006/main">
            <a:rect l="l" t="t" r="r" b="b"/>
            <a:pathLst>
              <a:path w="1428750" h="1428750">
                <a:moveTo>
                  <a:pt x="0" y="0"/>
                </a:moveTo>
                <a:lnTo>
                  <a:pt x="1428750" y="0"/>
                </a:lnTo>
                <a:lnTo>
                  <a:pt x="142875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FB45D41-8299-4410-A549-49EF24D8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9679" flipH="0" flipV="0">
            <a:off x="9296400" y="1848135"/>
            <a:ext cx="1428750" cy="1785937"/>
          </a:xfrm>
          <a:custGeom xmlns:a="http://schemas.openxmlformats.org/drawingml/2006/main">
            <a:rect l="l" t="t" r="r" b="b"/>
            <a:pathLst>
              <a:path w="1428750" h="1785937">
                <a:moveTo>
                  <a:pt x="0" y="0"/>
                </a:moveTo>
                <a:lnTo>
                  <a:pt x="1428750" y="0"/>
                </a:lnTo>
                <a:lnTo>
                  <a:pt x="1428750" y="1785937"/>
                </a:lnTo>
                <a:lnTo>
                  <a:pt x="0" y="1785937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0C19F40A-3D78-4431-92F5-929D2313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2000" y="6191250"/>
            <a:ext cx="1428750" cy="842962"/>
          </a:xfrm>
          <a:custGeom xmlns:a="http://schemas.openxmlformats.org/drawingml/2006/main">
            <a:rect l="l" t="t" r="r" b="b"/>
            <a:pathLst>
              <a:path w="1428750" h="842962">
                <a:moveTo>
                  <a:pt x="0" y="0"/>
                </a:moveTo>
                <a:lnTo>
                  <a:pt x="1428750" y="0"/>
                </a:lnTo>
                <a:lnTo>
                  <a:pt x="1428750" y="842962"/>
                </a:lnTo>
                <a:lnTo>
                  <a:pt x="0" y="84296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8A50A6CE-46F5-473C-AAEA-62F3BAE7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6001941"/>
            <a:ext cx="1428750" cy="1221581"/>
          </a:xfrm>
          <a:custGeom xmlns:a="http://schemas.openxmlformats.org/drawingml/2006/main">
            <a:rect l="l" t="t" r="r" b="b"/>
            <a:pathLst>
              <a:path w="1428750" h="1221581">
                <a:moveTo>
                  <a:pt x="0" y="0"/>
                </a:moveTo>
                <a:lnTo>
                  <a:pt x="1428750" y="0"/>
                </a:lnTo>
                <a:lnTo>
                  <a:pt x="1428750" y="1221581"/>
                </a:lnTo>
                <a:lnTo>
                  <a:pt x="0" y="122158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EEC08-52C9-4AE8-8858-4B84FE79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8151971"/>
            <a:ext cx="7191375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dashboard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proporcionará un resumen claro del consumo energético, mostrando indicadores claves y tendencias, lo que permitirá a los usuarios tomar decisiones informadas.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24848AE4-8AF9-445F-AC20-232B5269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7260432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DASHBOARD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607D2D-89DE-443E-A31D-F2BE6B07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78448" y="8151971"/>
            <a:ext cx="7191375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API documentada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ofrecerá un inventario detallado de todos los endpoints, facilitando la integración con sistemas externos y garantizando una comunicación eficiente entre componentes.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97F0A1-76C7-4BBD-AC9C-D8381612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78448" y="7260432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API DOCUMENTADA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BA3B3EC-B21B-4123-AA33-B0E4A134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4604168"/>
            <a:ext cx="7191375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landing page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se diseñará para captar la atención del usuario, enfatizando la importancia del consumo energético y facilitando el acceso inicial a la plataforma.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5AE9ADDB-1C84-4ED0-9633-F9E2101F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3725329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LANDING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6D7737-2081-4BCB-BCAB-B0850377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4715928"/>
            <a:ext cx="7191375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sistema de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autenticación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incluirá procesos de login, registro y recuperación de contraseñas, asegurando una experiencia de usuario fluida y segura desde el inicio.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82E4E05-2CE0-490C-9DB0-36F63B07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3820579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AUTENTICACIÓN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7B55652-8B50-493E-9720-27D09267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Producto base para AV2</a:t>
            </a:r>
          </a:p>
        </p:txBody>
      </p:sp>
    </p:spTree>
    <p:extLst>
      <p:ext uri="{BB962C8B-B14F-4D97-AF65-F5344CB8AC3E}">
        <p14:creationId xmlns:p14="http://schemas.microsoft.com/office/powerpoint/2010/main" val="4457508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2B9D5AD-ED6F-437B-972F-85CA4013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82623" y="3391148"/>
            <a:ext cx="3619500" cy="3583305"/>
          </a:xfrm>
          <a:custGeom xmlns:a="http://schemas.openxmlformats.org/drawingml/2006/main">
            <a:rect l="l" t="t" r="r" b="b"/>
            <a:pathLst>
              <a:path w="3619500" h="3583305">
                <a:moveTo>
                  <a:pt x="0" y="0"/>
                </a:moveTo>
                <a:lnTo>
                  <a:pt x="3619500" y="0"/>
                </a:lnTo>
                <a:lnTo>
                  <a:pt x="3619500" y="3583305"/>
                </a:lnTo>
                <a:lnTo>
                  <a:pt x="0" y="358330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7A1CE8DB-03AA-4D23-95E1-278B1D77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535455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Las sedes permiten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organizar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consumo energético en diferentes ubicaciones físicas.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CF00FA62-360C-4091-9A95-8FA3133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14429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SEDES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A7D2C755-A116-4D56-8D81-4867FF6D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835300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grupos facilitan 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gestión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de dispositivos y usuarios bajo una misma categoría.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35BB85D-0633-4A18-9774-EA141E47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444140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GRUPOS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32FE0CA-E4D6-4621-B5E3-CC2A5802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35175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Las alertas notifican a los usuarios sobre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anomalías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o cambios significativos en el consumo energético.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F5D5650-E63B-4617-BF9C-3B9670FA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74401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ALERTAS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2D6E044-C180-4FCE-9B78-EA52C34C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435051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ambientes son configuraciones específicas que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optimizan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uso de energía en cada espacio.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86B2B-879A-4957-A522-5EA9E284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043891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AMBIENTES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C68F3E-887C-4F37-9361-74F00351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734896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dispositivos se integran para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monitorear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y controlar el consumo energético en tiempo real.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6D63AF4F-7B1A-4806-8088-DC5F5EE9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43736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DISPOSITIVOS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C4DF4B94-BA93-404C-9414-36835AE0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Módulos de EnergyCore</a:t>
            </a:r>
          </a:p>
        </p:txBody>
      </p:sp>
    </p:spTree>
    <p:extLst>
      <p:ext uri="{BB962C8B-B14F-4D97-AF65-F5344CB8AC3E}">
        <p14:creationId xmlns:p14="http://schemas.microsoft.com/office/powerpoint/2010/main" val="11247314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3033E-4989-4A41-B470-9805611B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0AB48-BBE6-4F42-8A7D-4436532F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REQUISITOS · LÍNEA BASE ACUMULATIVA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B5C8C-D725-4813-9F3A-965C8032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Product Backlog refinado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9B919-1C45-4386-9AC0-EA48AA50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20000-0892-4A1E-8293-E390F307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691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Historias divididas por resultado verificable · máximo 5 Story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81E3C-950D-4789-A695-0C57EE63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F891B-EEC6-4C9F-B4CB-10E10D74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IDENTIDAD Y ESPACIOS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92B79-595F-4A47-9CC4-BA734EF7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US-02 · Registro/login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US-03 · Recuperación  3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US-04A · Sedes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US-04B · Habitaciones 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7164D-AB4F-4220-B00A-38CC024C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42CD9-EA34-4100-842A-BAFBB164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CONTROL Y ENERGÍA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4C53A-060D-4CBB-A2DE-9DF4CFC7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US-05 · Vinculación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US-06 · Control remoto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US-10A · Dashboard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US-10B · Histórico 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32ADF-538F-4CF2-9915-DEFF0C06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BF7D9-394F-4B9E-BE79-E2C3F1E6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AUTOMATIZACIÓN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C9A6D-EF1B-4FA9-B4ED-7AF25165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US-07 · Grupos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US-08 · Rutinas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US-11A · Reglas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US-11B · Preferencias 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FB846-178C-487F-9DAE-3D86999D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743F9-9E1D-4F4B-9E56-1B515A54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VALOR Y SOPORTE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4FBC15-EAAE-488C-9EC3-DACD76AD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US-12A · Metas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US-12B · Reportes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US-16A · Planes  3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US-16B · Suscripción  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BD06D-FBF6-43D7-BD6A-CE897D47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86750"/>
            <a:ext cx="169164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D2819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63D566-4ABA-410C-9BC5-6266332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543925"/>
            <a:ext cx="1619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Refinamiento aplicado: las historias grandes se dividieron por resultado verificable. El total se conserva como estimación relativa del alcance.</a:t>
            </a:r>
          </a:p>
        </p:txBody>
      </p:sp>
    </p:spTree>
    <p:extLst>
      <p:ext uri="{BB962C8B-B14F-4D97-AF65-F5344CB8AC3E}">
        <p14:creationId xmlns:p14="http://schemas.microsoft.com/office/powerpoint/2010/main" val="6401998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52B409A-B2E7-47BA-B15F-0DFDF081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6000" flipH="0" flipV="0">
            <a:off x="9259956" y="587198"/>
            <a:ext cx="8397738" cy="4035779"/>
          </a:xfrm>
          <a:custGeom xmlns:a="http://schemas.openxmlformats.org/drawingml/2006/main">
            <a:rect l="l" t="t" r="r" b="b"/>
            <a:pathLst>
              <a:path w="2122015" h="1019796">
                <a:moveTo>
                  <a:pt x="0" y="40384"/>
                </a:moveTo>
                <a:lnTo>
                  <a:pt x="2103209" y="0"/>
                </a:lnTo>
                <a:lnTo>
                  <a:pt x="2122015" y="979412"/>
                </a:lnTo>
                <a:lnTo>
                  <a:pt x="18806" y="1019796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7c6e317ded148c1"/>
            <a:stretch>
              <a:fillRect l="-1025" t="-19156" r="-2072" b="-2404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17CE00F-E2D7-455C-8BAE-9AB718AE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4848225"/>
            <a:ext cx="8324850" cy="3876675"/>
          </a:xfrm>
          <a:custGeom xmlns:a="http://schemas.openxmlformats.org/drawingml/2006/main">
            <a:rect l="l" t="t" r="r" b="b"/>
            <a:pathLst>
              <a:path w="2103597" h="979592">
                <a:moveTo>
                  <a:pt x="0" y="0"/>
                </a:moveTo>
                <a:lnTo>
                  <a:pt x="2103597" y="0"/>
                </a:lnTo>
                <a:lnTo>
                  <a:pt x="2103597" y="979592"/>
                </a:lnTo>
                <a:lnTo>
                  <a:pt x="0" y="979592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b04ad2d69c46d1"/>
            <a:stretch>
              <a:fillRect l="-14942" t="-29911" r="0" b="-893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D5A5C690-B244-4FB7-95D6-691CA53E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057775"/>
            <a:ext cx="6886575" cy="1706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6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Webs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ite, WebApp y Mobile consumen una única API Spring Boot. La persistencia se centraliza en Neon PostgreSQL para mantener una sola fuente de datos del producto.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11A2631D-441E-4458-96D1-F8F4C55B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6886575" cy="22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Arquitectura del Sistema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0C42A5EE-B774-4774-8ACA-F45FE1BB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05175"/>
            <a:ext cx="6886575" cy="9243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5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Integración efectiva de APIs y bases de datos para EnergyCore</a:t>
            </a:r>
          </a:p>
        </p:txBody>
      </p:sp>
    </p:spTree>
    <p:extLst>
      <p:ext uri="{BB962C8B-B14F-4D97-AF65-F5344CB8AC3E}">
        <p14:creationId xmlns:p14="http://schemas.microsoft.com/office/powerpoint/2010/main" val="39040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D03711-0FA5-42DF-8440-A00D7143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36D70-2352-4D30-B8A9-09EEE98F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POSTGRESQL · NEON · MODELO RELACIONAL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FA47-3098-43CA-A9EF-595063E0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Base de datos visible y trazable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5EF20-13A1-4D34-A415-CEE181EA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AC909-36C1-47B0-AC6F-CBD08870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AE9CD-A993-4A46-94D1-33C989AB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F0ACC-A923-40B9-BA7F-52424CBC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email · password_hash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38722-D30D-45DE-948C-A53C1E91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18F36-58DA-41BC-ADF5-6E3283B8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WORKPLACE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0F52D-2250-46ED-A185-F72856F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owner_id · name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41D372-7708-4646-A1E0-8E9A4A0C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46341-F2C3-46B4-9414-C35208D7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ROOM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DFA62-E53C-49B5-A194-61BD2033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workplace_id · name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B0ECD-B928-4F8F-B69D-D427F954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1C5E5B-8635-452C-862F-992B79CD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DEVICE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B7BEAC-16AE-4DC1-BE5B-3E8BAC23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room_id ·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4E9242-8F12-4B9A-8AA9-27F9A75B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2762250"/>
            <a:ext cx="3048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026A4-98BA-4CC2-B947-1AEFA58F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2971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ENERGY_SAMPLE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2ACA2F-A2EA-42F9-A932-6CF145A0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3505200"/>
            <a:ext cx="262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device_id · watts · timestamp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9DF34-461E-456D-96EA-28909404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2CDFE-5946-48C6-AB3E-E1FD9F25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ROUTINE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A0085-2175-4D88-A835-8DE59D35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user_id · schedule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854D2E-074B-4B8D-8AC4-8522B972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8EE412-E4C1-43E5-894A-9BB8C145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ALERT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4D473E-EFC2-452F-89D8-1574EEEF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user_id · severity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B9DA3-1E48-4ECB-B6B4-0990D77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C8E49C-C381-440D-86F3-D8DCABB4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342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GOAL_REPORT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1655B-A056-41AA-A1BB-5A5FC9F9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342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goal · report · period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84C93-1560-4D2A-ACA0-E47075E1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BEAD1A-025E-4E52-B98B-3837268C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A04CF8-F6DE-441F-8614-BE71F351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A81331-0933-453F-8D59-0101DD63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3571875"/>
            <a:ext cx="238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AD228F-FFF7-4476-8EF3-E9042A88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81FD9-AF6A-4192-A665-04D860FF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6907F8-126A-4B66-B2F3-3E98A332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9FD11B-3F11-4DD8-B6EF-56AA64CB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107405-4BF5-46DB-AE7F-EF780242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67750"/>
            <a:ext cx="1562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Una sola fuente de datos para WebApp y Flutter mediante la API Spring Boot. La evidencia pública verifica persistencia entre revisiones.</a:t>
            </a:r>
          </a:p>
        </p:txBody>
      </p:sp>
    </p:spTree>
    <p:extLst>
      <p:ext uri="{BB962C8B-B14F-4D97-AF65-F5344CB8AC3E}">
        <p14:creationId xmlns:p14="http://schemas.microsoft.com/office/powerpoint/2010/main" val="10911414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53061CC-79F6-4947-AE2A-D6F2B213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9509" y="985982"/>
            <a:ext cx="17968983" cy="9301018"/>
          </a:xfrm>
          <a:custGeom xmlns:a="http://schemas.openxmlformats.org/drawingml/2006/main">
            <a:rect l="l" t="t" r="r" b="b"/>
            <a:pathLst>
              <a:path w="2783866" h="1565643">
                <a:moveTo>
                  <a:pt x="0" y="474169"/>
                </a:moveTo>
                <a:lnTo>
                  <a:pt x="2583543" y="0"/>
                </a:lnTo>
                <a:lnTo>
                  <a:pt x="2783866" y="1091474"/>
                </a:lnTo>
                <a:lnTo>
                  <a:pt x="200323" y="156564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977e278304644f4"/>
            <a:stretch>
              <a:fillRect l="-22656" t="-21405" r="-20744" b="-2202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30A6772-8E89-4123-9679-69CB9D80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Página de Aterrizaje</a:t>
            </a:r>
          </a:p>
        </p:txBody>
      </p:sp>
    </p:spTree>
    <p:extLst>
      <p:ext uri="{BB962C8B-B14F-4D97-AF65-F5344CB8AC3E}">
        <p14:creationId xmlns:p14="http://schemas.microsoft.com/office/powerpoint/2010/main" val="1148322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55CB224-0869-41C9-9372-D4B55F5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2286000"/>
            <a:ext cx="11144250" cy="7231380"/>
          </a:xfrm>
          <a:custGeom xmlns:a="http://schemas.openxmlformats.org/drawingml/2006/main">
            <a:rect l="l" t="t" r="r" b="b"/>
            <a:pathLst>
              <a:path w="2816027" h="1827289">
                <a:moveTo>
                  <a:pt x="0" y="0"/>
                </a:moveTo>
                <a:lnTo>
                  <a:pt x="2816027" y="0"/>
                </a:lnTo>
                <a:lnTo>
                  <a:pt x="2816027" y="1827289"/>
                </a:lnTo>
                <a:lnTo>
                  <a:pt x="0" y="182728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dbdb481b5934210"/>
            <a:stretch>
              <a:fillRect l="0" t="-17700" r="-25471" b="-774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85558333-95F4-4C1B-A21B-9AEF4A0D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049375" y="2667000"/>
            <a:ext cx="2201980" cy="6667500"/>
          </a:xfrm>
          <a:custGeom xmlns:a="http://schemas.openxmlformats.org/drawingml/2006/main">
            <a:rect l="l" t="t" r="r" b="b"/>
            <a:pathLst>
              <a:path w="556416" h="1684803">
                <a:moveTo>
                  <a:pt x="0" y="0"/>
                </a:moveTo>
                <a:lnTo>
                  <a:pt x="556416" y="0"/>
                </a:lnTo>
                <a:lnTo>
                  <a:pt x="556416" y="1684803"/>
                </a:lnTo>
                <a:lnTo>
                  <a:pt x="0" y="168480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59d2a0a5a204058"/>
            <a:stretch>
              <a:fillRect l="0" t="-67173" r="-177460" b="-3645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4974321-D2C7-4F50-9EBF-A06D279B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30250" y="1466850"/>
            <a:ext cx="4191000" cy="1234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2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025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Flutter · Android real</a:t>
            </a:r>
          </a:p>
          <a:p xmlns:a="http://schemas.openxmlformats.org/drawingml/2006/main">
            <a:pPr marL="0" lvl="0" indent="0" algn="l">
              <a:lnSpc>
                <a:spcPts val="32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025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Ejecución local con datos de demostración.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53F7B3B-42C4-4236-BD8A-1166C0DE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559593"/>
            <a:ext cx="16192500" cy="7962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627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7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Acceso web y Android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692DF17-79BC-49F6-85D5-1141EB7B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488281"/>
            <a:ext cx="10477500" cy="3999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Angular · navegador</a:t>
            </a:r>
          </a:p>
        </p:txBody>
      </p:sp>
    </p:spTree>
    <p:extLst>
      <p:ext uri="{BB962C8B-B14F-4D97-AF65-F5344CB8AC3E}">
        <p14:creationId xmlns:p14="http://schemas.microsoft.com/office/powerpoint/2010/main" val="1737627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D26E050-413C-4604-914A-DDBD5A0C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1238250"/>
            <a:ext cx="9525000" cy="4933950"/>
          </a:xfrm>
          <a:custGeom xmlns:a="http://schemas.openxmlformats.org/drawingml/2006/main">
            <a:rect l="l" t="t" r="r" b="b"/>
            <a:pathLst>
              <a:path w="1475672" h="764398">
                <a:moveTo>
                  <a:pt x="0" y="0"/>
                </a:moveTo>
                <a:lnTo>
                  <a:pt x="1475672" y="0"/>
                </a:lnTo>
                <a:lnTo>
                  <a:pt x="1475672" y="764398"/>
                </a:lnTo>
                <a:lnTo>
                  <a:pt x="0" y="764398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fae30eaa4354c24"/>
            <a:stretch>
              <a:fillRect l="-64697" t="0" r="-43997" b="-10849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033A446F-EEBC-4ECF-9350-F0E732A5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559718"/>
            <a:ext cx="666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6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60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Dashboard</a:t>
            </a:r>
          </a:p>
          <a:p xmlns:a="http://schemas.openxmlformats.org/drawingml/2006/main">
            <a:pPr marL="0" lvl="0" indent="0" algn="l">
              <a:lnSpc>
                <a:spcPts val="6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60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energético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0C6B4EA2-1894-4B00-BD8F-66D5F735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345781"/>
            <a:ext cx="6477000" cy="34127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Consumo diario, tendencias e indicadores de la aplicación web.</a:t>
            </a: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Angular → Spring Boot → PostgreSQL.</a:t>
            </a: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Ejecución local real con datos de demostración; no son mediciones físicas ni evidencia de producción.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ABD1168-9421-4FD9-A9E4-ED346324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6477000"/>
            <a:ext cx="9525000" cy="2724150"/>
          </a:xfrm>
          <a:custGeom xmlns:a="http://schemas.openxmlformats.org/drawingml/2006/main">
            <a:rect l="l" t="t" r="r" b="b"/>
            <a:pathLst>
              <a:path w="9525000" h="2724150">
                <a:moveTo>
                  <a:pt x="0" y="0"/>
                </a:moveTo>
                <a:lnTo>
                  <a:pt x="9525000" y="0"/>
                </a:lnTo>
                <a:lnTo>
                  <a:pt x="9525000" y="2724150"/>
                </a:lnTo>
                <a:lnTo>
                  <a:pt x="0" y="27241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be2763ba9224c61"/>
            <a:stretch>
              <a:fillRect l="0" t="-43" r="0" b="-43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0563995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0B87B269-BBCF-4095-B4BA-F99553E4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647825"/>
            <a:ext cx="5238750" cy="1508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594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4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EnergyCore</a:t>
            </a:r>
          </a:p>
          <a:p xmlns:a="http://schemas.openxmlformats.org/drawingml/2006/main">
            <a:pPr marL="0" lvl="0" indent="0" algn="l">
              <a:lnSpc>
                <a:spcPts val="594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4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 Android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1595F52-2599-4F9D-92EB-AD9D6AAC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5310187"/>
            <a:ext cx="5048250" cy="365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Flutter conectado a la API local.</a:t>
            </a: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Potencia por habitación verificada: 1370 W.</a:t>
            </a: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Datos de demostración; no son mediciones físicas ni evidencia de producción.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7BAB789-41F4-4FC1-AE99-73B445B7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3869531"/>
            <a:ext cx="5048250" cy="4265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Inicio → consumo → dispositivos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6A1F6C50-2F84-473B-91CB-A4ABE6DD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72250" y="1809750"/>
            <a:ext cx="3333750" cy="7410450"/>
          </a:xfrm>
          <a:custGeom xmlns:a="http://schemas.openxmlformats.org/drawingml/2006/main">
            <a:rect l="l" t="t" r="r" b="b"/>
            <a:pathLst>
              <a:path w="516485" h="1148073">
                <a:moveTo>
                  <a:pt x="0" y="0"/>
                </a:moveTo>
                <a:lnTo>
                  <a:pt x="516485" y="0"/>
                </a:lnTo>
                <a:lnTo>
                  <a:pt x="516485" y="1148073"/>
                </a:lnTo>
                <a:lnTo>
                  <a:pt x="0" y="114807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10e8ebaa7f64271"/>
            <a:stretch>
              <a:fillRect l="0" t="-43844" r="-126571" b="-82662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2154704E-5488-4C66-AA50-1E2A9962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82250" y="1809750"/>
            <a:ext cx="3333750" cy="7410450"/>
          </a:xfrm>
          <a:custGeom xmlns:a="http://schemas.openxmlformats.org/drawingml/2006/main">
            <a:rect l="l" t="t" r="r" b="b"/>
            <a:pathLst>
              <a:path w="3333750" h="7410450">
                <a:moveTo>
                  <a:pt x="0" y="0"/>
                </a:moveTo>
                <a:lnTo>
                  <a:pt x="3333750" y="0"/>
                </a:lnTo>
                <a:lnTo>
                  <a:pt x="3333750" y="7410450"/>
                </a:lnTo>
                <a:lnTo>
                  <a:pt x="0" y="74104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806450e7434093"/>
            <a:stretch>
              <a:fillRect l="-14" t="0" r="-14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975AAA7-3EBE-4E2F-878F-513877EA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2250" y="1809750"/>
            <a:ext cx="3333750" cy="7410450"/>
          </a:xfrm>
          <a:custGeom xmlns:a="http://schemas.openxmlformats.org/drawingml/2006/main">
            <a:rect l="l" t="t" r="r" b="b"/>
            <a:pathLst>
              <a:path w="3333750" h="7410450">
                <a:moveTo>
                  <a:pt x="0" y="0"/>
                </a:moveTo>
                <a:lnTo>
                  <a:pt x="3333750" y="0"/>
                </a:lnTo>
                <a:lnTo>
                  <a:pt x="3333750" y="7410450"/>
                </a:lnTo>
                <a:lnTo>
                  <a:pt x="0" y="74104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37ee7ec6ee74d96"/>
            <a:stretch>
              <a:fillRect l="-14" t="0" r="-14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3608013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4A76320-A286-4872-953D-500BF6C9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478250" y="8905875"/>
            <a:ext cx="809625" cy="695325"/>
          </a:xfrm>
          <a:custGeom xmlns:a="http://schemas.openxmlformats.org/drawingml/2006/main">
            <a:rect l="l" t="t" r="r" b="b"/>
            <a:pathLst>
              <a:path w="809625" h="695325">
                <a:moveTo>
                  <a:pt x="0" y="0"/>
                </a:moveTo>
                <a:lnTo>
                  <a:pt x="809625" y="0"/>
                </a:lnTo>
                <a:lnTo>
                  <a:pt x="809625" y="695325"/>
                </a:lnTo>
                <a:lnTo>
                  <a:pt x="0" y="69532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3B60C3F5-9A56-44F0-AFD8-36F7AD85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71500"/>
            <a:ext cx="1609725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5775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25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API real · Swagger / OpenAPI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F71DA8C-2D1F-4439-8FFE-2EDDC8E2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2714625"/>
            <a:ext cx="6286500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Contrato OpenAPI 3.1.0 organizado por dominio.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33EF329-9CAC-4BEB-82EE-C4C047F6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2047875"/>
            <a:ext cx="6286500" cy="506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99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850" b="1" u="none">
                <a:solidFill>
                  <a:srgbClr val="7BE39C"/>
                </a:solidFill>
                <a:latin typeface="DM Sans Bold"/>
                <a:ea typeface="DM Sans Bold"/>
                <a:cs typeface="DM Sans Bold"/>
              </a:rPr>
              <a:t>100 OPERACIONES REST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82834A2-CEA2-41B6-9893-7408FAC7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6334125"/>
            <a:ext cx="6286500" cy="19996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Endpoints reales de consumo y monitoreo.</a:t>
            </a: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Spring Boot + PostgreSQL local.</a:t>
            </a: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Datos de demostración; sin evidencia de producción.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B769176A-6312-471B-B1EC-3A0CC715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5572125"/>
            <a:ext cx="6286500" cy="506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99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850" b="1" u="none">
                <a:solidFill>
                  <a:srgbClr val="7BE39C"/>
                </a:solidFill>
                <a:latin typeface="DM Sans Bold"/>
                <a:ea typeface="DM Sans Bold"/>
                <a:cs typeface="DM Sans Bold"/>
              </a:rPr>
              <a:t>ENERGY MONITORING</a:t>
            </a: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95BB8784-4499-4576-A853-AFF9FCD3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2095500"/>
            <a:ext cx="10001250" cy="6248400"/>
          </a:xfrm>
          <a:custGeom xmlns:a="http://schemas.openxmlformats.org/drawingml/2006/main">
            <a:rect l="l" t="t" r="r" b="b"/>
            <a:pathLst>
              <a:path w="10001250" h="6248400">
                <a:moveTo>
                  <a:pt x="0" y="0"/>
                </a:moveTo>
                <a:lnTo>
                  <a:pt x="10001250" y="0"/>
                </a:lnTo>
                <a:lnTo>
                  <a:pt x="10001250" y="6248400"/>
                </a:lnTo>
                <a:lnTo>
                  <a:pt x="0" y="62484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c4ef2a21c8a4155"/>
            <a:stretch>
              <a:fillRect l="0" t="-19" r="0" b="-19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D7C3FAF-289C-4EFC-B4C2-8862947B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39500" y="3714750"/>
            <a:ext cx="6286500" cy="1466850"/>
          </a:xfrm>
          <a:custGeom xmlns:a="http://schemas.openxmlformats.org/drawingml/2006/main">
            <a:rect l="l" t="t" r="r" b="b"/>
            <a:pathLst>
              <a:path w="6286500" h="1466850">
                <a:moveTo>
                  <a:pt x="0" y="0"/>
                </a:moveTo>
                <a:lnTo>
                  <a:pt x="6286500" y="0"/>
                </a:lnTo>
                <a:lnTo>
                  <a:pt x="6286500" y="1466850"/>
                </a:ln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4f62f15711e414c"/>
            <a:stretch>
              <a:fillRect l="-179" t="0" r="-179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4027412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D65E16-4507-4FA6-B201-140124B9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97A70C-10F0-4367-9046-429A044F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GITHUB ACTIONS · CINCO REPOSITORIOS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207AB-7C99-49DC-AF93-1EC1E991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y CI/CD por cada commit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16C6-3E31-4FB4-B718-FA5B8D3C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D36E2-EDA1-4C81-9934-5E9032C8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50917-8AA4-4412-BBF1-08FAAE67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8302B-507B-47E2-887A-BDDF46C7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CHECKOUT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94CFE-0794-44C8-9D0B-724A536B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Código y lockfiles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B8D86-50A2-4321-9077-AF0884EB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EDD29-9848-4F6B-8D9F-23A67B45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EC3F2-C47C-4D9A-87B1-E9F557F5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ANÁLISIS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34699-AAFB-424C-ACC6-943C4B63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Java · TypeScript · Dart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0A796-3C4B-4CE8-94AF-BB4A1E45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73820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5A9B6-11E4-4B6C-81F9-4DBF1B5F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FE8D67-A8D6-40F4-9EA2-03CFEBA1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5D971-308A-4CCC-B01D-7ECE3218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Unitarias · integración · BDD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A115E-6B94-4D5B-B493-5A09D0E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ABDBB-BEDE-4B6B-93A2-DBD9F0A2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EB2CEF-0901-4C75-8F1B-D8E307B2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256AD6-36D3-413D-BBA5-86AECA42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866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JAR · dist · APK · documentos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04E297-CA3E-4B3D-91DF-5E4AAFFE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5FD710-4352-401A-9ED2-326EC955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3434D-BFFB-485B-9380-FB9ED057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ARTEFACTOS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64134F-E8EC-43AD-A2A3-1D52990D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SHA y reportes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3B0A7-A41C-4DF3-8BAC-955FA551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36BEC2-C5A6-4200-8BA0-C3F0BFC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5DD4F9-DE04-47C4-A4FF-B2409FD3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JUnit aprobadas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2F82D-1B97-4C56-895E-56310E64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42A247-9C2A-4C5E-80EB-F2FF9DE8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60/60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DA1B5-EBCD-4883-8C97-EC6CCEC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escenarios BDD aprobados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D74F1C-1435-4267-ABC3-8A7AA990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9C8CCC-0E42-46CF-A9A5-D2019EE9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5/5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35C90B-D999-4022-A405-9E08B434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workflows CI configurados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3A5867-5DFA-4B2C-9A90-9AB49F2F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22D2BD-C639-4A0F-84E5-3EE5049A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109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4C9C96-CB2A-42B8-8359-D8E46DFC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de producto aprobadas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E6C5B0-6887-46E0-ACC2-35812D1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10625"/>
            <a:ext cx="1691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Línea base del 05/10/2026: 88 backend + 5 web + 5 landing + 11 Flutter. CI consultado el 21/10/2026.</a:t>
            </a:r>
          </a:p>
        </p:txBody>
      </p:sp>
    </p:spTree>
    <p:extLst>
      <p:ext uri="{BB962C8B-B14F-4D97-AF65-F5344CB8AC3E}">
        <p14:creationId xmlns:p14="http://schemas.microsoft.com/office/powerpoint/2010/main" val="5905596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A4174F17-3B3C-474E-BC62-07048ECA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60084" y="131764"/>
            <a:ext cx="2286000" cy="2286000"/>
          </a:xfrm>
          <a:custGeom xmlns:a="http://schemas.openxmlformats.org/drawingml/2006/main"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E2EB778-4873-4EC2-B6A8-A224491B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00250" y="6572250"/>
            <a:ext cx="2000250" cy="2000250"/>
          </a:xfrm>
          <a:custGeom xmlns:a="http://schemas.openxmlformats.org/drawingml/2006/main">
            <a:rect l="l" t="t" r="r" b="b"/>
            <a:pathLst>
              <a:path w="2000250" h="2000250">
                <a:moveTo>
                  <a:pt x="0" y="0"/>
                </a:moveTo>
                <a:lnTo>
                  <a:pt x="2000250" y="0"/>
                </a:lnTo>
                <a:lnTo>
                  <a:pt x="2000250" y="2000250"/>
                </a:lnTo>
                <a:lnTo>
                  <a:pt x="0" y="20002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680A4839-A795-4208-A5EC-6B33F928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6572250"/>
            <a:ext cx="2000250" cy="2000250"/>
          </a:xfrm>
          <a:custGeom xmlns:a="http://schemas.openxmlformats.org/drawingml/2006/main">
            <a:rect l="l" t="t" r="r" b="b"/>
            <a:pathLst>
              <a:path w="2000250" h="2000250">
                <a:moveTo>
                  <a:pt x="0" y="0"/>
                </a:moveTo>
                <a:lnTo>
                  <a:pt x="2000250" y="0"/>
                </a:lnTo>
                <a:lnTo>
                  <a:pt x="2000250" y="2000250"/>
                </a:lnTo>
                <a:lnTo>
                  <a:pt x="0" y="20002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ABE0A47-CD8E-4E6D-B1B4-C8616489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2250" y="6572250"/>
            <a:ext cx="2190750" cy="1610201"/>
          </a:xfrm>
          <a:custGeom xmlns:a="http://schemas.openxmlformats.org/drawingml/2006/main">
            <a:rect l="l" t="t" r="r" b="b"/>
            <a:pathLst>
              <a:path w="2190750" h="1610201">
                <a:moveTo>
                  <a:pt x="0" y="0"/>
                </a:moveTo>
                <a:lnTo>
                  <a:pt x="2190750" y="0"/>
                </a:lnTo>
                <a:lnTo>
                  <a:pt x="2190750" y="1610201"/>
                </a:lnTo>
                <a:lnTo>
                  <a:pt x="0" y="161020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CC596113-5AD6-4DD9-B7ED-038CF887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58210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GitFlow y GitHub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094A41F4-3A45-4290-90F5-07BFBF6A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153806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rama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main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es la base del proyecto, donde el código más estable se despliega y se mantiene. Es esencial para asegurar la calidad del producto final.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DEE6C45-0358-439E-B242-01B185E0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3258457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RAMIFICACIÓN MAIN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8A618B-75C5-4E86-821A-1553FCE9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86587" y="4153806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rama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develop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permite la integración continua de nuevas características y correcciones. Facilita la colaboración entre los desarrolladores y el avance del proyecto de manera organizada.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9769EE-05D5-4736-A867-4524B30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86587" y="3258457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DESARROLLO CONTINUO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7203986-CB0A-4465-87C0-E867A648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01662" y="4155901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Se han creado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cinco repositorios públicos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para el proyecto, lo que permite a otros usuarios acceder, contribuir y revisar el código, promoviendo la transparencia y la colaboración.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A83D76-2208-4333-A5C3-496E1E2B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01662" y="3260552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REPOSITORIOS PÚBLICOS</a:t>
            </a:r>
          </a:p>
        </p:txBody>
      </p:sp>
    </p:spTree>
    <p:extLst>
      <p:ext uri="{BB962C8B-B14F-4D97-AF65-F5344CB8AC3E}">
        <p14:creationId xmlns:p14="http://schemas.microsoft.com/office/powerpoint/2010/main" val="19090427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5BEA40C-93EE-4DA7-AD32-80BD400F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240000" y="762000"/>
            <a:ext cx="2286000" cy="2286000"/>
          </a:xfrm>
          <a:custGeom xmlns:a="http://schemas.openxmlformats.org/drawingml/2006/main"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F977A16-E422-4085-A226-BD932168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22844" y="6048891"/>
            <a:ext cx="3619500" cy="3619500"/>
          </a:xfrm>
          <a:custGeom xmlns:a="http://schemas.openxmlformats.org/drawingml/2006/main">
            <a:rect l="l" t="t" r="r" b="b"/>
            <a:pathLst>
              <a:path w="3619500" h="3619500">
                <a:moveTo>
                  <a:pt x="0" y="0"/>
                </a:moveTo>
                <a:lnTo>
                  <a:pt x="3619500" y="0"/>
                </a:lnTo>
                <a:lnTo>
                  <a:pt x="3619500" y="3619500"/>
                </a:lnTo>
                <a:lnTo>
                  <a:pt x="0" y="36195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E3B94B0E-CA04-4A37-B2CB-C94DD044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234862" y="6312424"/>
            <a:ext cx="2857500" cy="2945876"/>
          </a:xfrm>
          <a:custGeom xmlns:a="http://schemas.openxmlformats.org/drawingml/2006/main">
            <a:rect l="l" t="t" r="r" b="b"/>
            <a:pathLst>
              <a:path w="2857500" h="2945876">
                <a:moveTo>
                  <a:pt x="0" y="0"/>
                </a:moveTo>
                <a:lnTo>
                  <a:pt x="2857500" y="0"/>
                </a:lnTo>
                <a:lnTo>
                  <a:pt x="2857500" y="2945876"/>
                </a:lnTo>
                <a:lnTo>
                  <a:pt x="0" y="294587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4e2f21a6f744226">
              <a:extLst>
                <a:ext uri="{96DAC541-7B7A-43D3-8B79-37D633B846F1}">
                  <asvg:svgBlip xmlns:asvg="http://schemas.microsoft.com/office/drawing/2016/SVG/main" r:embed="R30d67ba62f6b4f2c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3F2F4FF-354F-4DEA-9A11-7E6C685F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58210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Calidad y despliegue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ACAC98E6-BF12-4820-8E15-A60FB626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819650"/>
            <a:ext cx="7191375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5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88 pruebas backend aprobadas: 28 JUnit y 60 escenarios Cucumber.</a:t>
            </a:r>
          </a:p>
          <a:p xmlns:a="http://schemas.openxmlformats.org/drawingml/2006/main">
            <a:pPr marL="0" lvl="0" indent="0" algn="l">
              <a:lnSpc>
                <a:spcPts val="315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CI del mismo commit consultado el 21/10/2026; no se presenta como una nueva ejecución local.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81457EDA-C909-40ED-B35E-DD1F9676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92148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PRUEBAS BACKEND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1777E1F-E868-4417-8E74-BBF7B59F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67925" y="4825582"/>
            <a:ext cx="7191375" cy="11197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Cloud Run, Firebase Hosting y Neon PostgreSQL están desplegados. Health, OpenAPI, registro, login, CORS y persistencia fueron verificados en el entorno público.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8BDBD-C564-4E9A-8351-70147FD4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67925" y="392148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PREPARACIÓN EN LA NUBE</a:t>
            </a:r>
          </a:p>
        </p:txBody>
      </p:sp>
    </p:spTree>
    <p:extLst>
      <p:ext uri="{BB962C8B-B14F-4D97-AF65-F5344CB8AC3E}">
        <p14:creationId xmlns:p14="http://schemas.microsoft.com/office/powerpoint/2010/main" val="4992679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7FAECB-EBB6-40CF-8030-2745E4B4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0553E-55E6-4753-9D46-A6554F9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CLOUD RUN · FIREBASE HOSTING · NEON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4D895-B13C-4941-A3C8-31B041AC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Despliegue público verificado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E6864-9662-4CBD-BC52-2477A4A0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515F2-F43F-4E31-AABD-13D0F43C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C5ED8-1378-43BB-99EA-FA5BEA91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WEB 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C24E0-AC8B-48DD-8D93-60044EA0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Firebase Hosting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5D44F-D9E6-4C6A-8154-CCEFA9B9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university-energycorp.web.app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89C16-B930-4504-B1BA-0A28B9B2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Rutas SPA y acceso público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03483-D82B-4AE5-86A7-51DEB2DC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58C48E-04A5-4A30-9772-C637867B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BEE99-399D-4BBC-855F-B0625D02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5351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51FBC-97F1-4476-994A-A488B47E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RESTFUL 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E0CF5-221D-4D3B-988E-E15B7B52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Google Cloud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4CD09-59F0-457E-8C93-D856C479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energycore-platform-ujdgb2zcpq-ue.a.run.app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7DB17-4E72-4911-8A75-93683836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Health, OpenAPI, registro, login y CORS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45D0F9-8ADA-4ECC-A465-7C8B9416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E4482-C766-4CC5-AA39-CF9E3367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85D25-ECC1-452A-A606-8BC58595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6CA72-7C93-4034-AA88-258F4B07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BASE DE DATOS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D10A7-D629-4A04-AB73-C0A36E48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Neon PostgreSQL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F5AFCA-7929-4A88-9444-41CBD13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Persistencia entre revisiones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8BC88-063A-4DE7-B47F-E45F5C43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Mismo usuario y marcador recuperados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5778F8-7BC4-4D8B-8DB6-881240D7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3C5663-8D06-4597-98E9-E487F23C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C08C1-69E7-47EB-ACE4-8FCC499E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53375"/>
            <a:ext cx="169164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D2819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F001EA-4ED4-4753-A897-49F2AE54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267700"/>
            <a:ext cx="1600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025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Una sola API y una sola base de datos conectan la aplicación web y Flutter con trazabilidad del despliegue.</a:t>
            </a:r>
          </a:p>
        </p:txBody>
      </p:sp>
    </p:spTree>
    <p:extLst>
      <p:ext uri="{BB962C8B-B14F-4D97-AF65-F5344CB8AC3E}">
        <p14:creationId xmlns:p14="http://schemas.microsoft.com/office/powerpoint/2010/main" val="2947140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85639-522E-4014-990A-7BF8E090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Revisión técnica trazable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69DDB-E3C0-471C-A288-BBF5F931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CI Y REVISIONES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C6422-61DF-4504-976D-43DF0904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Últimas ejecuciones consultadas: cinco repositorios con resultado success. Los cuatro repositorios del producto coinciden con su commit local.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066737-9E1D-4A4E-A80C-92611AA9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HALLAZGOS CONCRETOS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44907-7650-4A17-9A38-340D1B82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Producción conserva ddl-auto=update y un origen localhost en el CORS predeterminado. Son observaciones abiertas, no correcciones desplegadas.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27AA9-EC5B-4407-9FCE-42CF03B4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ALCANCE DE LA REVISIÓN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75E32-EC2E-40E3-8360-C4844986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Inspección automática del código. La aprobación humana por pares y la auditoría de otro grupo no se sustituyen con esta revisión.</a:t>
            </a:r>
          </a:p>
        </p:txBody>
      </p:sp>
    </p:spTree>
    <p:extLst>
      <p:ext uri="{BB962C8B-B14F-4D97-AF65-F5344CB8AC3E}">
        <p14:creationId xmlns:p14="http://schemas.microsoft.com/office/powerpoint/2010/main" val="136613309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3DDC12-3DEF-4410-B5E4-B4609220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Monitoreo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ECC72E-4C93-41FB-8459-DBDC84C8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COMPROBACIÓN PÚBLICA DEL 21/10/2026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82A4D-A351-43CE-B7BE-203FFEA7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API health: 200 · OpenAPI: 200 · Web Application: 200. Solo solicitudes de lectura, sin cuentas ni datos personales.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8A70D-09B3-443B-B489-79D163B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DETECCIÓN Y EVIDENCIA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151DE-A3AA-4280-84E0-69C49648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El monitor valida status UP, contrato OpenAPI y HTML; termina con fallo ante una respuesta incorrecta y guarda JSON.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D166F-ABEE-49A2-9608-A5D9BDE3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AUTOMATIZACIÓN PREPARADA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C79E2-B1E1-4739-97CB-F9FFCA37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Workflow manual y programado cada 6 horas. Su activación remota requiere publicar el cambio; no se afirma un SLA medido.</a:t>
            </a:r>
          </a:p>
        </p:txBody>
      </p:sp>
    </p:spTree>
    <p:extLst>
      <p:ext uri="{BB962C8B-B14F-4D97-AF65-F5344CB8AC3E}">
        <p14:creationId xmlns:p14="http://schemas.microsoft.com/office/powerpoint/2010/main" val="2818444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13766-383A-421E-8ED3-AB0E9143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Pregunta e hipótesis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6BE76-35AB-4660-BBF8-4B36F628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PREGUNTA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785D4-5F92-45E2-A5C6-EDB135CC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¿Una recomendación con causa y acción ayuda a identificar un consumo anómalo y decidir qué hacer?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A8B06-BAB1-4502-B98E-BB41170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COMPARACIÓN PROPUESTA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E2F49-E197-4200-B677-2253CA0B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Control: dashboard actual. Tratamiento: recomendación accionable con explicación, impacto y confirmación segura.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347DC-3308-4A94-9604-FD7F2D5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HIPÓTESIS POR CONTRASTAR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2F14D-B9A7-41CE-9D63-26006135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El tratamiento reduce el tiempo de la tarea sin aumentar errores. No se afirma ahorro energético ni una mejora ya demostrada.</a:t>
            </a:r>
          </a:p>
        </p:txBody>
      </p:sp>
    </p:spTree>
    <p:extLst>
      <p:ext uri="{BB962C8B-B14F-4D97-AF65-F5344CB8AC3E}">
        <p14:creationId xmlns:p14="http://schemas.microsoft.com/office/powerpoint/2010/main" val="10342550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633CB-3271-4F82-B05A-88169D2D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Diseño y medición propuestos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028A8-55F7-4BF7-9935-DA71D8B6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VARIABLES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DF913-9B19-4BBC-A104-78DEBF2D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Tiempo de tarea, éxito y errores. Registrar variante, plataforma, segmento y experiencia previa sin identificar a la persona.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D84383-EDCE-4D7D-9E2E-D891EB7B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PILOTO PROPUESTO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FBE00-DACA-40F3-A7C4-55DDF54D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24 participantes para depurar tareas y estimar parámetros. La muestra confirmatoria depende de variabilidad y efecto mínimo.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C4E3D-746D-485C-9222-EFA6469B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CONTROL Y ÉTICA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035E2-0FAE-44F5-973B-38B858C1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Mismas tareas y datos semilla; asignación consistente; consentimiento, minimización de datos y detención ante riesgo.</a:t>
            </a:r>
          </a:p>
        </p:txBody>
      </p:sp>
    </p:spTree>
    <p:extLst>
      <p:ext uri="{BB962C8B-B14F-4D97-AF65-F5344CB8AC3E}">
        <p14:creationId xmlns:p14="http://schemas.microsoft.com/office/powerpoint/2010/main" val="167030108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FB88F-36CA-4010-AD85-7727D7B6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To-Be Product Backlog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473BA-746B-4119-A7E6-F41B9C46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13 HISTORIAS · 53 STORY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D8654-573A-4520-B026-28E15E7D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Historias de explicación, acción segura, alcance, recuperación, idempotencia y frescura; tareas técnicas de asignación y eventos.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61E67-F7FE-4C16-ABA2-E43BB9F9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CRITERIOS DE ACEPTACIÓN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E2704-6B2C-4513-BB16-78CE7EF1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Cada historia conserva su resultado verificable. Ninguna supera 5 SP; las estimaciones no equivalen a implementación terminada.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3434C-5F83-4498-B48F-A68FC5E2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PLANIFICACIÓN Y TRAZABILIDAD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46B62-D889-45E3-8AB0-117178CC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Trello: energycore-product-backlog-y-sprint-planning. Reporte: 8.3.1 User Stories y 8.3.2 Product Backlog.</a:t>
            </a:r>
          </a:p>
        </p:txBody>
      </p:sp>
    </p:spTree>
    <p:extLst>
      <p:ext uri="{BB962C8B-B14F-4D97-AF65-F5344CB8AC3E}">
        <p14:creationId xmlns:p14="http://schemas.microsoft.com/office/powerpoint/2010/main" val="17103115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B54952D-7A72-4EDF-9003-013AA7DF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0"/>
            <a:ext cx="7553325" cy="10287000"/>
          </a:xfrm>
          <a:custGeom xmlns:a="http://schemas.openxmlformats.org/drawingml/2006/main">
            <a:rect l="l" t="t" r="r" b="b"/>
            <a:pathLst>
              <a:path w="1170208" h="1593725">
                <a:moveTo>
                  <a:pt x="0" y="0"/>
                </a:moveTo>
                <a:lnTo>
                  <a:pt x="1170208" y="0"/>
                </a:lnTo>
                <a:lnTo>
                  <a:pt x="1170208" y="1593725"/>
                </a:lnTo>
                <a:lnTo>
                  <a:pt x="0" y="159372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823ab42b6a44035"/>
            <a:stretch>
              <a:fillRect l="-75656" t="34" r="-75656" b="-12366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DD99A3B3-B2FD-42D5-B1CF-A376ADE4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60388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34A7BB91-785F-40BA-958F-BCB977D1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61753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FEF822E-ADA5-47D3-8ADF-5301D573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78295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1C68099F-FF1B-4ABD-9DCB-A3123860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79660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4478C2A0-8AE0-4CD2-ADA3-25F63520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42481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FA8B6F-2F4D-4EB0-AEA5-25364991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43846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5A15307-1E55-41F0-92F3-5DB36497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8378238"/>
            <a:ext cx="5448300" cy="3732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lex Humberto Sánchez Ponce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3AF3D843-D903-438F-B0CA-5B379EEF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7793832"/>
            <a:ext cx="5448300" cy="4621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</a:t>
            </a: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OCENTE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C9D776F-1A2D-4040-A89E-600BAED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6587538"/>
            <a:ext cx="5448300" cy="3732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NRC 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9100 · 7.º ciclo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C25756-39B0-47FC-9217-9F4C5366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6003132"/>
            <a:ext cx="5448300" cy="4621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CURSO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0109B0-E4A1-424A-B588-9333CE58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5255564"/>
            <a:ext cx="5448300" cy="746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Dis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eño de Experimentos de Ingeniería de Software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72D0AC-E888-4BD7-89BB-6EE1EB4B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4212432"/>
            <a:ext cx="5448300" cy="9243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U</a:t>
            </a: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NIVERSIDAD PERUANA DE CIENCIAS APLICADAS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3314087B-D2B3-425C-9773-324E0188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851535"/>
            <a:ext cx="9763125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9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9600" u="none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Contacto</a:t>
            </a:r>
          </a:p>
        </p:txBody>
      </p:sp>
    </p:spTree>
    <p:extLst>
      <p:ext uri="{BB962C8B-B14F-4D97-AF65-F5344CB8AC3E}">
        <p14:creationId xmlns:p14="http://schemas.microsoft.com/office/powerpoint/2010/main" val="99544130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2026-10-21T07:48:23.3650000Z</dcterms:created>
  <dcterms:modified xsi:type="dcterms:W3CDTF">2026-10-21T07:48:23.3650000Z</dcterms:modified>
</coreProperties>
</file>